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omments/comment1.xml" ContentType="application/vnd.openxmlformats-officedocument.presentationml.comments+xml"/>
  <Override PartName="/ppt/notesSlides/notesSlide20.xml" ContentType="application/vnd.openxmlformats-officedocument.presentationml.notesSlide+xml"/>
  <Override PartName="/ppt/comments/comment2.xml" ContentType="application/vnd.openxmlformats-officedocument.presentationml.comment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2" r:id="rId1"/>
  </p:sldMasterIdLst>
  <p:notesMasterIdLst>
    <p:notesMasterId r:id="rId43"/>
  </p:notesMasterIdLst>
  <p:handoutMasterIdLst>
    <p:handoutMasterId r:id="rId44"/>
  </p:handoutMasterIdLst>
  <p:sldIdLst>
    <p:sldId id="378" r:id="rId2"/>
    <p:sldId id="349" r:id="rId3"/>
    <p:sldId id="379" r:id="rId4"/>
    <p:sldId id="352" r:id="rId5"/>
    <p:sldId id="505" r:id="rId6"/>
    <p:sldId id="511" r:id="rId7"/>
    <p:sldId id="506" r:id="rId8"/>
    <p:sldId id="354" r:id="rId9"/>
    <p:sldId id="489" r:id="rId10"/>
    <p:sldId id="498" r:id="rId11"/>
    <p:sldId id="499" r:id="rId12"/>
    <p:sldId id="530" r:id="rId13"/>
    <p:sldId id="512" r:id="rId14"/>
    <p:sldId id="382" r:id="rId15"/>
    <p:sldId id="510" r:id="rId16"/>
    <p:sldId id="543" r:id="rId17"/>
    <p:sldId id="514" r:id="rId18"/>
    <p:sldId id="542" r:id="rId19"/>
    <p:sldId id="426" r:id="rId20"/>
    <p:sldId id="425" r:id="rId21"/>
    <p:sldId id="481" r:id="rId22"/>
    <p:sldId id="360" r:id="rId23"/>
    <p:sldId id="416" r:id="rId24"/>
    <p:sldId id="529" r:id="rId25"/>
    <p:sldId id="545" r:id="rId26"/>
    <p:sldId id="546" r:id="rId27"/>
    <p:sldId id="361" r:id="rId28"/>
    <p:sldId id="533" r:id="rId29"/>
    <p:sldId id="544" r:id="rId30"/>
    <p:sldId id="527" r:id="rId31"/>
    <p:sldId id="537" r:id="rId32"/>
    <p:sldId id="519" r:id="rId33"/>
    <p:sldId id="532" r:id="rId34"/>
    <p:sldId id="494" r:id="rId35"/>
    <p:sldId id="495" r:id="rId36"/>
    <p:sldId id="547" r:id="rId37"/>
    <p:sldId id="496" r:id="rId38"/>
    <p:sldId id="513" r:id="rId39"/>
    <p:sldId id="548" r:id="rId40"/>
    <p:sldId id="534" r:id="rId41"/>
    <p:sldId id="535" r:id="rId42"/>
  </p:sldIdLst>
  <p:sldSz cx="9144000" cy="6858000" type="screen4x3"/>
  <p:notesSz cx="6797675" cy="9926638"/>
  <p:custDataLst>
    <p:tags r:id="rId45"/>
  </p:custDataLst>
  <p:defaultTextStyle>
    <a:defPPr>
      <a:defRPr lang="en-US"/>
    </a:defPPr>
    <a:lvl1pPr algn="l" rtl="0" fontAlgn="base">
      <a:spcBef>
        <a:spcPct val="0"/>
      </a:spcBef>
      <a:spcAft>
        <a:spcPct val="0"/>
      </a:spcAft>
      <a:defRPr sz="2000"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sz="2000"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sz="2000"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sz="2000"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sz="2000" kern="1200">
        <a:solidFill>
          <a:schemeClr val="tx1"/>
        </a:solidFill>
        <a:latin typeface="Arial" panose="020B0604020202020204" pitchFamily="34" charset="0"/>
        <a:ea typeface="+mn-ea"/>
        <a:cs typeface="+mn-cs"/>
      </a:defRPr>
    </a:lvl5pPr>
    <a:lvl6pPr marL="2286000" algn="l" defTabSz="914400" rtl="0" eaLnBrk="1" latinLnBrk="0" hangingPunct="1">
      <a:defRPr sz="2000" kern="1200">
        <a:solidFill>
          <a:schemeClr val="tx1"/>
        </a:solidFill>
        <a:latin typeface="Arial" panose="020B0604020202020204" pitchFamily="34" charset="0"/>
        <a:ea typeface="+mn-ea"/>
        <a:cs typeface="+mn-cs"/>
      </a:defRPr>
    </a:lvl6pPr>
    <a:lvl7pPr marL="2743200" algn="l" defTabSz="914400" rtl="0" eaLnBrk="1" latinLnBrk="0" hangingPunct="1">
      <a:defRPr sz="2000" kern="1200">
        <a:solidFill>
          <a:schemeClr val="tx1"/>
        </a:solidFill>
        <a:latin typeface="Arial" panose="020B0604020202020204" pitchFamily="34" charset="0"/>
        <a:ea typeface="+mn-ea"/>
        <a:cs typeface="+mn-cs"/>
      </a:defRPr>
    </a:lvl7pPr>
    <a:lvl8pPr marL="3200400" algn="l" defTabSz="914400" rtl="0" eaLnBrk="1" latinLnBrk="0" hangingPunct="1">
      <a:defRPr sz="2000" kern="1200">
        <a:solidFill>
          <a:schemeClr val="tx1"/>
        </a:solidFill>
        <a:latin typeface="Arial" panose="020B0604020202020204" pitchFamily="34" charset="0"/>
        <a:ea typeface="+mn-ea"/>
        <a:cs typeface="+mn-cs"/>
      </a:defRPr>
    </a:lvl8pPr>
    <a:lvl9pPr marL="3657600" algn="l" defTabSz="914400" rtl="0" eaLnBrk="1" latinLnBrk="0" hangingPunct="1">
      <a:defRPr sz="20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469" autoAdjust="0"/>
    <p:restoredTop sz="81282" autoAdjust="0"/>
  </p:normalViewPr>
  <p:slideViewPr>
    <p:cSldViewPr>
      <p:cViewPr varScale="1">
        <p:scale>
          <a:sx n="89" d="100"/>
          <a:sy n="89" d="100"/>
        </p:scale>
        <p:origin x="2328" y="96"/>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 d="1"/>
        <a:sy n="1" d="1"/>
      </p:scale>
      <p:origin x="0" y="-4947"/>
    </p:cViewPr>
  </p:sorterViewPr>
  <p:notesViewPr>
    <p:cSldViewPr>
      <p:cViewPr varScale="1">
        <p:scale>
          <a:sx n="80" d="100"/>
          <a:sy n="80" d="100"/>
        </p:scale>
        <p:origin x="3198" y="96"/>
      </p:cViewPr>
      <p:guideLst>
        <p:guide orient="horz" pos="3127"/>
        <p:guide pos="2141"/>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omments/comment1.xml><?xml version="1.0" encoding="utf-8"?>
<p:cmLst xmlns:a="http://schemas.openxmlformats.org/drawingml/2006/main" xmlns:r="http://schemas.openxmlformats.org/officeDocument/2006/relationships" xmlns:p="http://schemas.openxmlformats.org/presentationml/2006/main">
  <p:cm authorId="2" dt="2018-03-17T00:53:19.352" idx="1">
    <p:pos x="10" y="10"/>
    <p:text/>
    <p:extLst>
      <p:ext uri="{C676402C-5697-4E1C-873F-D02D1690AC5C}">
        <p15:threadingInfo xmlns:p15="http://schemas.microsoft.com/office/powerpoint/2012/main" timeZoneBias="-48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2" dt="2018-03-17T00:53:19.352" idx="1">
    <p:pos x="10" y="10"/>
    <p:text/>
    <p:extLst>
      <p:ext uri="{C676402C-5697-4E1C-873F-D02D1690AC5C}">
        <p15:threadingInfo xmlns:p15="http://schemas.microsoft.com/office/powerpoint/2012/main" timeZoneBias="-480"/>
      </p:ext>
    </p:extLst>
  </p:cm>
</p:cmLst>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9506" name="Rectangle 2"/>
          <p:cNvSpPr>
            <a:spLocks noGrp="1" noChangeArrowheads="1"/>
          </p:cNvSpPr>
          <p:nvPr>
            <p:ph type="hdr" sz="quarter"/>
          </p:nvPr>
        </p:nvSpPr>
        <p:spPr bwMode="auto">
          <a:xfrm>
            <a:off x="2" y="2"/>
            <a:ext cx="2945659" cy="496331"/>
          </a:xfrm>
          <a:prstGeom prst="rect">
            <a:avLst/>
          </a:prstGeom>
          <a:noFill/>
          <a:ln w="9525">
            <a:noFill/>
            <a:miter lim="800000"/>
            <a:headEnd/>
            <a:tailEnd/>
          </a:ln>
          <a:effectLst/>
        </p:spPr>
        <p:txBody>
          <a:bodyPr vert="horz" wrap="square" lIns="91422" tIns="45711" rIns="91422" bIns="45711" numCol="1" anchor="t" anchorCtr="0" compatLnSpc="1">
            <a:prstTxWarp prst="textNoShape">
              <a:avLst/>
            </a:prstTxWarp>
          </a:bodyPr>
          <a:lstStyle>
            <a:lvl1pPr>
              <a:defRPr sz="1200">
                <a:latin typeface="Arial" charset="0"/>
              </a:defRPr>
            </a:lvl1pPr>
          </a:lstStyle>
          <a:p>
            <a:pPr>
              <a:defRPr/>
            </a:pPr>
            <a:endParaRPr lang="en-US"/>
          </a:p>
        </p:txBody>
      </p:sp>
      <p:sp>
        <p:nvSpPr>
          <p:cNvPr id="149507" name="Rectangle 3"/>
          <p:cNvSpPr>
            <a:spLocks noGrp="1" noChangeArrowheads="1"/>
          </p:cNvSpPr>
          <p:nvPr>
            <p:ph type="dt" sz="quarter" idx="1"/>
          </p:nvPr>
        </p:nvSpPr>
        <p:spPr bwMode="auto">
          <a:xfrm>
            <a:off x="3850445" y="2"/>
            <a:ext cx="2945659" cy="496331"/>
          </a:xfrm>
          <a:prstGeom prst="rect">
            <a:avLst/>
          </a:prstGeom>
          <a:noFill/>
          <a:ln w="9525">
            <a:noFill/>
            <a:miter lim="800000"/>
            <a:headEnd/>
            <a:tailEnd/>
          </a:ln>
          <a:effectLst/>
        </p:spPr>
        <p:txBody>
          <a:bodyPr vert="horz" wrap="square" lIns="91422" tIns="45711" rIns="91422" bIns="45711" numCol="1" anchor="t" anchorCtr="0" compatLnSpc="1">
            <a:prstTxWarp prst="textNoShape">
              <a:avLst/>
            </a:prstTxWarp>
          </a:bodyPr>
          <a:lstStyle>
            <a:lvl1pPr algn="r">
              <a:defRPr sz="1200">
                <a:latin typeface="Arial" charset="0"/>
              </a:defRPr>
            </a:lvl1pPr>
          </a:lstStyle>
          <a:p>
            <a:pPr>
              <a:defRPr/>
            </a:pPr>
            <a:endParaRPr lang="en-US"/>
          </a:p>
        </p:txBody>
      </p:sp>
      <p:sp>
        <p:nvSpPr>
          <p:cNvPr id="149508" name="Rectangle 4"/>
          <p:cNvSpPr>
            <a:spLocks noGrp="1" noChangeArrowheads="1"/>
          </p:cNvSpPr>
          <p:nvPr>
            <p:ph type="ftr" sz="quarter" idx="2"/>
          </p:nvPr>
        </p:nvSpPr>
        <p:spPr bwMode="auto">
          <a:xfrm>
            <a:off x="2" y="9428585"/>
            <a:ext cx="2945659" cy="496331"/>
          </a:xfrm>
          <a:prstGeom prst="rect">
            <a:avLst/>
          </a:prstGeom>
          <a:noFill/>
          <a:ln w="9525">
            <a:noFill/>
            <a:miter lim="800000"/>
            <a:headEnd/>
            <a:tailEnd/>
          </a:ln>
          <a:effectLst/>
        </p:spPr>
        <p:txBody>
          <a:bodyPr vert="horz" wrap="square" lIns="91422" tIns="45711" rIns="91422" bIns="45711" numCol="1" anchor="b" anchorCtr="0" compatLnSpc="1">
            <a:prstTxWarp prst="textNoShape">
              <a:avLst/>
            </a:prstTxWarp>
          </a:bodyPr>
          <a:lstStyle>
            <a:lvl1pPr>
              <a:defRPr sz="1200">
                <a:latin typeface="Arial" charset="0"/>
              </a:defRPr>
            </a:lvl1pPr>
          </a:lstStyle>
          <a:p>
            <a:pPr>
              <a:defRPr/>
            </a:pPr>
            <a:endParaRPr lang="en-US"/>
          </a:p>
        </p:txBody>
      </p:sp>
      <p:sp>
        <p:nvSpPr>
          <p:cNvPr id="149509" name="Rectangle 5"/>
          <p:cNvSpPr>
            <a:spLocks noGrp="1" noChangeArrowheads="1"/>
          </p:cNvSpPr>
          <p:nvPr>
            <p:ph type="sldNum" sz="quarter" idx="3"/>
          </p:nvPr>
        </p:nvSpPr>
        <p:spPr bwMode="auto">
          <a:xfrm>
            <a:off x="3850445" y="9428585"/>
            <a:ext cx="2945659" cy="496331"/>
          </a:xfrm>
          <a:prstGeom prst="rect">
            <a:avLst/>
          </a:prstGeom>
          <a:noFill/>
          <a:ln w="9525">
            <a:noFill/>
            <a:miter lim="800000"/>
            <a:headEnd/>
            <a:tailEnd/>
          </a:ln>
          <a:effectLst/>
        </p:spPr>
        <p:txBody>
          <a:bodyPr vert="horz" wrap="square" lIns="91422" tIns="45711" rIns="91422" bIns="45711" numCol="1" anchor="b" anchorCtr="0" compatLnSpc="1">
            <a:prstTxWarp prst="textNoShape">
              <a:avLst/>
            </a:prstTxWarp>
          </a:bodyPr>
          <a:lstStyle>
            <a:lvl1pPr algn="r">
              <a:defRPr sz="1200"/>
            </a:lvl1pPr>
          </a:lstStyle>
          <a:p>
            <a:fld id="{735521D2-E1DF-4E10-8682-C2248750EC52}" type="slidenum">
              <a:rPr lang="en-US" altLang="zh-CN"/>
              <a:pPr/>
              <a:t>‹#›</a:t>
            </a:fld>
            <a:endParaRPr lang="en-US" altLang="zh-CN"/>
          </a:p>
        </p:txBody>
      </p:sp>
    </p:spTree>
    <p:extLst>
      <p:ext uri="{BB962C8B-B14F-4D97-AF65-F5344CB8AC3E}">
        <p14:creationId xmlns:p14="http://schemas.microsoft.com/office/powerpoint/2010/main" val="120450466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2" y="2"/>
            <a:ext cx="2945659" cy="496331"/>
          </a:xfrm>
          <a:prstGeom prst="rect">
            <a:avLst/>
          </a:prstGeom>
          <a:noFill/>
          <a:ln w="9525">
            <a:noFill/>
            <a:miter lim="800000"/>
            <a:headEnd/>
            <a:tailEnd/>
          </a:ln>
          <a:effectLst/>
        </p:spPr>
        <p:txBody>
          <a:bodyPr vert="horz" wrap="square" lIns="91422" tIns="45711" rIns="91422" bIns="45711" numCol="1" anchor="t" anchorCtr="0" compatLnSpc="1">
            <a:prstTxWarp prst="textNoShape">
              <a:avLst/>
            </a:prstTxWarp>
          </a:bodyPr>
          <a:lstStyle>
            <a:lvl1pPr>
              <a:defRPr sz="1200">
                <a:latin typeface="Arial" charset="0"/>
              </a:defRPr>
            </a:lvl1pPr>
          </a:lstStyle>
          <a:p>
            <a:pPr>
              <a:defRPr/>
            </a:pPr>
            <a:endParaRPr lang="en-US"/>
          </a:p>
        </p:txBody>
      </p:sp>
      <p:sp>
        <p:nvSpPr>
          <p:cNvPr id="3075" name="Rectangle 3"/>
          <p:cNvSpPr>
            <a:spLocks noGrp="1" noChangeArrowheads="1"/>
          </p:cNvSpPr>
          <p:nvPr>
            <p:ph type="dt" idx="1"/>
          </p:nvPr>
        </p:nvSpPr>
        <p:spPr bwMode="auto">
          <a:xfrm>
            <a:off x="3850445" y="2"/>
            <a:ext cx="2945659" cy="496331"/>
          </a:xfrm>
          <a:prstGeom prst="rect">
            <a:avLst/>
          </a:prstGeom>
          <a:noFill/>
          <a:ln w="9525">
            <a:noFill/>
            <a:miter lim="800000"/>
            <a:headEnd/>
            <a:tailEnd/>
          </a:ln>
          <a:effectLst/>
        </p:spPr>
        <p:txBody>
          <a:bodyPr vert="horz" wrap="square" lIns="91422" tIns="45711" rIns="91422" bIns="45711" numCol="1" anchor="t" anchorCtr="0" compatLnSpc="1">
            <a:prstTxWarp prst="textNoShape">
              <a:avLst/>
            </a:prstTxWarp>
          </a:bodyPr>
          <a:lstStyle>
            <a:lvl1pPr algn="r">
              <a:defRPr sz="1200">
                <a:latin typeface="Arial" charset="0"/>
              </a:defRPr>
            </a:lvl1pPr>
          </a:lstStyle>
          <a:p>
            <a:pPr>
              <a:defRPr/>
            </a:pPr>
            <a:endParaRPr lang="en-US"/>
          </a:p>
        </p:txBody>
      </p:sp>
      <p:sp>
        <p:nvSpPr>
          <p:cNvPr id="32772" name="Rectangle 4"/>
          <p:cNvSpPr>
            <a:spLocks noGrp="1" noRot="1" noChangeAspect="1" noChangeArrowheads="1" noTextEdit="1"/>
          </p:cNvSpPr>
          <p:nvPr>
            <p:ph type="sldImg" idx="2"/>
          </p:nvPr>
        </p:nvSpPr>
        <p:spPr bwMode="auto">
          <a:xfrm>
            <a:off x="919163" y="744538"/>
            <a:ext cx="4959350" cy="37211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p:cNvSpPr>
            <a:spLocks noGrp="1" noChangeArrowheads="1"/>
          </p:cNvSpPr>
          <p:nvPr>
            <p:ph type="body" sz="quarter" idx="3"/>
          </p:nvPr>
        </p:nvSpPr>
        <p:spPr bwMode="auto">
          <a:xfrm>
            <a:off x="679768" y="4715154"/>
            <a:ext cx="5438140" cy="4466987"/>
          </a:xfrm>
          <a:prstGeom prst="rect">
            <a:avLst/>
          </a:prstGeom>
          <a:noFill/>
          <a:ln w="9525">
            <a:noFill/>
            <a:miter lim="800000"/>
            <a:headEnd/>
            <a:tailEnd/>
          </a:ln>
          <a:effectLst/>
        </p:spPr>
        <p:txBody>
          <a:bodyPr vert="horz" wrap="square" lIns="91422" tIns="45711" rIns="91422" bIns="4571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2" y="9428585"/>
            <a:ext cx="2945659" cy="496331"/>
          </a:xfrm>
          <a:prstGeom prst="rect">
            <a:avLst/>
          </a:prstGeom>
          <a:noFill/>
          <a:ln w="9525">
            <a:noFill/>
            <a:miter lim="800000"/>
            <a:headEnd/>
            <a:tailEnd/>
          </a:ln>
          <a:effectLst/>
        </p:spPr>
        <p:txBody>
          <a:bodyPr vert="horz" wrap="square" lIns="91422" tIns="45711" rIns="91422" bIns="45711" numCol="1" anchor="b" anchorCtr="0" compatLnSpc="1">
            <a:prstTxWarp prst="textNoShape">
              <a:avLst/>
            </a:prstTxWarp>
          </a:bodyPr>
          <a:lstStyle>
            <a:lvl1pPr>
              <a:defRPr sz="1200">
                <a:latin typeface="Arial" charset="0"/>
              </a:defRPr>
            </a:lvl1pPr>
          </a:lstStyle>
          <a:p>
            <a:pPr>
              <a:defRPr/>
            </a:pPr>
            <a:endParaRPr lang="en-US"/>
          </a:p>
        </p:txBody>
      </p:sp>
      <p:sp>
        <p:nvSpPr>
          <p:cNvPr id="3079" name="Rectangle 7"/>
          <p:cNvSpPr>
            <a:spLocks noGrp="1" noChangeArrowheads="1"/>
          </p:cNvSpPr>
          <p:nvPr>
            <p:ph type="sldNum" sz="quarter" idx="5"/>
          </p:nvPr>
        </p:nvSpPr>
        <p:spPr bwMode="auto">
          <a:xfrm>
            <a:off x="3850445" y="9428585"/>
            <a:ext cx="2945659" cy="496331"/>
          </a:xfrm>
          <a:prstGeom prst="rect">
            <a:avLst/>
          </a:prstGeom>
          <a:noFill/>
          <a:ln w="9525">
            <a:noFill/>
            <a:miter lim="800000"/>
            <a:headEnd/>
            <a:tailEnd/>
          </a:ln>
          <a:effectLst/>
        </p:spPr>
        <p:txBody>
          <a:bodyPr vert="horz" wrap="square" lIns="91422" tIns="45711" rIns="91422" bIns="45711" numCol="1" anchor="b" anchorCtr="0" compatLnSpc="1">
            <a:prstTxWarp prst="textNoShape">
              <a:avLst/>
            </a:prstTxWarp>
          </a:bodyPr>
          <a:lstStyle>
            <a:lvl1pPr algn="r">
              <a:defRPr sz="1200"/>
            </a:lvl1pPr>
          </a:lstStyle>
          <a:p>
            <a:fld id="{ED7451BE-C0D3-4AF7-BD21-79552C6D3172}" type="slidenum">
              <a:rPr lang="en-US" altLang="zh-CN"/>
              <a:pPr/>
              <a:t>‹#›</a:t>
            </a:fld>
            <a:endParaRPr lang="en-US" altLang="zh-CN"/>
          </a:p>
        </p:txBody>
      </p:sp>
    </p:spTree>
    <p:extLst>
      <p:ext uri="{BB962C8B-B14F-4D97-AF65-F5344CB8AC3E}">
        <p14:creationId xmlns:p14="http://schemas.microsoft.com/office/powerpoint/2010/main" val="2998920853"/>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noTextEdit="1"/>
          </p:cNvSpPr>
          <p:nvPr>
            <p:ph type="sldImg"/>
          </p:nvPr>
        </p:nvSpPr>
        <p:spPr>
          <a:ln/>
        </p:spPr>
      </p:sp>
      <p:sp>
        <p:nvSpPr>
          <p:cNvPr id="81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574029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a:ln/>
        </p:spPr>
      </p:sp>
      <p:sp>
        <p:nvSpPr>
          <p:cNvPr id="348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Arial" panose="020B0604020202020204" pitchFamily="34" charset="0"/>
            </a:endParaRPr>
          </a:p>
        </p:txBody>
      </p:sp>
    </p:spTree>
    <p:extLst>
      <p:ext uri="{BB962C8B-B14F-4D97-AF65-F5344CB8AC3E}">
        <p14:creationId xmlns:p14="http://schemas.microsoft.com/office/powerpoint/2010/main" val="16132587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ln/>
        </p:spPr>
      </p:sp>
      <p:sp>
        <p:nvSpPr>
          <p:cNvPr id="368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Arial" panose="020B0604020202020204" pitchFamily="34" charset="0"/>
            </a:endParaRPr>
          </a:p>
        </p:txBody>
      </p:sp>
    </p:spTree>
    <p:extLst>
      <p:ext uri="{BB962C8B-B14F-4D97-AF65-F5344CB8AC3E}">
        <p14:creationId xmlns:p14="http://schemas.microsoft.com/office/powerpoint/2010/main" val="5407287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latin typeface="Arial" panose="020B0604020202020204" pitchFamily="34" charset="0"/>
              </a:rPr>
              <a:t>The above formula depends on the choice for 0 </a:t>
            </a:r>
            <a:r>
              <a:rPr lang="en-US" altLang="zh-CN">
                <a:latin typeface="Arial" panose="020B0604020202020204" pitchFamily="34" charset="0"/>
              </a:rPr>
              <a:t>V point. </a:t>
            </a:r>
            <a:endParaRPr lang="zh-CN" altLang="zh-CN" dirty="0">
              <a:latin typeface="Arial" panose="020B0604020202020204" pitchFamily="34" charset="0"/>
            </a:endParaRPr>
          </a:p>
        </p:txBody>
      </p:sp>
    </p:spTree>
    <p:extLst>
      <p:ext uri="{BB962C8B-B14F-4D97-AF65-F5344CB8AC3E}">
        <p14:creationId xmlns:p14="http://schemas.microsoft.com/office/powerpoint/2010/main" val="19642132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Arial" panose="020B0604020202020204" pitchFamily="34" charset="0"/>
            </a:endParaRPr>
          </a:p>
        </p:txBody>
      </p:sp>
    </p:spTree>
    <p:extLst>
      <p:ext uri="{BB962C8B-B14F-4D97-AF65-F5344CB8AC3E}">
        <p14:creationId xmlns:p14="http://schemas.microsoft.com/office/powerpoint/2010/main" val="35167366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14126">
              <a:defRPr/>
            </a:pPr>
            <a:r>
              <a:rPr lang="en-US" altLang="zh-CN" dirty="0">
                <a:solidFill>
                  <a:srgbClr val="FF0000"/>
                </a:solidFill>
              </a:rPr>
              <a:t>How do we know the op-amp is operating in linear region?</a:t>
            </a:r>
            <a:endParaRPr lang="zh-CN" altLang="en-US" dirty="0">
              <a:solidFill>
                <a:srgbClr val="FF0000"/>
              </a:solidFill>
            </a:endParaRPr>
          </a:p>
          <a:p>
            <a:endParaRPr lang="zh-CN" altLang="zh-CN" dirty="0">
              <a:latin typeface="Arial" panose="020B0604020202020204" pitchFamily="34" charset="0"/>
            </a:endParaRPr>
          </a:p>
        </p:txBody>
      </p:sp>
    </p:spTree>
    <p:extLst>
      <p:ext uri="{BB962C8B-B14F-4D97-AF65-F5344CB8AC3E}">
        <p14:creationId xmlns:p14="http://schemas.microsoft.com/office/powerpoint/2010/main" val="875667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7964799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latin typeface="Arial" panose="020B0604020202020204" pitchFamily="34" charset="0"/>
              </a:rPr>
              <a:t>https://en.wikipedia.org/wiki/Negative_feedback_amplifier</a:t>
            </a:r>
            <a:r>
              <a:rPr lang="en-US" altLang="zh-CN" baseline="0" dirty="0">
                <a:latin typeface="Arial" panose="020B0604020202020204" pitchFamily="34" charset="0"/>
              </a:rPr>
              <a:t> </a:t>
            </a:r>
          </a:p>
        </p:txBody>
      </p:sp>
    </p:spTree>
    <p:extLst>
      <p:ext uri="{BB962C8B-B14F-4D97-AF65-F5344CB8AC3E}">
        <p14:creationId xmlns:p14="http://schemas.microsoft.com/office/powerpoint/2010/main" val="19407939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717731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Arial" panose="020B0604020202020204" pitchFamily="34" charset="0"/>
            </a:endParaRPr>
          </a:p>
        </p:txBody>
      </p:sp>
    </p:spTree>
    <p:extLst>
      <p:ext uri="{BB962C8B-B14F-4D97-AF65-F5344CB8AC3E}">
        <p14:creationId xmlns:p14="http://schemas.microsoft.com/office/powerpoint/2010/main" val="11473113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a:ln/>
        </p:spPr>
      </p:sp>
      <p:sp>
        <p:nvSpPr>
          <p:cNvPr id="348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Arial" panose="020B0604020202020204" pitchFamily="34" charset="0"/>
            </a:endParaRPr>
          </a:p>
        </p:txBody>
      </p:sp>
    </p:spTree>
    <p:extLst>
      <p:ext uri="{BB962C8B-B14F-4D97-AF65-F5344CB8AC3E}">
        <p14:creationId xmlns:p14="http://schemas.microsoft.com/office/powerpoint/2010/main" val="38122523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zh-CN" altLang="en-US" dirty="0"/>
              </a:p>
            </p:txBody>
          </p:sp>
        </mc:Choice>
        <mc:Fallback xmlns="">
          <p:sp>
            <p:nvSpPr>
              <p:cNvPr id="3" name="Notes Placeholder 2"/>
              <p:cNvSpPr>
                <a:spLocks noGrp="1"/>
              </p:cNvSpPr>
              <p:nvPr>
                <p:ph type="body" idx="1"/>
              </p:nvPr>
            </p:nvSpPr>
            <p:spPr/>
            <p:txBody>
              <a:bodyPr/>
              <a:lstStyle/>
              <a:p>
                <a:pPr lvl="1"/>
                <a:r>
                  <a:rPr lang="en-US" altLang="zh-CN" i="0">
                    <a:latin typeface="Cambria Math" panose="02040503050406030204" pitchFamily="18" charset="0"/>
                  </a:rPr>
                  <a:t>𝑅</a:t>
                </a:r>
                <a:r>
                  <a:rPr lang="en-US" altLang="zh-CN" i="0" smtClean="0">
                    <a:latin typeface="Cambria Math" panose="02040503050406030204" pitchFamily="18" charset="0"/>
                  </a:rPr>
                  <a:t>_</a:t>
                </a:r>
                <a:r>
                  <a:rPr lang="en-US" altLang="zh-CN" i="0">
                    <a:latin typeface="Cambria Math" panose="02040503050406030204" pitchFamily="18" charset="0"/>
                  </a:rPr>
                  <a:t>2=0,𝑅_1=</a:t>
                </a:r>
                <a:r>
                  <a:rPr lang="en-US" altLang="zh-CN" i="0">
                    <a:latin typeface="Cambria Math" panose="02040503050406030204" pitchFamily="18" charset="0"/>
                    <a:ea typeface="Cambria Math" panose="02040503050406030204" pitchFamily="18" charset="0"/>
                  </a:rPr>
                  <a:t>∞</a:t>
                </a:r>
                <a:endParaRPr lang="en-US" altLang="zh-CN" dirty="0" smtClean="0"/>
              </a:p>
              <a:p>
                <a:pPr lvl="1"/>
                <a:r>
                  <a:rPr lang="en-US" altLang="zh-CN" b="0" i="0" smtClean="0">
                    <a:latin typeface="Cambria Math" panose="02040503050406030204" pitchFamily="18" charset="0"/>
                  </a:rPr>
                  <a:t>𝑣</a:t>
                </a:r>
                <a:r>
                  <a:rPr lang="en-US" altLang="zh-CN" b="0" i="0">
                    <a:latin typeface="Cambria Math" panose="02040503050406030204" pitchFamily="18" charset="0"/>
                  </a:rPr>
                  <a:t>_</a:t>
                </a:r>
                <a:r>
                  <a:rPr lang="en-US" altLang="zh-CN" b="0" i="0" smtClean="0">
                    <a:latin typeface="Cambria Math" panose="02040503050406030204" pitchFamily="18" charset="0"/>
                  </a:rPr>
                  <a:t>𝑜</a:t>
                </a:r>
                <a:r>
                  <a:rPr lang="en-US" altLang="zh-CN" i="0">
                    <a:latin typeface="Cambria Math" panose="02040503050406030204" pitchFamily="18" charset="0"/>
                  </a:rPr>
                  <a:t>=</a:t>
                </a:r>
                <a:r>
                  <a:rPr lang="en-US" altLang="zh-CN" sz="2000" i="0">
                    <a:latin typeface="Cambria Math" panose="02040503050406030204" pitchFamily="18" charset="0"/>
                  </a:rPr>
                  <a:t>𝑣_𝑖𝑛</a:t>
                </a:r>
                <a:r>
                  <a:rPr lang="en-US" altLang="zh-CN" sz="2000" b="0" i="0" smtClean="0">
                    <a:latin typeface="Cambria Math" panose="02040503050406030204" pitchFamily="18" charset="0"/>
                  </a:rPr>
                  <a:t>  (𝐴=1)</a:t>
                </a:r>
                <a:endParaRPr lang="en-US" altLang="zh-CN" dirty="0" smtClean="0"/>
              </a:p>
              <a:p>
                <a:endParaRPr lang="zh-CN" altLang="en-US" dirty="0"/>
              </a:p>
            </p:txBody>
          </p:sp>
        </mc:Fallback>
      </mc:AlternateContent>
    </p:spTree>
    <p:extLst>
      <p:ext uri="{BB962C8B-B14F-4D97-AF65-F5344CB8AC3E}">
        <p14:creationId xmlns:p14="http://schemas.microsoft.com/office/powerpoint/2010/main" val="20699597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ln/>
        </p:spPr>
      </p:sp>
      <p:sp>
        <p:nvSpPr>
          <p:cNvPr id="512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Arial" panose="020B0604020202020204" pitchFamily="34" charset="0"/>
            </a:endParaRPr>
          </a:p>
        </p:txBody>
      </p:sp>
    </p:spTree>
    <p:extLst>
      <p:ext uri="{BB962C8B-B14F-4D97-AF65-F5344CB8AC3E}">
        <p14:creationId xmlns:p14="http://schemas.microsoft.com/office/powerpoint/2010/main" val="42009375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ln/>
        </p:spPr>
      </p:sp>
      <p:sp>
        <p:nvSpPr>
          <p:cNvPr id="512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Arial" panose="020B0604020202020204" pitchFamily="34" charset="0"/>
            </a:endParaRPr>
          </a:p>
        </p:txBody>
      </p:sp>
    </p:spTree>
    <p:extLst>
      <p:ext uri="{BB962C8B-B14F-4D97-AF65-F5344CB8AC3E}">
        <p14:creationId xmlns:p14="http://schemas.microsoft.com/office/powerpoint/2010/main" val="7020851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ln/>
        </p:spPr>
      </p:sp>
      <p:sp>
        <p:nvSpPr>
          <p:cNvPr id="512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Arial" panose="020B0604020202020204" pitchFamily="34" charset="0"/>
            </a:endParaRPr>
          </a:p>
        </p:txBody>
      </p:sp>
    </p:spTree>
    <p:extLst>
      <p:ext uri="{BB962C8B-B14F-4D97-AF65-F5344CB8AC3E}">
        <p14:creationId xmlns:p14="http://schemas.microsoft.com/office/powerpoint/2010/main" val="33419225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ln/>
        </p:spPr>
      </p:sp>
      <p:sp>
        <p:nvSpPr>
          <p:cNvPr id="532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Arial" panose="020B0604020202020204" pitchFamily="34" charset="0"/>
            </a:endParaRPr>
          </a:p>
        </p:txBody>
      </p:sp>
    </p:spTree>
    <p:extLst>
      <p:ext uri="{BB962C8B-B14F-4D97-AF65-F5344CB8AC3E}">
        <p14:creationId xmlns:p14="http://schemas.microsoft.com/office/powerpoint/2010/main" val="24752540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ln/>
        </p:spPr>
      </p:sp>
      <p:sp>
        <p:nvSpPr>
          <p:cNvPr id="532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Arial" panose="020B0604020202020204" pitchFamily="34" charset="0"/>
            </a:endParaRPr>
          </a:p>
        </p:txBody>
      </p:sp>
    </p:spTree>
    <p:extLst>
      <p:ext uri="{BB962C8B-B14F-4D97-AF65-F5344CB8AC3E}">
        <p14:creationId xmlns:p14="http://schemas.microsoft.com/office/powerpoint/2010/main" val="968354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4504077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ln/>
        </p:spPr>
      </p:sp>
      <p:sp>
        <p:nvSpPr>
          <p:cNvPr id="634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latin typeface="Arial" panose="020B0604020202020204" pitchFamily="34" charset="0"/>
            </a:endParaRPr>
          </a:p>
        </p:txBody>
      </p:sp>
    </p:spTree>
    <p:extLst>
      <p:ext uri="{BB962C8B-B14F-4D97-AF65-F5344CB8AC3E}">
        <p14:creationId xmlns:p14="http://schemas.microsoft.com/office/powerpoint/2010/main" val="42646211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ln/>
        </p:spPr>
      </p:sp>
      <p:sp>
        <p:nvSpPr>
          <p:cNvPr id="634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dirty="0">
              <a:latin typeface="Arial" panose="020B0604020202020204" pitchFamily="34" charset="0"/>
            </a:endParaRPr>
          </a:p>
        </p:txBody>
      </p:sp>
    </p:spTree>
    <p:extLst>
      <p:ext uri="{BB962C8B-B14F-4D97-AF65-F5344CB8AC3E}">
        <p14:creationId xmlns:p14="http://schemas.microsoft.com/office/powerpoint/2010/main" val="28562496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0140137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7124679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1195265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2365172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gradFill>
            <a:gsLst>
              <a:gs pos="0">
                <a:srgbClr val="DDDDDD">
                  <a:alpha val="37000"/>
                </a:srgbClr>
              </a:gs>
              <a:gs pos="100000">
                <a:srgbClr val="DDDDDD">
                  <a:gamma/>
                  <a:shade val="87843"/>
                  <a:invGamma/>
                  <a:alpha val="33000"/>
                </a:srgbClr>
              </a:gs>
            </a:gsLst>
            <a:lin ang="5400000" scaled="1"/>
          </a:gradFill>
        </p:spPr>
        <p:txBody>
          <a:bodyPr/>
          <a:lstStyle>
            <a:lvl1pPr algn="ctr">
              <a:defRPr b="1">
                <a:solidFill>
                  <a:srgbClr val="C00000"/>
                </a:solidFill>
                <a:effectLst>
                  <a:glow rad="63500">
                    <a:schemeClr val="accent2">
                      <a:satMod val="175000"/>
                      <a:alpha val="40000"/>
                    </a:schemeClr>
                  </a:glow>
                </a:effectLst>
              </a:defRPr>
            </a:lvl1pPr>
          </a:lstStyle>
          <a:p>
            <a:r>
              <a:rPr lang="en-US" altLang="zh-CN"/>
              <a:t>Click to edit Master title style</a:t>
            </a:r>
            <a:endParaRPr lang="en-US" dirty="0"/>
          </a:p>
        </p:txBody>
      </p:sp>
      <p:sp>
        <p:nvSpPr>
          <p:cNvPr id="3" name="Subtitle 2"/>
          <p:cNvSpPr>
            <a:spLocks noGrp="1"/>
          </p:cNvSpPr>
          <p:nvPr>
            <p:ph type="subTitle" idx="1"/>
          </p:nvPr>
        </p:nvSpPr>
        <p:spPr>
          <a:xfrm>
            <a:off x="1371600" y="3886200"/>
            <a:ext cx="6400800" cy="1752600"/>
          </a:xfrm>
          <a:noFill/>
        </p:spPr>
        <p:txBody>
          <a:bodyPr/>
          <a:lstStyle>
            <a:lvl1pPr marL="0" indent="0" algn="ctr">
              <a:buNone/>
              <a:defRPr b="1">
                <a:solidFill>
                  <a:srgbClr val="FFC000"/>
                </a:solidFill>
                <a:effectLst>
                  <a:glow rad="63500">
                    <a:schemeClr val="accent5">
                      <a:satMod val="175000"/>
                      <a:alpha val="40000"/>
                    </a:schemeClr>
                  </a:glo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a:t>Click to edit Master subtitle style</a:t>
            </a:r>
            <a:endParaRPr lang="en-US" dirty="0"/>
          </a:p>
        </p:txBody>
      </p:sp>
      <p:sp>
        <p:nvSpPr>
          <p:cNvPr id="4" name="Date Placeholder 3"/>
          <p:cNvSpPr>
            <a:spLocks noGrp="1"/>
          </p:cNvSpPr>
          <p:nvPr>
            <p:ph type="dt" sz="half" idx="10"/>
          </p:nvPr>
        </p:nvSpPr>
        <p:spPr>
          <a:xfrm>
            <a:off x="457200" y="6448425"/>
            <a:ext cx="2133600" cy="365125"/>
          </a:xfrm>
        </p:spPr>
        <p:txBody>
          <a:bodyPr/>
          <a:lstStyle>
            <a:lvl1pPr fontAlgn="auto">
              <a:spcBef>
                <a:spcPts val="0"/>
              </a:spcBef>
              <a:spcAft>
                <a:spcPts val="0"/>
              </a:spcAft>
              <a:defRPr>
                <a:latin typeface="+mn-lt"/>
                <a:ea typeface="+mn-ea"/>
                <a:cs typeface="+mn-cs"/>
              </a:defRPr>
            </a:lvl1pPr>
          </a:lstStyle>
          <a:p>
            <a:pPr>
              <a:defRPr/>
            </a:pPr>
            <a:endParaRPr lang="en-US"/>
          </a:p>
        </p:txBody>
      </p:sp>
      <p:sp>
        <p:nvSpPr>
          <p:cNvPr id="6" name="Slide Number Placeholder 5"/>
          <p:cNvSpPr>
            <a:spLocks noGrp="1"/>
          </p:cNvSpPr>
          <p:nvPr>
            <p:ph type="sldNum" sz="quarter" idx="12"/>
          </p:nvPr>
        </p:nvSpPr>
        <p:spPr>
          <a:xfrm>
            <a:off x="6804025" y="6448425"/>
            <a:ext cx="2133600" cy="365125"/>
          </a:xfrm>
        </p:spPr>
        <p:txBody>
          <a:bodyPr/>
          <a:lstStyle>
            <a:lvl1pPr>
              <a:defRPr smtClean="0"/>
            </a:lvl1pPr>
          </a:lstStyle>
          <a:p>
            <a:fld id="{4D2E559F-937D-49CD-B87E-85E0A8DF799C}" type="slidenum">
              <a:rPr lang="en-US" altLang="en-US" smtClean="0"/>
              <a:pPr/>
              <a:t>‹#›</a:t>
            </a:fld>
            <a:endParaRPr lang="en-US" altLang="en-US"/>
          </a:p>
        </p:txBody>
      </p:sp>
    </p:spTree>
    <p:extLst>
      <p:ext uri="{BB962C8B-B14F-4D97-AF65-F5344CB8AC3E}">
        <p14:creationId xmlns:p14="http://schemas.microsoft.com/office/powerpoint/2010/main" val="1477129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IST-EE">
    <p:spTree>
      <p:nvGrpSpPr>
        <p:cNvPr id="1" name=""/>
        <p:cNvGrpSpPr/>
        <p:nvPr/>
      </p:nvGrpSpPr>
      <p:grpSpPr>
        <a:xfrm>
          <a:off x="0" y="0"/>
          <a:ext cx="0" cy="0"/>
          <a:chOff x="0" y="0"/>
          <a:chExt cx="0" cy="0"/>
        </a:xfrm>
      </p:grpSpPr>
      <p:sp>
        <p:nvSpPr>
          <p:cNvPr id="5" name="Title 1"/>
          <p:cNvSpPr>
            <a:spLocks noGrp="1"/>
          </p:cNvSpPr>
          <p:nvPr>
            <p:ph type="title"/>
          </p:nvPr>
        </p:nvSpPr>
        <p:spPr>
          <a:xfrm>
            <a:off x="457200" y="685800"/>
            <a:ext cx="8229600" cy="609600"/>
          </a:xfrm>
        </p:spPr>
        <p:txBody>
          <a:bodyPr/>
          <a:lstStyle>
            <a:lvl1pPr>
              <a:defRPr sz="2800" b="1">
                <a:solidFill>
                  <a:srgbClr val="FF0000"/>
                </a:solidFill>
                <a:latin typeface="Arial" panose="020B0604020202020204" pitchFamily="34" charset="0"/>
                <a:cs typeface="Arial" panose="020B0604020202020204" pitchFamily="34" charset="0"/>
              </a:defRPr>
            </a:lvl1pPr>
          </a:lstStyle>
          <a:p>
            <a:r>
              <a:rPr lang="en-US" altLang="zh-CN"/>
              <a:t>Click to edit Master title style</a:t>
            </a:r>
            <a:endParaRPr lang="en-US" dirty="0"/>
          </a:p>
        </p:txBody>
      </p:sp>
      <p:sp>
        <p:nvSpPr>
          <p:cNvPr id="6" name="Content Placeholder 2"/>
          <p:cNvSpPr>
            <a:spLocks noGrp="1"/>
          </p:cNvSpPr>
          <p:nvPr>
            <p:ph idx="1"/>
          </p:nvPr>
        </p:nvSpPr>
        <p:spPr>
          <a:xfrm>
            <a:off x="457200" y="1371600"/>
            <a:ext cx="8229600" cy="5105400"/>
          </a:xfrm>
        </p:spPr>
        <p:txBody>
          <a:bodyPr/>
          <a:lstStyle>
            <a:lvl1pPr marL="174625" indent="-174625">
              <a:buSzPct val="70000"/>
              <a:buFont typeface="Arial" panose="020B0604020202020204" pitchFamily="34" charset="0"/>
              <a:buChar char="•"/>
              <a:defRPr sz="2400">
                <a:latin typeface="Arial" panose="020B0604020202020204" pitchFamily="34" charset="0"/>
                <a:cs typeface="Arial" panose="020B0604020202020204" pitchFamily="34" charset="0"/>
              </a:defRPr>
            </a:lvl1pPr>
            <a:lvl2pPr marL="465138" indent="-174625">
              <a:defRPr sz="2200">
                <a:latin typeface="Arial" panose="020B0604020202020204" pitchFamily="34" charset="0"/>
                <a:cs typeface="Arial" panose="020B0604020202020204" pitchFamily="34" charset="0"/>
              </a:defRPr>
            </a:lvl2pPr>
            <a:lvl3pPr marL="742950" indent="-277813">
              <a:defRPr sz="2000">
                <a:latin typeface="Arial" panose="020B0604020202020204" pitchFamily="34" charset="0"/>
                <a:cs typeface="Arial" panose="020B0604020202020204" pitchFamily="34" charset="0"/>
              </a:defRPr>
            </a:lvl3pPr>
            <a:lvl4pPr>
              <a:defRPr sz="1800">
                <a:latin typeface="Arial" panose="020B0604020202020204" pitchFamily="34" charset="0"/>
                <a:cs typeface="Arial" panose="020B0604020202020204" pitchFamily="34" charset="0"/>
              </a:defRPr>
            </a:lvl4pPr>
            <a:lvl5pPr marL="1522413" indent="-144463">
              <a:defRPr sz="1800">
                <a:latin typeface="Arial" panose="020B0604020202020204" pitchFamily="34" charset="0"/>
                <a:cs typeface="Arial" panose="020B0604020202020204" pitchFamily="34" charset="0"/>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Slide Number Placeholder 5"/>
          <p:cNvSpPr>
            <a:spLocks noGrp="1"/>
          </p:cNvSpPr>
          <p:nvPr>
            <p:ph type="sldNum" sz="quarter" idx="11"/>
          </p:nvPr>
        </p:nvSpPr>
        <p:spPr>
          <a:xfrm>
            <a:off x="7848600" y="6597650"/>
            <a:ext cx="838200" cy="260350"/>
          </a:xfrm>
        </p:spPr>
        <p:txBody>
          <a:bodyPr/>
          <a:lstStyle>
            <a:lvl1pPr>
              <a:defRPr smtClean="0"/>
            </a:lvl1pPr>
          </a:lstStyle>
          <a:p>
            <a:fld id="{4D2E559F-937D-49CD-B87E-85E0A8DF799C}" type="slidenum">
              <a:rPr lang="en-US" altLang="en-US" smtClean="0"/>
              <a:pPr/>
              <a:t>‹#›</a:t>
            </a:fld>
            <a:endParaRPr lang="en-US" altLang="en-US"/>
          </a:p>
        </p:txBody>
      </p:sp>
    </p:spTree>
    <p:extLst>
      <p:ext uri="{BB962C8B-B14F-4D97-AF65-F5344CB8AC3E}">
        <p14:creationId xmlns:p14="http://schemas.microsoft.com/office/powerpoint/2010/main" val="37917416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panose="020B0604020202020204" pitchFamily="34" charset="0"/>
                <a:cs typeface="Arial" panose="020B0604020202020204" pitchFamily="34" charset="0"/>
              </a:defRPr>
            </a:lvl1pPr>
          </a:lstStyle>
          <a:p>
            <a:r>
              <a:rPr lang="en-US" altLang="zh-CN"/>
              <a:t>Click to edit Master title style</a:t>
            </a:r>
            <a:endParaRPr lang="en-US" dirty="0"/>
          </a:p>
        </p:txBody>
      </p:sp>
      <p:sp>
        <p:nvSpPr>
          <p:cNvPr id="3" name="Content Placeholder 2"/>
          <p:cNvSpPr>
            <a:spLocks noGrp="1"/>
          </p:cNvSpPr>
          <p:nvPr>
            <p:ph idx="1"/>
          </p:nvPr>
        </p:nvSpPr>
        <p:spPr>
          <a:xfrm>
            <a:off x="457200" y="1422400"/>
            <a:ext cx="8229600" cy="4902200"/>
          </a:xfrm>
        </p:spPr>
        <p:txBody>
          <a:bodyPr/>
          <a:lstStyle>
            <a:lvl1pPr marL="174625" indent="-174625">
              <a:buSzPct val="70000"/>
              <a:buFont typeface="Arial" panose="020B0604020202020204" pitchFamily="34" charset="0"/>
              <a:buChar char="•"/>
              <a:defRPr>
                <a:latin typeface="Arial" panose="020B0604020202020204" pitchFamily="34" charset="0"/>
                <a:cs typeface="Arial" panose="020B0604020202020204" pitchFamily="34" charset="0"/>
              </a:defRPr>
            </a:lvl1pPr>
            <a:lvl2pPr marL="465138" indent="-174625">
              <a:defRPr>
                <a:latin typeface="Arial" panose="020B0604020202020204" pitchFamily="34" charset="0"/>
                <a:cs typeface="Arial" panose="020B0604020202020204" pitchFamily="34" charset="0"/>
              </a:defRPr>
            </a:lvl2pPr>
            <a:lvl3pPr marL="742950" indent="-277813">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Slide Number Placeholder 5"/>
          <p:cNvSpPr>
            <a:spLocks noGrp="1"/>
          </p:cNvSpPr>
          <p:nvPr>
            <p:ph type="sldNum" sz="quarter" idx="10"/>
          </p:nvPr>
        </p:nvSpPr>
        <p:spPr>
          <a:xfrm>
            <a:off x="7696200" y="6448425"/>
            <a:ext cx="990600" cy="365125"/>
          </a:xfrm>
        </p:spPr>
        <p:txBody>
          <a:bodyPr/>
          <a:lstStyle>
            <a:lvl1pPr>
              <a:defRPr smtClean="0"/>
            </a:lvl1pPr>
          </a:lstStyle>
          <a:p>
            <a:fld id="{4D2E559F-937D-49CD-B87E-85E0A8DF799C}" type="slidenum">
              <a:rPr lang="en-US" altLang="en-US" smtClean="0"/>
              <a:pPr/>
              <a:t>‹#›</a:t>
            </a:fld>
            <a:endParaRPr lang="en-US" altLang="en-US"/>
          </a:p>
        </p:txBody>
      </p:sp>
    </p:spTree>
    <p:extLst>
      <p:ext uri="{BB962C8B-B14F-4D97-AF65-F5344CB8AC3E}">
        <p14:creationId xmlns:p14="http://schemas.microsoft.com/office/powerpoint/2010/main" val="11724072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lstStyle/>
          <a:p>
            <a:r>
              <a:rPr lang="en-US" altLang="zh-CN"/>
              <a:t>Click to edit Master title style</a:t>
            </a:r>
            <a:endParaRPr lang="zh-CN" altLang="en-US"/>
          </a:p>
        </p:txBody>
      </p:sp>
      <p:sp>
        <p:nvSpPr>
          <p:cNvPr id="3" name="Text Placeholder 2"/>
          <p:cNvSpPr>
            <a:spLocks noGrp="1"/>
          </p:cNvSpPr>
          <p:nvPr>
            <p:ph type="body" sz="half" idx="1"/>
          </p:nvPr>
        </p:nvSpPr>
        <p:spPr>
          <a:xfrm>
            <a:off x="457200" y="914400"/>
            <a:ext cx="8229600" cy="2684463"/>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p:cNvSpPr>
            <a:spLocks noGrp="1"/>
          </p:cNvSpPr>
          <p:nvPr>
            <p:ph sz="half" idx="2"/>
          </p:nvPr>
        </p:nvSpPr>
        <p:spPr>
          <a:xfrm>
            <a:off x="457200" y="3751263"/>
            <a:ext cx="8229600" cy="2684462"/>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Tree>
    <p:extLst>
      <p:ext uri="{BB962C8B-B14F-4D97-AF65-F5344CB8AC3E}">
        <p14:creationId xmlns:p14="http://schemas.microsoft.com/office/powerpoint/2010/main" val="18375401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AndTx">
  <p:cSld name="Title, 2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533400"/>
          </a:xfrm>
        </p:spPr>
        <p:txBody>
          <a:bodyPr/>
          <a:lstStyle/>
          <a:p>
            <a:r>
              <a:rPr lang="en-US" altLang="zh-CN"/>
              <a:t>Click to edit Master title style</a:t>
            </a:r>
            <a:endParaRPr lang="zh-CN" altLang="en-US"/>
          </a:p>
        </p:txBody>
      </p:sp>
      <p:sp>
        <p:nvSpPr>
          <p:cNvPr id="3" name="Content Placeholder 2"/>
          <p:cNvSpPr>
            <a:spLocks noGrp="1"/>
          </p:cNvSpPr>
          <p:nvPr>
            <p:ph sz="quarter" idx="1"/>
          </p:nvPr>
        </p:nvSpPr>
        <p:spPr>
          <a:xfrm>
            <a:off x="457200" y="914400"/>
            <a:ext cx="4038600" cy="2684463"/>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p:cNvSpPr>
            <a:spLocks noGrp="1"/>
          </p:cNvSpPr>
          <p:nvPr>
            <p:ph sz="quarter" idx="2"/>
          </p:nvPr>
        </p:nvSpPr>
        <p:spPr>
          <a:xfrm>
            <a:off x="457200" y="3751263"/>
            <a:ext cx="4038600" cy="2684462"/>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Text Placeholder 4"/>
          <p:cNvSpPr>
            <a:spLocks noGrp="1"/>
          </p:cNvSpPr>
          <p:nvPr>
            <p:ph type="body" sz="half" idx="3"/>
          </p:nvPr>
        </p:nvSpPr>
        <p:spPr>
          <a:xfrm>
            <a:off x="4648200" y="914400"/>
            <a:ext cx="4038600" cy="552132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Tree>
    <p:extLst>
      <p:ext uri="{BB962C8B-B14F-4D97-AF65-F5344CB8AC3E}">
        <p14:creationId xmlns:p14="http://schemas.microsoft.com/office/powerpoint/2010/main" val="31748185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Tree>
    <p:extLst>
      <p:ext uri="{BB962C8B-B14F-4D97-AF65-F5344CB8AC3E}">
        <p14:creationId xmlns:p14="http://schemas.microsoft.com/office/powerpoint/2010/main" val="36757023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533400"/>
            <a:ext cx="82296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endParaRPr lang="en-US" altLang="zh-CN" dirty="0"/>
          </a:p>
        </p:txBody>
      </p:sp>
      <p:sp>
        <p:nvSpPr>
          <p:cNvPr id="1027" name="Text Placeholder 2"/>
          <p:cNvSpPr>
            <a:spLocks noGrp="1"/>
          </p:cNvSpPr>
          <p:nvPr>
            <p:ph type="body" idx="1"/>
          </p:nvPr>
        </p:nvSpPr>
        <p:spPr bwMode="auto">
          <a:xfrm>
            <a:off x="457200" y="1422400"/>
            <a:ext cx="8229600" cy="436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6" name="Slide Number Placeholder 5"/>
          <p:cNvSpPr>
            <a:spLocks noGrp="1"/>
          </p:cNvSpPr>
          <p:nvPr>
            <p:ph type="sldNum" sz="quarter" idx="4"/>
          </p:nvPr>
        </p:nvSpPr>
        <p:spPr>
          <a:xfrm>
            <a:off x="6553200" y="6448425"/>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smtClean="0">
                <a:solidFill>
                  <a:srgbClr val="898989"/>
                </a:solidFill>
                <a:latin typeface="Cambria" panose="02040503050406030204" pitchFamily="18" charset="0"/>
                <a:ea typeface="汉仪中圆简" charset="-122"/>
              </a:defRPr>
            </a:lvl1pPr>
          </a:lstStyle>
          <a:p>
            <a:fld id="{4D2E559F-937D-49CD-B87E-85E0A8DF799C}" type="slidenum">
              <a:rPr lang="en-US" altLang="en-US" smtClean="0"/>
              <a:pPr/>
              <a:t>‹#›</a:t>
            </a:fld>
            <a:endParaRPr lang="en-US" altLang="en-US"/>
          </a:p>
        </p:txBody>
      </p:sp>
      <p:sp>
        <p:nvSpPr>
          <p:cNvPr id="54277" name="Rectangle 5"/>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000">
                <a:solidFill>
                  <a:schemeClr val="tx1"/>
                </a:solidFill>
                <a:latin typeface="Arial" panose="020B0604020202020204" pitchFamily="34" charset="0"/>
                <a:ea typeface="宋体" panose="02010600030101010101" pitchFamily="2" charset="-122"/>
              </a:defRPr>
            </a:lvl1pPr>
            <a:lvl2pPr marL="742950" indent="-285750">
              <a:defRPr kumimoji="1" sz="2000">
                <a:solidFill>
                  <a:schemeClr val="tx1"/>
                </a:solidFill>
                <a:latin typeface="Arial" panose="020B0604020202020204" pitchFamily="34" charset="0"/>
                <a:ea typeface="宋体" panose="02010600030101010101" pitchFamily="2" charset="-122"/>
              </a:defRPr>
            </a:lvl2pPr>
            <a:lvl3pPr marL="1143000" indent="-228600">
              <a:defRPr kumimoji="1" sz="2000">
                <a:solidFill>
                  <a:schemeClr val="tx1"/>
                </a:solidFill>
                <a:latin typeface="Arial" panose="020B0604020202020204" pitchFamily="34" charset="0"/>
                <a:ea typeface="宋体" panose="02010600030101010101" pitchFamily="2" charset="-122"/>
              </a:defRPr>
            </a:lvl3pPr>
            <a:lvl4pPr marL="1600200" indent="-228600">
              <a:defRPr kumimoji="1" sz="2000">
                <a:solidFill>
                  <a:schemeClr val="tx1"/>
                </a:solidFill>
                <a:latin typeface="Arial" panose="020B0604020202020204" pitchFamily="34" charset="0"/>
                <a:ea typeface="宋体" panose="02010600030101010101" pitchFamily="2" charset="-122"/>
              </a:defRPr>
            </a:lvl4pPr>
            <a:lvl5pPr marL="2057400" indent="-228600">
              <a:defRPr kumimoji="1" sz="20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0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0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0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000">
                <a:solidFill>
                  <a:schemeClr val="tx1"/>
                </a:solidFill>
                <a:latin typeface="Arial" panose="020B0604020202020204" pitchFamily="34" charset="0"/>
                <a:ea typeface="宋体" panose="02010600030101010101" pitchFamily="2" charset="-122"/>
              </a:defRPr>
            </a:lvl9pPr>
          </a:lstStyle>
          <a:p>
            <a:pPr eaLnBrk="1" hangingPunct="1">
              <a:defRPr/>
            </a:pPr>
            <a:endParaRPr kumimoji="0" lang="en-US" altLang="en-US">
              <a:latin typeface="Cambria" panose="02040503050406030204" pitchFamily="18" charset="0"/>
              <a:ea typeface="汉仪中圆简" charset="-122"/>
            </a:endParaRPr>
          </a:p>
        </p:txBody>
      </p:sp>
      <p:sp>
        <p:nvSpPr>
          <p:cNvPr id="54278" name="Rectangle 6"/>
          <p:cNvSpPr>
            <a:spLocks noChangeArrowheads="1"/>
          </p:cNvSpPr>
          <p:nvPr/>
        </p:nvSpPr>
        <p:spPr bwMode="auto">
          <a:xfrm>
            <a:off x="328613" y="12192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000">
                <a:solidFill>
                  <a:schemeClr val="tx1"/>
                </a:solidFill>
                <a:latin typeface="Arial" panose="020B0604020202020204" pitchFamily="34" charset="0"/>
                <a:ea typeface="宋体" panose="02010600030101010101" pitchFamily="2" charset="-122"/>
              </a:defRPr>
            </a:lvl1pPr>
            <a:lvl2pPr marL="742950" indent="-285750">
              <a:defRPr kumimoji="1" sz="2000">
                <a:solidFill>
                  <a:schemeClr val="tx1"/>
                </a:solidFill>
                <a:latin typeface="Arial" panose="020B0604020202020204" pitchFamily="34" charset="0"/>
                <a:ea typeface="宋体" panose="02010600030101010101" pitchFamily="2" charset="-122"/>
              </a:defRPr>
            </a:lvl2pPr>
            <a:lvl3pPr marL="1143000" indent="-228600">
              <a:defRPr kumimoji="1" sz="2000">
                <a:solidFill>
                  <a:schemeClr val="tx1"/>
                </a:solidFill>
                <a:latin typeface="Arial" panose="020B0604020202020204" pitchFamily="34" charset="0"/>
                <a:ea typeface="宋体" panose="02010600030101010101" pitchFamily="2" charset="-122"/>
              </a:defRPr>
            </a:lvl3pPr>
            <a:lvl4pPr marL="1600200" indent="-228600">
              <a:defRPr kumimoji="1" sz="2000">
                <a:solidFill>
                  <a:schemeClr val="tx1"/>
                </a:solidFill>
                <a:latin typeface="Arial" panose="020B0604020202020204" pitchFamily="34" charset="0"/>
                <a:ea typeface="宋体" panose="02010600030101010101" pitchFamily="2" charset="-122"/>
              </a:defRPr>
            </a:lvl4pPr>
            <a:lvl5pPr marL="2057400" indent="-228600">
              <a:defRPr kumimoji="1" sz="20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0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0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0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000">
                <a:solidFill>
                  <a:schemeClr val="tx1"/>
                </a:solidFill>
                <a:latin typeface="Arial" panose="020B0604020202020204" pitchFamily="34" charset="0"/>
                <a:ea typeface="宋体" panose="02010600030101010101" pitchFamily="2" charset="-122"/>
              </a:defRPr>
            </a:lvl9pPr>
          </a:lstStyle>
          <a:p>
            <a:pPr eaLnBrk="1" hangingPunct="1">
              <a:defRPr/>
            </a:pPr>
            <a:r>
              <a:rPr kumimoji="0" lang="en-US" altLang="zh-TW" sz="1000">
                <a:latin typeface="Calibri" panose="020F0502020204030204" pitchFamily="34" charset="0"/>
              </a:rPr>
              <a:t>  </a:t>
            </a:r>
            <a:endParaRPr kumimoji="0" lang="en-US" altLang="zh-TW">
              <a:cs typeface="Arial" panose="020B0604020202020204" pitchFamily="34" charset="0"/>
            </a:endParaRPr>
          </a:p>
        </p:txBody>
      </p:sp>
      <p:sp>
        <p:nvSpPr>
          <p:cNvPr id="54279" name="Rectangle 7"/>
          <p:cNvSpPr>
            <a:spLocks noChangeArrowheads="1"/>
          </p:cNvSpPr>
          <p:nvPr/>
        </p:nvSpPr>
        <p:spPr bwMode="auto">
          <a:xfrm>
            <a:off x="400050" y="2114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000">
                <a:solidFill>
                  <a:schemeClr val="tx1"/>
                </a:solidFill>
                <a:latin typeface="Arial" panose="020B0604020202020204" pitchFamily="34" charset="0"/>
                <a:ea typeface="宋体" panose="02010600030101010101" pitchFamily="2" charset="-122"/>
              </a:defRPr>
            </a:lvl1pPr>
            <a:lvl2pPr marL="742950" indent="-285750">
              <a:defRPr kumimoji="1" sz="2000">
                <a:solidFill>
                  <a:schemeClr val="tx1"/>
                </a:solidFill>
                <a:latin typeface="Arial" panose="020B0604020202020204" pitchFamily="34" charset="0"/>
                <a:ea typeface="宋体" panose="02010600030101010101" pitchFamily="2" charset="-122"/>
              </a:defRPr>
            </a:lvl2pPr>
            <a:lvl3pPr marL="1143000" indent="-228600">
              <a:defRPr kumimoji="1" sz="2000">
                <a:solidFill>
                  <a:schemeClr val="tx1"/>
                </a:solidFill>
                <a:latin typeface="Arial" panose="020B0604020202020204" pitchFamily="34" charset="0"/>
                <a:ea typeface="宋体" panose="02010600030101010101" pitchFamily="2" charset="-122"/>
              </a:defRPr>
            </a:lvl3pPr>
            <a:lvl4pPr marL="1600200" indent="-228600">
              <a:defRPr kumimoji="1" sz="2000">
                <a:solidFill>
                  <a:schemeClr val="tx1"/>
                </a:solidFill>
                <a:latin typeface="Arial" panose="020B0604020202020204" pitchFamily="34" charset="0"/>
                <a:ea typeface="宋体" panose="02010600030101010101" pitchFamily="2" charset="-122"/>
              </a:defRPr>
            </a:lvl4pPr>
            <a:lvl5pPr marL="2057400" indent="-228600">
              <a:defRPr kumimoji="1" sz="20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0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0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0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000">
                <a:solidFill>
                  <a:schemeClr val="tx1"/>
                </a:solidFill>
                <a:latin typeface="Arial" panose="020B0604020202020204" pitchFamily="34" charset="0"/>
                <a:ea typeface="宋体" panose="02010600030101010101" pitchFamily="2" charset="-122"/>
              </a:defRPr>
            </a:lvl9pPr>
          </a:lstStyle>
          <a:p>
            <a:pPr eaLnBrk="1" hangingPunct="1">
              <a:defRPr/>
            </a:pPr>
            <a:r>
              <a:rPr kumimoji="0" lang="en-US" altLang="zh-TW" sz="1000">
                <a:latin typeface="Calibri" panose="020F0502020204030204" pitchFamily="34" charset="0"/>
              </a:rPr>
              <a:t>  </a:t>
            </a:r>
            <a:endParaRPr kumimoji="0" lang="en-US" altLang="zh-TW">
              <a:cs typeface="Arial" panose="020B0604020202020204" pitchFamily="34" charset="0"/>
            </a:endParaRPr>
          </a:p>
        </p:txBody>
      </p:sp>
      <p:sp>
        <p:nvSpPr>
          <p:cNvPr id="54280" name="Rectangle 8"/>
          <p:cNvSpPr>
            <a:spLocks noChangeArrowheads="1"/>
          </p:cNvSpPr>
          <p:nvPr/>
        </p:nvSpPr>
        <p:spPr bwMode="auto">
          <a:xfrm>
            <a:off x="400050" y="29241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000">
                <a:solidFill>
                  <a:schemeClr val="tx1"/>
                </a:solidFill>
                <a:latin typeface="Arial" panose="020B0604020202020204" pitchFamily="34" charset="0"/>
                <a:ea typeface="宋体" panose="02010600030101010101" pitchFamily="2" charset="-122"/>
              </a:defRPr>
            </a:lvl1pPr>
            <a:lvl2pPr marL="742950" indent="-285750">
              <a:defRPr kumimoji="1" sz="2000">
                <a:solidFill>
                  <a:schemeClr val="tx1"/>
                </a:solidFill>
                <a:latin typeface="Arial" panose="020B0604020202020204" pitchFamily="34" charset="0"/>
                <a:ea typeface="宋体" panose="02010600030101010101" pitchFamily="2" charset="-122"/>
              </a:defRPr>
            </a:lvl2pPr>
            <a:lvl3pPr marL="1143000" indent="-228600">
              <a:defRPr kumimoji="1" sz="2000">
                <a:solidFill>
                  <a:schemeClr val="tx1"/>
                </a:solidFill>
                <a:latin typeface="Arial" panose="020B0604020202020204" pitchFamily="34" charset="0"/>
                <a:ea typeface="宋体" panose="02010600030101010101" pitchFamily="2" charset="-122"/>
              </a:defRPr>
            </a:lvl3pPr>
            <a:lvl4pPr marL="1600200" indent="-228600">
              <a:defRPr kumimoji="1" sz="2000">
                <a:solidFill>
                  <a:schemeClr val="tx1"/>
                </a:solidFill>
                <a:latin typeface="Arial" panose="020B0604020202020204" pitchFamily="34" charset="0"/>
                <a:ea typeface="宋体" panose="02010600030101010101" pitchFamily="2" charset="-122"/>
              </a:defRPr>
            </a:lvl4pPr>
            <a:lvl5pPr marL="2057400" indent="-228600">
              <a:defRPr kumimoji="1" sz="20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0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0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0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000">
                <a:solidFill>
                  <a:schemeClr val="tx1"/>
                </a:solidFill>
                <a:latin typeface="Arial" panose="020B0604020202020204" pitchFamily="34" charset="0"/>
                <a:ea typeface="宋体" panose="02010600030101010101" pitchFamily="2" charset="-122"/>
              </a:defRPr>
            </a:lvl9pPr>
          </a:lstStyle>
          <a:p>
            <a:pPr eaLnBrk="1" hangingPunct="1">
              <a:defRPr/>
            </a:pPr>
            <a:r>
              <a:rPr kumimoji="0" lang="en-US" altLang="zh-TW" sz="1000">
                <a:latin typeface="Calibri" panose="020F0502020204030204" pitchFamily="34" charset="0"/>
                <a:ea typeface="PMingLiU" panose="02020500000000000000" pitchFamily="18" charset="-120"/>
              </a:rPr>
              <a:t>  </a:t>
            </a:r>
            <a:endParaRPr kumimoji="0" lang="en-US" altLang="zh-TW">
              <a:ea typeface="PMingLiU" panose="02020500000000000000" pitchFamily="18" charset="-120"/>
              <a:cs typeface="Arial" panose="020B0604020202020204" pitchFamily="34" charset="0"/>
            </a:endParaRPr>
          </a:p>
        </p:txBody>
      </p:sp>
      <p:sp>
        <p:nvSpPr>
          <p:cNvPr id="54281" name="Rectangle 9"/>
          <p:cNvSpPr>
            <a:spLocks noChangeArrowheads="1"/>
          </p:cNvSpPr>
          <p:nvPr/>
        </p:nvSpPr>
        <p:spPr bwMode="auto">
          <a:xfrm>
            <a:off x="400050" y="37338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2000">
                <a:solidFill>
                  <a:schemeClr val="tx1"/>
                </a:solidFill>
                <a:latin typeface="Arial" panose="020B0604020202020204" pitchFamily="34" charset="0"/>
                <a:ea typeface="宋体" panose="02010600030101010101" pitchFamily="2" charset="-122"/>
              </a:defRPr>
            </a:lvl1pPr>
            <a:lvl2pPr marL="742950" indent="-285750">
              <a:defRPr kumimoji="1" sz="2000">
                <a:solidFill>
                  <a:schemeClr val="tx1"/>
                </a:solidFill>
                <a:latin typeface="Arial" panose="020B0604020202020204" pitchFamily="34" charset="0"/>
                <a:ea typeface="宋体" panose="02010600030101010101" pitchFamily="2" charset="-122"/>
              </a:defRPr>
            </a:lvl2pPr>
            <a:lvl3pPr marL="1143000" indent="-228600">
              <a:defRPr kumimoji="1" sz="2000">
                <a:solidFill>
                  <a:schemeClr val="tx1"/>
                </a:solidFill>
                <a:latin typeface="Arial" panose="020B0604020202020204" pitchFamily="34" charset="0"/>
                <a:ea typeface="宋体" panose="02010600030101010101" pitchFamily="2" charset="-122"/>
              </a:defRPr>
            </a:lvl3pPr>
            <a:lvl4pPr marL="1600200" indent="-228600">
              <a:defRPr kumimoji="1" sz="2000">
                <a:solidFill>
                  <a:schemeClr val="tx1"/>
                </a:solidFill>
                <a:latin typeface="Arial" panose="020B0604020202020204" pitchFamily="34" charset="0"/>
                <a:ea typeface="宋体" panose="02010600030101010101" pitchFamily="2" charset="-122"/>
              </a:defRPr>
            </a:lvl4pPr>
            <a:lvl5pPr marL="2057400" indent="-228600">
              <a:defRPr kumimoji="1" sz="20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0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0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0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000">
                <a:solidFill>
                  <a:schemeClr val="tx1"/>
                </a:solidFill>
                <a:latin typeface="Arial" panose="020B0604020202020204" pitchFamily="34" charset="0"/>
                <a:ea typeface="宋体" panose="02010600030101010101" pitchFamily="2" charset="-122"/>
              </a:defRPr>
            </a:lvl9pPr>
          </a:lstStyle>
          <a:p>
            <a:pPr eaLnBrk="1" hangingPunct="1">
              <a:defRPr/>
            </a:pPr>
            <a:endParaRPr kumimoji="0" lang="en-US" altLang="en-US">
              <a:ea typeface="汉仪中圆简" charset="-122"/>
              <a:cs typeface="Arial" panose="020B0604020202020204" pitchFamily="34" charset="0"/>
            </a:endParaRPr>
          </a:p>
        </p:txBody>
      </p:sp>
      <p:sp>
        <p:nvSpPr>
          <p:cNvPr id="25" name="Date Placeholder 3"/>
          <p:cNvSpPr>
            <a:spLocks noGrp="1"/>
          </p:cNvSpPr>
          <p:nvPr>
            <p:ph type="dt" sz="half" idx="2"/>
          </p:nvPr>
        </p:nvSpPr>
        <p:spPr>
          <a:xfrm>
            <a:off x="457200" y="6427788"/>
            <a:ext cx="2133600" cy="365125"/>
          </a:xfrm>
          <a:prstGeom prst="rect">
            <a:avLst/>
          </a:prstGeom>
        </p:spPr>
        <p:txBody>
          <a:bodyPr anchor="ctr"/>
          <a:lstStyle>
            <a:lvl1pPr eaLnBrk="1" fontAlgn="auto" hangingPunct="1">
              <a:spcBef>
                <a:spcPts val="0"/>
              </a:spcBef>
              <a:spcAft>
                <a:spcPts val="0"/>
              </a:spcAft>
              <a:defRPr sz="1200">
                <a:solidFill>
                  <a:schemeClr val="bg1">
                    <a:lumMod val="65000"/>
                  </a:schemeClr>
                </a:solidFill>
                <a:latin typeface="+mn-lt"/>
                <a:ea typeface="+mn-ea"/>
                <a:cs typeface="+mn-cs"/>
              </a:defRPr>
            </a:lvl1pPr>
          </a:lstStyle>
          <a:p>
            <a:pPr>
              <a:defRPr/>
            </a:pPr>
            <a:endParaRPr lang="en-US"/>
          </a:p>
        </p:txBody>
      </p:sp>
      <p:sp>
        <p:nvSpPr>
          <p:cNvPr id="54284" name="文本框 3"/>
          <p:cNvSpPr txBox="1">
            <a:spLocks noChangeArrowheads="1"/>
          </p:cNvSpPr>
          <p:nvPr/>
        </p:nvSpPr>
        <p:spPr bwMode="auto">
          <a:xfrm>
            <a:off x="3475178" y="225425"/>
            <a:ext cx="223651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000">
                <a:solidFill>
                  <a:schemeClr val="tx1"/>
                </a:solidFill>
                <a:latin typeface="Arial" panose="020B0604020202020204" pitchFamily="34" charset="0"/>
                <a:ea typeface="宋体" panose="02010600030101010101" pitchFamily="2" charset="-122"/>
              </a:defRPr>
            </a:lvl1pPr>
            <a:lvl2pPr marL="742950" indent="-285750">
              <a:defRPr kumimoji="1" sz="2000">
                <a:solidFill>
                  <a:schemeClr val="tx1"/>
                </a:solidFill>
                <a:latin typeface="Arial" panose="020B0604020202020204" pitchFamily="34" charset="0"/>
                <a:ea typeface="宋体" panose="02010600030101010101" pitchFamily="2" charset="-122"/>
              </a:defRPr>
            </a:lvl2pPr>
            <a:lvl3pPr marL="1143000" indent="-228600">
              <a:defRPr kumimoji="1" sz="2000">
                <a:solidFill>
                  <a:schemeClr val="tx1"/>
                </a:solidFill>
                <a:latin typeface="Arial" panose="020B0604020202020204" pitchFamily="34" charset="0"/>
                <a:ea typeface="宋体" panose="02010600030101010101" pitchFamily="2" charset="-122"/>
              </a:defRPr>
            </a:lvl3pPr>
            <a:lvl4pPr marL="1600200" indent="-228600">
              <a:defRPr kumimoji="1" sz="2000">
                <a:solidFill>
                  <a:schemeClr val="tx1"/>
                </a:solidFill>
                <a:latin typeface="Arial" panose="020B0604020202020204" pitchFamily="34" charset="0"/>
                <a:ea typeface="宋体" panose="02010600030101010101" pitchFamily="2" charset="-122"/>
              </a:defRPr>
            </a:lvl4pPr>
            <a:lvl5pPr marL="2057400" indent="-228600">
              <a:defRPr kumimoji="1" sz="20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kumimoji="1" sz="20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kumimoji="1" sz="20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kumimoji="1" sz="20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kumimoji="1" sz="2000">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1400" dirty="0">
                <a:cs typeface="Arial" panose="020B0604020202020204" pitchFamily="34" charset="0"/>
              </a:rPr>
              <a:t>生物医学电子学</a:t>
            </a:r>
            <a:r>
              <a:rPr lang="en-US" altLang="zh-CN" sz="1400" dirty="0">
                <a:cs typeface="Arial" panose="020B0604020202020204" pitchFamily="34" charset="0"/>
              </a:rPr>
              <a:t>I</a:t>
            </a:r>
            <a:r>
              <a:rPr lang="zh-CN" altLang="en-US" sz="1400" dirty="0">
                <a:cs typeface="Arial" panose="020B0604020202020204" pitchFamily="34" charset="0"/>
              </a:rPr>
              <a:t> </a:t>
            </a:r>
            <a:r>
              <a:rPr lang="en-US" altLang="zh-CN" sz="1400" dirty="0">
                <a:cs typeface="Arial" panose="020B0604020202020204" pitchFamily="34" charset="0"/>
              </a:rPr>
              <a:t>(2025</a:t>
            </a:r>
            <a:r>
              <a:rPr lang="zh-CN" altLang="en-US" sz="1400" dirty="0">
                <a:cs typeface="Arial" panose="020B0604020202020204" pitchFamily="34" charset="0"/>
              </a:rPr>
              <a:t>秋</a:t>
            </a:r>
            <a:r>
              <a:rPr lang="en-US" altLang="zh-CN" sz="1400" dirty="0">
                <a:cs typeface="Arial" panose="020B0604020202020204" pitchFamily="34" charset="0"/>
              </a:rPr>
              <a:t>)</a:t>
            </a:r>
            <a:endParaRPr lang="zh-CN" altLang="en-US" sz="1400" dirty="0">
              <a:cs typeface="Arial" panose="020B0604020202020204" pitchFamily="34" charset="0"/>
            </a:endParaRPr>
          </a:p>
        </p:txBody>
      </p:sp>
      <p:cxnSp>
        <p:nvCxnSpPr>
          <p:cNvPr id="3" name="Straight Connector 2"/>
          <p:cNvCxnSpPr/>
          <p:nvPr/>
        </p:nvCxnSpPr>
        <p:spPr>
          <a:xfrm flipV="1">
            <a:off x="0" y="533400"/>
            <a:ext cx="9144000" cy="0"/>
          </a:xfrm>
          <a:prstGeom prst="line">
            <a:avLst/>
          </a:prstGeom>
          <a:ln w="28575" cmpd="sng">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103426" name="图片 1" descr="图形1">
            <a:extLst>
              <a:ext uri="{FF2B5EF4-FFF2-40B4-BE49-F238E27FC236}">
                <a16:creationId xmlns:a16="http://schemas.microsoft.com/office/drawing/2014/main" id="{E2E1A452-0C49-427C-92DA-213130FD945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4763" y="4763"/>
            <a:ext cx="1943100"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21074509"/>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Lst>
  <p:hf sldNum="0" hdr="0" ftr="0" dt="0"/>
  <p:txStyles>
    <p:titleStyle>
      <a:lvl1pPr algn="l" rtl="0" eaLnBrk="1" fontAlgn="base" hangingPunct="1">
        <a:spcBef>
          <a:spcPct val="0"/>
        </a:spcBef>
        <a:spcAft>
          <a:spcPct val="0"/>
        </a:spcAft>
        <a:defRPr sz="2800" b="1" kern="1200">
          <a:solidFill>
            <a:srgbClr val="FF0000"/>
          </a:solidFill>
          <a:latin typeface="Arial"/>
          <a:ea typeface="+mj-ea"/>
          <a:cs typeface="Arial"/>
        </a:defRPr>
      </a:lvl1pPr>
      <a:lvl2pPr algn="l" rtl="0" eaLnBrk="1" fontAlgn="base" hangingPunct="1">
        <a:spcBef>
          <a:spcPct val="0"/>
        </a:spcBef>
        <a:spcAft>
          <a:spcPct val="0"/>
        </a:spcAft>
        <a:defRPr sz="2800" b="1">
          <a:solidFill>
            <a:srgbClr val="FF0000"/>
          </a:solidFill>
          <a:latin typeface="Arial" panose="020B0604020202020204" pitchFamily="34" charset="0"/>
          <a:ea typeface="汉仪中圆简"/>
          <a:cs typeface="Arial" panose="020B0604020202020204" pitchFamily="34" charset="0"/>
        </a:defRPr>
      </a:lvl2pPr>
      <a:lvl3pPr algn="l" rtl="0" eaLnBrk="1" fontAlgn="base" hangingPunct="1">
        <a:spcBef>
          <a:spcPct val="0"/>
        </a:spcBef>
        <a:spcAft>
          <a:spcPct val="0"/>
        </a:spcAft>
        <a:defRPr sz="2800" b="1">
          <a:solidFill>
            <a:srgbClr val="FF0000"/>
          </a:solidFill>
          <a:latin typeface="Arial" panose="020B0604020202020204" pitchFamily="34" charset="0"/>
          <a:ea typeface="汉仪中圆简"/>
          <a:cs typeface="Arial" panose="020B0604020202020204" pitchFamily="34" charset="0"/>
        </a:defRPr>
      </a:lvl3pPr>
      <a:lvl4pPr algn="l" rtl="0" eaLnBrk="1" fontAlgn="base" hangingPunct="1">
        <a:spcBef>
          <a:spcPct val="0"/>
        </a:spcBef>
        <a:spcAft>
          <a:spcPct val="0"/>
        </a:spcAft>
        <a:defRPr sz="2800" b="1">
          <a:solidFill>
            <a:srgbClr val="FF0000"/>
          </a:solidFill>
          <a:latin typeface="Arial" panose="020B0604020202020204" pitchFamily="34" charset="0"/>
          <a:ea typeface="汉仪中圆简"/>
          <a:cs typeface="Arial" panose="020B0604020202020204" pitchFamily="34" charset="0"/>
        </a:defRPr>
      </a:lvl4pPr>
      <a:lvl5pPr algn="l" rtl="0" eaLnBrk="1" fontAlgn="base" hangingPunct="1">
        <a:spcBef>
          <a:spcPct val="0"/>
        </a:spcBef>
        <a:spcAft>
          <a:spcPct val="0"/>
        </a:spcAft>
        <a:defRPr sz="2800" b="1">
          <a:solidFill>
            <a:srgbClr val="FF0000"/>
          </a:solidFill>
          <a:latin typeface="Arial" panose="020B0604020202020204" pitchFamily="34" charset="0"/>
          <a:ea typeface="汉仪中圆简"/>
          <a:cs typeface="Arial" panose="020B0604020202020204" pitchFamily="34" charset="0"/>
        </a:defRPr>
      </a:lvl5pPr>
      <a:lvl6pPr marL="457200" algn="l" rtl="0" eaLnBrk="1" fontAlgn="base" hangingPunct="1">
        <a:spcBef>
          <a:spcPct val="0"/>
        </a:spcBef>
        <a:spcAft>
          <a:spcPct val="0"/>
        </a:spcAft>
        <a:defRPr sz="4400">
          <a:solidFill>
            <a:srgbClr val="C00000"/>
          </a:solidFill>
          <a:latin typeface="Cambria" pitchFamily="18" charset="0"/>
          <a:ea typeface="汉仪中圆简"/>
          <a:cs typeface="汉仪中圆简"/>
        </a:defRPr>
      </a:lvl6pPr>
      <a:lvl7pPr marL="914400" algn="l" rtl="0" eaLnBrk="1" fontAlgn="base" hangingPunct="1">
        <a:spcBef>
          <a:spcPct val="0"/>
        </a:spcBef>
        <a:spcAft>
          <a:spcPct val="0"/>
        </a:spcAft>
        <a:defRPr sz="4400">
          <a:solidFill>
            <a:srgbClr val="C00000"/>
          </a:solidFill>
          <a:latin typeface="Cambria" pitchFamily="18" charset="0"/>
          <a:ea typeface="汉仪中圆简"/>
          <a:cs typeface="汉仪中圆简"/>
        </a:defRPr>
      </a:lvl7pPr>
      <a:lvl8pPr marL="1371600" algn="l" rtl="0" eaLnBrk="1" fontAlgn="base" hangingPunct="1">
        <a:spcBef>
          <a:spcPct val="0"/>
        </a:spcBef>
        <a:spcAft>
          <a:spcPct val="0"/>
        </a:spcAft>
        <a:defRPr sz="4400">
          <a:solidFill>
            <a:srgbClr val="C00000"/>
          </a:solidFill>
          <a:latin typeface="Cambria" pitchFamily="18" charset="0"/>
          <a:ea typeface="汉仪中圆简"/>
          <a:cs typeface="汉仪中圆简"/>
        </a:defRPr>
      </a:lvl8pPr>
      <a:lvl9pPr marL="1828800" algn="l" rtl="0" eaLnBrk="1" fontAlgn="base" hangingPunct="1">
        <a:spcBef>
          <a:spcPct val="0"/>
        </a:spcBef>
        <a:spcAft>
          <a:spcPct val="0"/>
        </a:spcAft>
        <a:defRPr sz="4400">
          <a:solidFill>
            <a:srgbClr val="C00000"/>
          </a:solidFill>
          <a:latin typeface="Cambria" pitchFamily="18" charset="0"/>
          <a:ea typeface="汉仪中圆简"/>
          <a:cs typeface="汉仪中圆简"/>
        </a:defRPr>
      </a:lvl9pPr>
    </p:titleStyle>
    <p:bodyStyle>
      <a:lvl1pPr marL="225425" indent="-225425" algn="l" rtl="0" eaLnBrk="1" fontAlgn="base" hangingPunct="1">
        <a:spcBef>
          <a:spcPct val="20000"/>
        </a:spcBef>
        <a:spcAft>
          <a:spcPct val="0"/>
        </a:spcAft>
        <a:buClr>
          <a:srgbClr val="C00000"/>
        </a:buClr>
        <a:buSzPct val="100000"/>
        <a:buFont typeface="Cambria" panose="02040503050406030204" pitchFamily="18" charset="0"/>
        <a:buChar char="•"/>
        <a:defRPr kumimoji="1" sz="2400" kern="1200">
          <a:solidFill>
            <a:schemeClr val="tx1"/>
          </a:solidFill>
          <a:latin typeface="Arial"/>
          <a:ea typeface="+mn-ea"/>
          <a:cs typeface="Arial"/>
        </a:defRPr>
      </a:lvl1pPr>
      <a:lvl2pPr marL="569913" indent="-225425" algn="l" rtl="0" eaLnBrk="1" fontAlgn="base" hangingPunct="1">
        <a:spcBef>
          <a:spcPct val="20000"/>
        </a:spcBef>
        <a:spcAft>
          <a:spcPct val="0"/>
        </a:spcAft>
        <a:buClr>
          <a:srgbClr val="C00000"/>
        </a:buClr>
        <a:buSzPct val="100000"/>
        <a:buFont typeface="Wingdings" panose="05000000000000000000" pitchFamily="2" charset="2"/>
        <a:buChar char="§"/>
        <a:defRPr kumimoji="1" sz="2200" kern="1200">
          <a:solidFill>
            <a:schemeClr val="tx1"/>
          </a:solidFill>
          <a:latin typeface="+mn-lt"/>
          <a:ea typeface="+mn-ea"/>
          <a:cs typeface="汉仪中圆简"/>
        </a:defRPr>
      </a:lvl2pPr>
      <a:lvl3pPr marL="742950" indent="-171450" algn="l" rtl="0" eaLnBrk="1" fontAlgn="base" hangingPunct="1">
        <a:spcBef>
          <a:spcPct val="20000"/>
        </a:spcBef>
        <a:spcAft>
          <a:spcPct val="0"/>
        </a:spcAft>
        <a:buClr>
          <a:srgbClr val="C00000"/>
        </a:buClr>
        <a:buSzPct val="100000"/>
        <a:buFont typeface="华文中宋" panose="02010600040101010101" pitchFamily="2" charset="-122"/>
        <a:buChar char="–"/>
        <a:defRPr kumimoji="1" sz="2000" kern="1200">
          <a:solidFill>
            <a:schemeClr val="tx1"/>
          </a:solidFill>
          <a:latin typeface="+mn-lt"/>
          <a:ea typeface="+mn-ea"/>
          <a:cs typeface="汉仪中圆简"/>
        </a:defRPr>
      </a:lvl3pPr>
      <a:lvl4pPr marL="1258888" indent="-171450" algn="l" rtl="0" eaLnBrk="1" fontAlgn="base" hangingPunct="1">
        <a:spcBef>
          <a:spcPct val="20000"/>
        </a:spcBef>
        <a:spcAft>
          <a:spcPct val="0"/>
        </a:spcAft>
        <a:buClr>
          <a:srgbClr val="C00000"/>
        </a:buClr>
        <a:buFont typeface="Arial" panose="020B0604020202020204" pitchFamily="34" charset="0"/>
        <a:buChar char="•"/>
        <a:defRPr kumimoji="1" kern="1200">
          <a:solidFill>
            <a:schemeClr val="tx1"/>
          </a:solidFill>
          <a:latin typeface="+mn-lt"/>
          <a:ea typeface="+mn-ea"/>
          <a:cs typeface="汉仪中圆简"/>
        </a:defRPr>
      </a:lvl4pPr>
      <a:lvl5pPr marL="1603375" indent="-225425" algn="l" rtl="0" eaLnBrk="1" fontAlgn="base" hangingPunct="1">
        <a:spcBef>
          <a:spcPct val="20000"/>
        </a:spcBef>
        <a:spcAft>
          <a:spcPct val="0"/>
        </a:spcAft>
        <a:buClr>
          <a:srgbClr val="C00000"/>
        </a:buClr>
        <a:buFont typeface="Arial" panose="020B0604020202020204" pitchFamily="34" charset="0"/>
        <a:buChar char="•"/>
        <a:defRPr kumimoji="1" sz="1600" kern="1200">
          <a:solidFill>
            <a:schemeClr val="tx1"/>
          </a:solidFill>
          <a:latin typeface="+mn-lt"/>
          <a:ea typeface="+mn-ea"/>
          <a:cs typeface="汉仪中圆简"/>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notesSlide" Target="../notesSlides/notesSlide4.xml"/><Relationship Id="rId7" Type="http://schemas.openxmlformats.org/officeDocument/2006/relationships/image" Target="../media/image6.png"/><Relationship Id="rId2" Type="http://schemas.openxmlformats.org/officeDocument/2006/relationships/slideLayout" Target="../slideLayouts/slideLayout3.xml"/><Relationship Id="rId1" Type="http://schemas.openxmlformats.org/officeDocument/2006/relationships/vmlDrawing" Target="../drawings/vmlDrawing1.vml"/><Relationship Id="rId6" Type="http://schemas.openxmlformats.org/officeDocument/2006/relationships/image" Target="../media/image5.png"/><Relationship Id="rId5" Type="http://schemas.openxmlformats.org/officeDocument/2006/relationships/image" Target="../media/image4.wmf"/><Relationship Id="rId4"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notesSlide" Target="../notesSlides/notesSlide6.xml"/><Relationship Id="rId7" Type="http://schemas.openxmlformats.org/officeDocument/2006/relationships/image" Target="../media/image4.wmf"/><Relationship Id="rId2" Type="http://schemas.openxmlformats.org/officeDocument/2006/relationships/slideLayout" Target="../slideLayouts/slideLayout3.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image" Target="../media/image9.jpeg"/><Relationship Id="rId4" Type="http://schemas.openxmlformats.org/officeDocument/2006/relationships/image" Target="../media/image10.jpe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9.jpeg"/><Relationship Id="rId5" Type="http://schemas.openxmlformats.org/officeDocument/2006/relationships/image" Target="../media/image23.png"/><Relationship Id="rId4" Type="http://schemas.openxmlformats.org/officeDocument/2006/relationships/image" Target="../media/image210.pn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0.png"/><Relationship Id="rId1" Type="http://schemas.openxmlformats.org/officeDocument/2006/relationships/slideLayout" Target="../slideLayouts/slideLayout3.xml"/><Relationship Id="rId5" Type="http://schemas.openxmlformats.org/officeDocument/2006/relationships/image" Target="../media/image28.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image" Target="../media/image30.png"/><Relationship Id="rId1" Type="http://schemas.openxmlformats.org/officeDocument/2006/relationships/slideLayout" Target="../slideLayouts/slideLayout3.xml"/><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490.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38.png"/></Relationships>
</file>

<file path=ppt/slides/_rels/slide23.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90.png"/><Relationship Id="rId1" Type="http://schemas.openxmlformats.org/officeDocument/2006/relationships/slideLayout" Target="../slideLayouts/slideLayout3.xml"/><Relationship Id="rId4" Type="http://schemas.openxmlformats.org/officeDocument/2006/relationships/image" Target="../media/image41.png"/></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37.jpeg"/><Relationship Id="rId4" Type="http://schemas.openxmlformats.org/officeDocument/2006/relationships/image" Target="../media/image43.png"/></Relationships>
</file>

<file path=ppt/slides/_rels/slide2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45.png"/></Relationships>
</file>

<file path=ppt/slides/_rels/slide29.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image" Target="../media/image46.png"/><Relationship Id="rId1" Type="http://schemas.openxmlformats.org/officeDocument/2006/relationships/slideLayout" Target="../slideLayouts/slideLayout3.xml"/><Relationship Id="rId6" Type="http://schemas.openxmlformats.org/officeDocument/2006/relationships/image" Target="../media/image51.png"/><Relationship Id="rId5" Type="http://schemas.openxmlformats.org/officeDocument/2006/relationships/image" Target="../media/image49.png"/><Relationship Id="rId4" Type="http://schemas.openxmlformats.org/officeDocument/2006/relationships/image" Target="../media/image47.png"/><Relationship Id="rId9" Type="http://schemas.openxmlformats.org/officeDocument/2006/relationships/image" Target="../media/image50.png"/></Relationships>
</file>

<file path=ppt/slides/_rels/slide3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3.xml"/><Relationship Id="rId4" Type="http://schemas.openxmlformats.org/officeDocument/2006/relationships/image" Target="../media/image56.png"/></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57.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image" Target="../media/image59.png"/><Relationship Id="rId1" Type="http://schemas.openxmlformats.org/officeDocument/2006/relationships/slideLayout" Target="../slideLayouts/slideLayout3.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9.xml"/><Relationship Id="rId1" Type="http://schemas.openxmlformats.org/officeDocument/2006/relationships/slideLayout" Target="../slideLayouts/slideLayout3.xml"/><Relationship Id="rId5" Type="http://schemas.openxmlformats.org/officeDocument/2006/relationships/comments" Target="../comments/comment1.xml"/><Relationship Id="rId4" Type="http://schemas.openxmlformats.org/officeDocument/2006/relationships/image" Target="../media/image67.png"/></Relationships>
</file>

<file path=ppt/slides/_rels/slide36.xml.rels><?xml version="1.0" encoding="UTF-8" standalone="yes"?>
<Relationships xmlns="http://schemas.openxmlformats.org/package/2006/relationships"><Relationship Id="rId3" Type="http://schemas.openxmlformats.org/officeDocument/2006/relationships/image" Target="../media/image65.png"/><Relationship Id="rId7" Type="http://schemas.openxmlformats.org/officeDocument/2006/relationships/comments" Target="../comments/comment2.xml"/><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image" Target="../media/image480.png"/><Relationship Id="rId5" Type="http://schemas.openxmlformats.org/officeDocument/2006/relationships/image" Target="../media/image470.png"/><Relationship Id="rId4" Type="http://schemas.openxmlformats.org/officeDocument/2006/relationships/image" Target="../media/image68.png"/></Relationships>
</file>

<file path=ppt/slides/_rels/slide3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69.png"/><Relationship Id="rId7" Type="http://schemas.openxmlformats.org/officeDocument/2006/relationships/image" Target="../media/image530.png"/><Relationship Id="rId2" Type="http://schemas.openxmlformats.org/officeDocument/2006/relationships/notesSlide" Target="../notesSlides/notesSlide23.xml"/><Relationship Id="rId1" Type="http://schemas.openxmlformats.org/officeDocument/2006/relationships/slideLayout" Target="../slideLayouts/slideLayout3.xml"/><Relationship Id="rId6" Type="http://schemas.openxmlformats.org/officeDocument/2006/relationships/image" Target="../media/image520.png"/><Relationship Id="rId5" Type="http://schemas.openxmlformats.org/officeDocument/2006/relationships/image" Target="../media/image72.png"/><Relationship Id="rId4" Type="http://schemas.openxmlformats.org/officeDocument/2006/relationships/image" Target="../media/image71.png"/></Relationships>
</file>

<file path=ppt/slides/_rels/slide4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550.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6"/>
          <p:cNvSpPr>
            <a:spLocks noGrp="1" noChangeArrowheads="1"/>
          </p:cNvSpPr>
          <p:nvPr>
            <p:ph type="title"/>
          </p:nvPr>
        </p:nvSpPr>
        <p:spPr>
          <a:xfrm>
            <a:off x="457200" y="1981200"/>
            <a:ext cx="8153400" cy="1676400"/>
          </a:xfrm>
        </p:spPr>
        <p:txBody>
          <a:bodyPr/>
          <a:lstStyle/>
          <a:p>
            <a:pPr algn="ctr" eaLnBrk="1" hangingPunct="1"/>
            <a:r>
              <a:rPr lang="en-US" altLang="zh-CN" sz="4000" dirty="0">
                <a:ea typeface="宋体" panose="02010600030101010101" pitchFamily="2" charset="-122"/>
              </a:rPr>
              <a:t>Chapter 5</a:t>
            </a:r>
            <a:br>
              <a:rPr lang="en-US" altLang="zh-CN" sz="4000" dirty="0">
                <a:ea typeface="宋体" panose="02010600030101010101" pitchFamily="2" charset="-122"/>
              </a:rPr>
            </a:br>
            <a:r>
              <a:rPr lang="en-US" altLang="zh-CN" sz="4000" dirty="0">
                <a:ea typeface="宋体" panose="02010600030101010101" pitchFamily="2" charset="-122"/>
              </a:rPr>
              <a:t>- </a:t>
            </a:r>
            <a:r>
              <a:rPr lang="en-US" altLang="zh-CN" sz="3200" dirty="0">
                <a:ea typeface="宋体" panose="02010600030101010101" pitchFamily="2" charset="-122"/>
              </a:rPr>
              <a:t>Operational Amplifiers</a:t>
            </a:r>
            <a:endParaRPr lang="zh-CN" altLang="en-US" sz="3200" dirty="0">
              <a:ea typeface="宋体" panose="02010600030101010101" pitchFamily="2" charset="-122"/>
            </a:endParaRPr>
          </a:p>
        </p:txBody>
      </p:sp>
    </p:spTree>
    <p:extLst>
      <p:ext uri="{BB962C8B-B14F-4D97-AF65-F5344CB8AC3E}">
        <p14:creationId xmlns:p14="http://schemas.microsoft.com/office/powerpoint/2010/main" val="3601046818"/>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2"/>
          <p:cNvSpPr>
            <a:spLocks noGrp="1"/>
          </p:cNvSpPr>
          <p:nvPr>
            <p:ph type="title"/>
          </p:nvPr>
        </p:nvSpPr>
        <p:spPr/>
        <p:txBody>
          <a:bodyPr/>
          <a:lstStyle/>
          <a:p>
            <a:r>
              <a:rPr lang="en-US" altLang="zh-CN" dirty="0">
                <a:ea typeface="宋体" panose="02010600030101010101" pitchFamily="2" charset="-122"/>
              </a:rPr>
              <a:t>Outline</a:t>
            </a:r>
          </a:p>
        </p:txBody>
      </p:sp>
      <p:sp>
        <p:nvSpPr>
          <p:cNvPr id="14339" name="Content Placeholder 3"/>
          <p:cNvSpPr>
            <a:spLocks noGrp="1"/>
          </p:cNvSpPr>
          <p:nvPr>
            <p:ph idx="1"/>
          </p:nvPr>
        </p:nvSpPr>
        <p:spPr/>
        <p:txBody>
          <a:bodyPr/>
          <a:lstStyle/>
          <a:p>
            <a:r>
              <a:rPr lang="en-US" altLang="zh-CN" dirty="0">
                <a:ea typeface="宋体" panose="02010600030101010101" pitchFamily="2" charset="-122"/>
              </a:rPr>
              <a:t>Operational amplifier (op amp)</a:t>
            </a:r>
          </a:p>
          <a:p>
            <a:endParaRPr lang="en-US" altLang="zh-CN" dirty="0">
              <a:ea typeface="宋体" panose="02010600030101010101" pitchFamily="2" charset="-122"/>
            </a:endParaRPr>
          </a:p>
          <a:p>
            <a:r>
              <a:rPr lang="en-US" altLang="zh-CN" dirty="0">
                <a:ea typeface="宋体" panose="02010600030101010101" pitchFamily="2" charset="-122"/>
              </a:rPr>
              <a:t>Basic operations</a:t>
            </a:r>
          </a:p>
          <a:p>
            <a:pPr marL="290513" lvl="1" indent="0">
              <a:buNone/>
            </a:pPr>
            <a:endParaRPr lang="en-US" altLang="zh-CN" dirty="0">
              <a:ea typeface="宋体" panose="02010600030101010101" pitchFamily="2" charset="-122"/>
            </a:endParaRPr>
          </a:p>
          <a:p>
            <a:r>
              <a:rPr lang="en-US" altLang="zh-CN" dirty="0">
                <a:ea typeface="宋体" panose="02010600030101010101" pitchFamily="2" charset="-122"/>
              </a:rPr>
              <a:t>DAC</a:t>
            </a:r>
          </a:p>
          <a:p>
            <a:endParaRPr lang="en-US" altLang="zh-CN" dirty="0">
              <a:ea typeface="宋体" panose="02010600030101010101" pitchFamily="2" charset="-122"/>
            </a:endParaRPr>
          </a:p>
          <a:p>
            <a:r>
              <a:rPr lang="en-US" altLang="zh-CN" dirty="0">
                <a:ea typeface="宋体" panose="02010600030101010101" pitchFamily="2" charset="-122"/>
              </a:rPr>
              <a:t>Instrumentation amplifier</a:t>
            </a:r>
          </a:p>
          <a:p>
            <a:pPr lvl="1"/>
            <a:endParaRPr lang="en-US" altLang="zh-CN" dirty="0">
              <a:ea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8386" name="Rectangle 2"/>
          <p:cNvSpPr>
            <a:spLocks noGrp="1" noChangeArrowheads="1"/>
          </p:cNvSpPr>
          <p:nvPr>
            <p:ph type="title"/>
          </p:nvPr>
        </p:nvSpPr>
        <p:spPr/>
        <p:txBody>
          <a:bodyPr/>
          <a:lstStyle/>
          <a:p>
            <a:r>
              <a:rPr lang="en-US" altLang="zh-CN" dirty="0">
                <a:ea typeface="宋体" panose="02010600030101010101" pitchFamily="2" charset="-122"/>
              </a:rPr>
              <a:t>The Op Amp</a:t>
            </a:r>
          </a:p>
        </p:txBody>
      </p:sp>
      <p:sp>
        <p:nvSpPr>
          <p:cNvPr id="528387" name="Rectangle 3"/>
          <p:cNvSpPr>
            <a:spLocks noGrp="1" noChangeArrowheads="1"/>
          </p:cNvSpPr>
          <p:nvPr>
            <p:ph type="body" idx="1"/>
          </p:nvPr>
        </p:nvSpPr>
        <p:spPr>
          <a:xfrm>
            <a:off x="304800" y="1371600"/>
            <a:ext cx="8153400" cy="4495800"/>
          </a:xfrm>
        </p:spPr>
        <p:txBody>
          <a:bodyPr/>
          <a:lstStyle/>
          <a:p>
            <a:pPr>
              <a:spcBef>
                <a:spcPts val="600"/>
              </a:spcBef>
            </a:pPr>
            <a:r>
              <a:rPr lang="en-US" altLang="zh-CN" dirty="0">
                <a:ea typeface="宋体" panose="02010600030101010101" pitchFamily="2" charset="-122"/>
              </a:rPr>
              <a:t>Behaves like a voltage-controlled voltage source with very high amplification factor</a:t>
            </a:r>
          </a:p>
          <a:p>
            <a:pPr marL="0" indent="0">
              <a:spcBef>
                <a:spcPts val="600"/>
              </a:spcBef>
              <a:buNone/>
            </a:pPr>
            <a:endParaRPr lang="en-US" altLang="zh-CN" dirty="0">
              <a:ea typeface="宋体" panose="02010600030101010101" pitchFamily="2" charset="-122"/>
            </a:endParaRPr>
          </a:p>
          <a:p>
            <a:pPr>
              <a:spcBef>
                <a:spcPts val="600"/>
              </a:spcBef>
            </a:pPr>
            <a:r>
              <a:rPr lang="en-US" altLang="zh-CN" dirty="0">
                <a:ea typeface="宋体" panose="02010600030101010101" pitchFamily="2" charset="-122"/>
              </a:rPr>
              <a:t>When combined with resistors, capacitors, and inductors, can perform various functions:</a:t>
            </a:r>
          </a:p>
          <a:p>
            <a:pPr lvl="1">
              <a:lnSpc>
                <a:spcPct val="80000"/>
              </a:lnSpc>
            </a:pPr>
            <a:r>
              <a:rPr lang="en-US" altLang="zh-CN" dirty="0">
                <a:solidFill>
                  <a:srgbClr val="FFC000"/>
                </a:solidFill>
                <a:ea typeface="宋体" panose="02010600030101010101" pitchFamily="2" charset="-122"/>
              </a:rPr>
              <a:t>amplification/scaling</a:t>
            </a:r>
          </a:p>
          <a:p>
            <a:pPr lvl="1">
              <a:lnSpc>
                <a:spcPct val="80000"/>
              </a:lnSpc>
            </a:pPr>
            <a:r>
              <a:rPr lang="en-US" altLang="zh-CN" dirty="0">
                <a:solidFill>
                  <a:srgbClr val="FFC000"/>
                </a:solidFill>
                <a:ea typeface="宋体" panose="02010600030101010101" pitchFamily="2" charset="-122"/>
              </a:rPr>
              <a:t>sign changing</a:t>
            </a:r>
          </a:p>
          <a:p>
            <a:pPr lvl="1">
              <a:lnSpc>
                <a:spcPct val="80000"/>
              </a:lnSpc>
            </a:pPr>
            <a:r>
              <a:rPr lang="en-US" altLang="zh-CN" dirty="0">
                <a:solidFill>
                  <a:srgbClr val="FFC000"/>
                </a:solidFill>
                <a:ea typeface="宋体" panose="02010600030101010101" pitchFamily="2" charset="-122"/>
              </a:rPr>
              <a:t>addition/subtraction</a:t>
            </a:r>
            <a:endParaRPr lang="en-US" altLang="zh-CN" dirty="0">
              <a:ea typeface="宋体" panose="02010600030101010101" pitchFamily="2" charset="-122"/>
            </a:endParaRPr>
          </a:p>
          <a:p>
            <a:pPr lvl="1">
              <a:lnSpc>
                <a:spcPct val="80000"/>
              </a:lnSpc>
            </a:pPr>
            <a:r>
              <a:rPr lang="en-US" altLang="zh-CN" dirty="0">
                <a:solidFill>
                  <a:srgbClr val="00B050"/>
                </a:solidFill>
                <a:ea typeface="宋体" panose="02010600030101010101" pitchFamily="2" charset="-122"/>
              </a:rPr>
              <a:t>integration</a:t>
            </a:r>
          </a:p>
          <a:p>
            <a:pPr lvl="1">
              <a:lnSpc>
                <a:spcPct val="80000"/>
              </a:lnSpc>
            </a:pPr>
            <a:r>
              <a:rPr lang="en-US" altLang="zh-CN" dirty="0">
                <a:solidFill>
                  <a:srgbClr val="00B050"/>
                </a:solidFill>
                <a:ea typeface="宋体" panose="02010600030101010101" pitchFamily="2" charset="-122"/>
              </a:rPr>
              <a:t>differentiation</a:t>
            </a:r>
          </a:p>
          <a:p>
            <a:pPr lvl="1">
              <a:lnSpc>
                <a:spcPct val="80000"/>
              </a:lnSpc>
            </a:pPr>
            <a:r>
              <a:rPr lang="en-US" altLang="zh-CN" dirty="0">
                <a:solidFill>
                  <a:srgbClr val="00B0F0"/>
                </a:solidFill>
                <a:ea typeface="宋体" panose="02010600030101010101" pitchFamily="2" charset="-122"/>
              </a:rPr>
              <a:t>analog filtering</a:t>
            </a:r>
          </a:p>
          <a:p>
            <a:pPr marL="0" indent="0">
              <a:lnSpc>
                <a:spcPct val="80000"/>
              </a:lnSpc>
              <a:buNone/>
            </a:pPr>
            <a:endParaRPr lang="en-US" altLang="zh-CN" dirty="0">
              <a:ea typeface="宋体" panose="02010600030101010101" pitchFamily="2" charset="-122"/>
            </a:endParaRPr>
          </a:p>
        </p:txBody>
      </p:sp>
    </p:spTree>
    <p:extLst>
      <p:ext uri="{BB962C8B-B14F-4D97-AF65-F5344CB8AC3E}">
        <p14:creationId xmlns:p14="http://schemas.microsoft.com/office/powerpoint/2010/main" val="14204052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altLang="zh-CN" dirty="0">
                <a:ea typeface="宋体" panose="02010600030101010101" pitchFamily="2" charset="-122"/>
              </a:rPr>
              <a:t>Op Amp Terminals</a:t>
            </a:r>
          </a:p>
        </p:txBody>
      </p:sp>
      <p:sp>
        <p:nvSpPr>
          <p:cNvPr id="16387" name="Content Placeholder 2"/>
          <p:cNvSpPr>
            <a:spLocks noGrp="1"/>
          </p:cNvSpPr>
          <p:nvPr>
            <p:ph idx="1"/>
          </p:nvPr>
        </p:nvSpPr>
        <p:spPr>
          <a:xfrm>
            <a:off x="457200" y="3779837"/>
            <a:ext cx="4038600" cy="2239963"/>
          </a:xfrm>
        </p:spPr>
        <p:txBody>
          <a:bodyPr/>
          <a:lstStyle/>
          <a:p>
            <a:r>
              <a:rPr lang="en-US" altLang="zh-CN" sz="2400" dirty="0">
                <a:ea typeface="宋体" panose="02010600030101010101" pitchFamily="2" charset="-122"/>
              </a:rPr>
              <a:t>Five important terminals</a:t>
            </a:r>
          </a:p>
          <a:p>
            <a:pPr lvl="1"/>
            <a:r>
              <a:rPr lang="en-US" altLang="zh-CN" sz="2000" dirty="0">
                <a:ea typeface="宋体" panose="02010600030101010101" pitchFamily="2" charset="-122"/>
              </a:rPr>
              <a:t>The inverting input</a:t>
            </a:r>
          </a:p>
          <a:p>
            <a:pPr lvl="1"/>
            <a:r>
              <a:rPr lang="en-US" altLang="zh-CN" sz="2000" dirty="0">
                <a:ea typeface="宋体" panose="02010600030101010101" pitchFamily="2" charset="-122"/>
              </a:rPr>
              <a:t>The </a:t>
            </a:r>
            <a:r>
              <a:rPr lang="en-US" altLang="zh-CN" sz="2000" dirty="0" err="1">
                <a:ea typeface="宋体" panose="02010600030101010101" pitchFamily="2" charset="-122"/>
              </a:rPr>
              <a:t>noninverting</a:t>
            </a:r>
            <a:r>
              <a:rPr lang="en-US" altLang="zh-CN" sz="2000" dirty="0">
                <a:ea typeface="宋体" panose="02010600030101010101" pitchFamily="2" charset="-122"/>
              </a:rPr>
              <a:t> input</a:t>
            </a:r>
          </a:p>
          <a:p>
            <a:pPr lvl="1"/>
            <a:r>
              <a:rPr lang="en-US" altLang="zh-CN" sz="2000" dirty="0">
                <a:ea typeface="宋体" panose="02010600030101010101" pitchFamily="2" charset="-122"/>
              </a:rPr>
              <a:t>The output</a:t>
            </a:r>
          </a:p>
          <a:p>
            <a:pPr lvl="1"/>
            <a:r>
              <a:rPr lang="en-US" altLang="zh-CN" sz="2000" dirty="0">
                <a:ea typeface="宋体" panose="02010600030101010101" pitchFamily="2" charset="-122"/>
              </a:rPr>
              <a:t>The positive (+) power supply</a:t>
            </a:r>
          </a:p>
          <a:p>
            <a:pPr lvl="1"/>
            <a:r>
              <a:rPr lang="en-US" altLang="zh-CN" sz="2000" dirty="0">
                <a:ea typeface="宋体" panose="02010600030101010101" pitchFamily="2" charset="-122"/>
              </a:rPr>
              <a:t>The negative (-) power supply</a:t>
            </a:r>
          </a:p>
        </p:txBody>
      </p:sp>
      <p:pic>
        <p:nvPicPr>
          <p:cNvPr id="16389" name="Picture 5" descr="C:\Users\Joel\Documents\Teaching\McGraw Hill\Fundamentals of Electric Circuits 5e\figures\Ch05\Color Labeled\ale80571_05_00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447800"/>
            <a:ext cx="6829118"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Content Placeholder 2"/>
          <p:cNvSpPr txBox="1">
            <a:spLocks/>
          </p:cNvSpPr>
          <p:nvPr/>
        </p:nvSpPr>
        <p:spPr bwMode="auto">
          <a:xfrm>
            <a:off x="4648200" y="3733800"/>
            <a:ext cx="4038600" cy="2239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74625" indent="-174625" algn="l" rtl="0" eaLnBrk="1" fontAlgn="base" hangingPunct="1">
              <a:spcBef>
                <a:spcPct val="20000"/>
              </a:spcBef>
              <a:spcAft>
                <a:spcPct val="0"/>
              </a:spcAft>
              <a:buClr>
                <a:srgbClr val="C00000"/>
              </a:buClr>
              <a:buSzPct val="70000"/>
              <a:buFont typeface="Arial" panose="020B0604020202020204" pitchFamily="34" charset="0"/>
              <a:buChar char="•"/>
              <a:defRPr kumimoji="1" sz="2400" kern="1200">
                <a:solidFill>
                  <a:schemeClr val="tx1"/>
                </a:solidFill>
                <a:latin typeface="Arial" panose="020B0604020202020204" pitchFamily="34" charset="0"/>
                <a:ea typeface="+mn-ea"/>
                <a:cs typeface="Arial" panose="020B0604020202020204" pitchFamily="34" charset="0"/>
              </a:defRPr>
            </a:lvl1pPr>
            <a:lvl2pPr marL="465138" indent="-174625" algn="l" rtl="0" eaLnBrk="1" fontAlgn="base" hangingPunct="1">
              <a:spcBef>
                <a:spcPct val="20000"/>
              </a:spcBef>
              <a:spcAft>
                <a:spcPct val="0"/>
              </a:spcAft>
              <a:buClr>
                <a:srgbClr val="C00000"/>
              </a:buClr>
              <a:buSzPct val="100000"/>
              <a:buFont typeface="Wingdings" panose="05000000000000000000" pitchFamily="2" charset="2"/>
              <a:buChar char="§"/>
              <a:defRPr kumimoji="1" sz="2200" kern="1200">
                <a:solidFill>
                  <a:schemeClr val="tx1"/>
                </a:solidFill>
                <a:latin typeface="Arial" panose="020B0604020202020204" pitchFamily="34" charset="0"/>
                <a:ea typeface="+mn-ea"/>
                <a:cs typeface="Arial" panose="020B0604020202020204" pitchFamily="34" charset="0"/>
              </a:defRPr>
            </a:lvl2pPr>
            <a:lvl3pPr marL="742950" indent="-277813" algn="l" rtl="0" eaLnBrk="1" fontAlgn="base" hangingPunct="1">
              <a:spcBef>
                <a:spcPct val="20000"/>
              </a:spcBef>
              <a:spcAft>
                <a:spcPct val="0"/>
              </a:spcAft>
              <a:buClr>
                <a:srgbClr val="C00000"/>
              </a:buClr>
              <a:buSzPct val="100000"/>
              <a:buFont typeface="华文中宋" panose="02010600040101010101" pitchFamily="2" charset="-122"/>
              <a:buChar char="–"/>
              <a:defRPr kumimoji="1" sz="2000" kern="1200">
                <a:solidFill>
                  <a:schemeClr val="tx1"/>
                </a:solidFill>
                <a:latin typeface="Arial" panose="020B0604020202020204" pitchFamily="34" charset="0"/>
                <a:ea typeface="+mn-ea"/>
                <a:cs typeface="Arial" panose="020B0604020202020204" pitchFamily="34" charset="0"/>
              </a:defRPr>
            </a:lvl3pPr>
            <a:lvl4pPr marL="1258888" indent="-171450" algn="l" rtl="0" eaLnBrk="1" fontAlgn="base" hangingPunct="1">
              <a:spcBef>
                <a:spcPct val="20000"/>
              </a:spcBef>
              <a:spcAft>
                <a:spcPct val="0"/>
              </a:spcAft>
              <a:buClr>
                <a:srgbClr val="C00000"/>
              </a:buClr>
              <a:buFont typeface="Arial" panose="020B0604020202020204" pitchFamily="34" charset="0"/>
              <a:buChar char="•"/>
              <a:defRPr kumimoji="1" kern="1200">
                <a:solidFill>
                  <a:schemeClr val="tx1"/>
                </a:solidFill>
                <a:latin typeface="Arial" panose="020B0604020202020204" pitchFamily="34" charset="0"/>
                <a:ea typeface="+mn-ea"/>
                <a:cs typeface="Arial" panose="020B0604020202020204" pitchFamily="34" charset="0"/>
              </a:defRPr>
            </a:lvl4pPr>
            <a:lvl5pPr marL="1603375" indent="-225425" algn="l" rtl="0" eaLnBrk="1" fontAlgn="base" hangingPunct="1">
              <a:spcBef>
                <a:spcPct val="20000"/>
              </a:spcBef>
              <a:spcAft>
                <a:spcPct val="0"/>
              </a:spcAft>
              <a:buClr>
                <a:srgbClr val="C00000"/>
              </a:buClr>
              <a:buFont typeface="Arial" panose="020B0604020202020204" pitchFamily="34" charset="0"/>
              <a:buChar char="•"/>
              <a:defRPr kumimoji="1"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zh-CN" dirty="0">
                <a:ea typeface="宋体" panose="02010600030101010101" pitchFamily="2" charset="-122"/>
              </a:rPr>
              <a:t>The rest three terminals</a:t>
            </a:r>
          </a:p>
          <a:p>
            <a:pPr lvl="1"/>
            <a:r>
              <a:rPr lang="en-US" altLang="zh-CN" sz="2000" dirty="0">
                <a:ea typeface="宋体" panose="02010600030101010101" pitchFamily="2" charset="-122"/>
              </a:rPr>
              <a:t>2 Offset Null (Balance)</a:t>
            </a:r>
          </a:p>
          <a:p>
            <a:pPr lvl="2"/>
            <a:r>
              <a:rPr lang="en-US" altLang="zh-CN" sz="1800" dirty="0">
                <a:ea typeface="宋体" panose="02010600030101010101" pitchFamily="2" charset="-122"/>
              </a:rPr>
              <a:t>May be used to compensate for performance degradation due to aging etc.</a:t>
            </a:r>
          </a:p>
          <a:p>
            <a:pPr lvl="1"/>
            <a:r>
              <a:rPr lang="en-US" altLang="zh-CN" sz="2000" dirty="0">
                <a:ea typeface="宋体" panose="02010600030101010101" pitchFamily="2" charset="-122"/>
              </a:rPr>
              <a:t>1 No Connection (NC)</a:t>
            </a:r>
          </a:p>
          <a:p>
            <a:pPr lvl="2"/>
            <a:r>
              <a:rPr lang="en-US" altLang="zh-CN" sz="1800" dirty="0">
                <a:ea typeface="宋体" panose="02010600030101010101" pitchFamily="2" charset="-122"/>
              </a:rPr>
              <a:t>Unused, not connected to the amplifier circuit.</a:t>
            </a:r>
          </a:p>
        </p:txBody>
      </p:sp>
      <p:pic>
        <p:nvPicPr>
          <p:cNvPr id="8" name="Picture 2" descr="http://www.tandyonline.co.uk/media/catalog/product/cache/1/image/9df78eab33525d08d6e5fb8d27136e95/7/4/741-op-amp.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386127">
            <a:off x="7253441" y="609600"/>
            <a:ext cx="1828800" cy="1828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Title 1"/>
          <p:cNvSpPr>
            <a:spLocks noGrp="1"/>
          </p:cNvSpPr>
          <p:nvPr>
            <p:ph type="title"/>
          </p:nvPr>
        </p:nvSpPr>
        <p:spPr/>
        <p:txBody>
          <a:bodyPr/>
          <a:lstStyle/>
          <a:p>
            <a:r>
              <a:rPr lang="en-US" altLang="zh-CN">
                <a:ea typeface="宋体" panose="02010600030101010101" pitchFamily="2" charset="-122"/>
              </a:rPr>
              <a:t>Output Voltage</a:t>
            </a:r>
          </a:p>
        </p:txBody>
      </p:sp>
      <p:sp>
        <p:nvSpPr>
          <p:cNvPr id="1028" name="Content Placeholder 2"/>
          <p:cNvSpPr>
            <a:spLocks noGrp="1"/>
          </p:cNvSpPr>
          <p:nvPr>
            <p:ph idx="1"/>
          </p:nvPr>
        </p:nvSpPr>
        <p:spPr>
          <a:xfrm>
            <a:off x="304800" y="1400694"/>
            <a:ext cx="8229600" cy="3886200"/>
          </a:xfrm>
        </p:spPr>
        <p:txBody>
          <a:bodyPr/>
          <a:lstStyle/>
          <a:p>
            <a:r>
              <a:rPr lang="en-US" altLang="zh-CN" dirty="0">
                <a:ea typeface="宋体" panose="02010600030101010101" pitchFamily="2" charset="-122"/>
              </a:rPr>
              <a:t>The voltage output of an op-amp is proportional to the difference between the </a:t>
            </a:r>
            <a:r>
              <a:rPr lang="en-US" altLang="zh-CN" u="sng" dirty="0" err="1">
                <a:ea typeface="宋体" panose="02010600030101010101" pitchFamily="2" charset="-122"/>
              </a:rPr>
              <a:t>noninverting</a:t>
            </a:r>
            <a:r>
              <a:rPr lang="en-US" altLang="zh-CN" dirty="0">
                <a:ea typeface="宋体" panose="02010600030101010101" pitchFamily="2" charset="-122"/>
              </a:rPr>
              <a:t> and </a:t>
            </a:r>
            <a:r>
              <a:rPr lang="en-US" altLang="zh-CN" u="sng" dirty="0">
                <a:ea typeface="宋体" panose="02010600030101010101" pitchFamily="2" charset="-122"/>
              </a:rPr>
              <a:t>inverting</a:t>
            </a:r>
            <a:r>
              <a:rPr lang="en-US" altLang="zh-CN" dirty="0">
                <a:ea typeface="宋体" panose="02010600030101010101" pitchFamily="2" charset="-122"/>
              </a:rPr>
              <a:t> inputs</a:t>
            </a:r>
          </a:p>
          <a:p>
            <a:endParaRPr lang="en-US" altLang="zh-CN" dirty="0">
              <a:ea typeface="宋体" panose="02010600030101010101" pitchFamily="2" charset="-122"/>
            </a:endParaRPr>
          </a:p>
          <a:p>
            <a:endParaRPr lang="en-US" altLang="zh-CN" dirty="0">
              <a:ea typeface="宋体" panose="02010600030101010101" pitchFamily="2" charset="-122"/>
            </a:endParaRPr>
          </a:p>
        </p:txBody>
      </p:sp>
      <p:graphicFrame>
        <p:nvGraphicFramePr>
          <p:cNvPr id="1026" name="Object 5"/>
          <p:cNvGraphicFramePr>
            <a:graphicFrameLocks noChangeAspect="1"/>
          </p:cNvGraphicFramePr>
          <p:nvPr>
            <p:extLst>
              <p:ext uri="{D42A27DB-BD31-4B8C-83A1-F6EECF244321}">
                <p14:modId xmlns:p14="http://schemas.microsoft.com/office/powerpoint/2010/main" val="3264128155"/>
              </p:ext>
            </p:extLst>
          </p:nvPr>
        </p:nvGraphicFramePr>
        <p:xfrm>
          <a:off x="749032" y="2438400"/>
          <a:ext cx="3368675" cy="509587"/>
        </p:xfrm>
        <a:graphic>
          <a:graphicData uri="http://schemas.openxmlformats.org/presentationml/2006/ole">
            <mc:AlternateContent xmlns:mc="http://schemas.openxmlformats.org/markup-compatibility/2006">
              <mc:Choice xmlns:v="urn:schemas-microsoft-com:vml" Requires="v">
                <p:oleObj spid="_x0000_s101600" name="Equation" r:id="rId4" imgW="1295280" imgH="228600" progId="Equation.DSMT4">
                  <p:embed/>
                </p:oleObj>
              </mc:Choice>
              <mc:Fallback>
                <p:oleObj name="Equation" r:id="rId4" imgW="1295280" imgH="228600" progId="Equation.DSMT4">
                  <p:embed/>
                  <p:pic>
                    <p:nvPicPr>
                      <p:cNvPr id="1026"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9032" y="2438400"/>
                        <a:ext cx="3368675" cy="509587"/>
                      </a:xfrm>
                      <a:prstGeom prst="rect">
                        <a:avLst/>
                      </a:prstGeom>
                      <a:noFill/>
                      <a:ln w="28575">
                        <a:solidFill>
                          <a:srgbClr val="FF0000"/>
                        </a:solidFill>
                      </a:ln>
                      <a:effectLst/>
                    </p:spPr>
                  </p:pic>
                </p:oleObj>
              </mc:Fallback>
            </mc:AlternateContent>
          </a:graphicData>
        </a:graphic>
      </p:graphicFrame>
      <p:pic>
        <p:nvPicPr>
          <p:cNvPr id="6" name="图片 5"/>
          <p:cNvPicPr>
            <a:picLocks noChangeAspect="1"/>
          </p:cNvPicPr>
          <p:nvPr/>
        </p:nvPicPr>
        <p:blipFill>
          <a:blip r:embed="rId6"/>
          <a:stretch>
            <a:fillRect/>
          </a:stretch>
        </p:blipFill>
        <p:spPr>
          <a:xfrm>
            <a:off x="-31482" y="3429000"/>
            <a:ext cx="4840172" cy="2429394"/>
          </a:xfrm>
          <a:prstGeom prst="rect">
            <a:avLst/>
          </a:prstGeom>
        </p:spPr>
      </p:pic>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7DE47662-5EAA-4031-BAB3-4A07DE8F156A}"/>
                  </a:ext>
                </a:extLst>
              </p:cNvPr>
              <p:cNvSpPr txBox="1"/>
              <p:nvPr/>
            </p:nvSpPr>
            <p:spPr>
              <a:xfrm>
                <a:off x="5013450" y="5140652"/>
                <a:ext cx="4133119" cy="569067"/>
              </a:xfrm>
              <a:prstGeom prst="rect">
                <a:avLst/>
              </a:prstGeom>
              <a:noFill/>
            </p:spPr>
            <p:txBody>
              <a:bodyPr wrap="none" rtlCol="0">
                <a:spAutoFit/>
              </a:bodyPr>
              <a:lstStyle/>
              <a:p>
                <a:r>
                  <a:rPr lang="zh-CN" altLang="en-US" dirty="0"/>
                  <a:t>共模抑制比：</a:t>
                </a:r>
                <a14:m>
                  <m:oMath xmlns:m="http://schemas.openxmlformats.org/officeDocument/2006/math">
                    <m:f>
                      <m:fPr>
                        <m:ctrlPr>
                          <a:rPr lang="en-US" altLang="zh-CN" i="1" dirty="0" smtClean="0">
                            <a:latin typeface="Cambria Math" panose="02040503050406030204" pitchFamily="18" charset="0"/>
                          </a:rPr>
                        </m:ctrlPr>
                      </m:fPr>
                      <m:num>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𝐴</m:t>
                            </m:r>
                          </m:e>
                          <m:sub>
                            <m:r>
                              <a:rPr lang="en-US" altLang="zh-CN" b="0" i="1" dirty="0" smtClean="0">
                                <a:latin typeface="Cambria Math" panose="02040503050406030204" pitchFamily="18" charset="0"/>
                              </a:rPr>
                              <m:t>𝑑</m:t>
                            </m:r>
                          </m:sub>
                        </m:sSub>
                      </m:num>
                      <m:den>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𝐴</m:t>
                            </m:r>
                          </m:e>
                          <m:sub>
                            <m:r>
                              <a:rPr lang="en-US" altLang="zh-CN" b="0" i="1" dirty="0" smtClean="0">
                                <a:latin typeface="Cambria Math" panose="02040503050406030204" pitchFamily="18" charset="0"/>
                              </a:rPr>
                              <m:t>𝑐</m:t>
                            </m:r>
                          </m:sub>
                        </m:sSub>
                      </m:den>
                    </m:f>
                  </m:oMath>
                </a14:m>
                <a:r>
                  <a:rPr lang="zh-CN" altLang="en-US" dirty="0"/>
                  <a:t> </a:t>
                </a:r>
                <a:r>
                  <a:rPr lang="en-US" altLang="zh-CN" dirty="0"/>
                  <a:t>or </a:t>
                </a:r>
                <a14:m>
                  <m:oMath xmlns:m="http://schemas.openxmlformats.org/officeDocument/2006/math">
                    <m:r>
                      <a:rPr lang="en-US" altLang="zh-CN" b="0" i="0" dirty="0" smtClean="0">
                        <a:latin typeface="Cambria Math" panose="02040503050406030204" pitchFamily="18" charset="0"/>
                      </a:rPr>
                      <m:t>20</m:t>
                    </m:r>
                    <m:func>
                      <m:funcPr>
                        <m:ctrlPr>
                          <a:rPr lang="en-US" altLang="zh-CN" b="0" i="1" dirty="0" smtClean="0">
                            <a:latin typeface="Cambria Math" panose="02040503050406030204" pitchFamily="18" charset="0"/>
                          </a:rPr>
                        </m:ctrlPr>
                      </m:funcPr>
                      <m:fName>
                        <m:sSub>
                          <m:sSubPr>
                            <m:ctrlPr>
                              <a:rPr lang="en-US" altLang="zh-CN" b="0" i="1" dirty="0" smtClean="0">
                                <a:latin typeface="Cambria Math" panose="02040503050406030204" pitchFamily="18" charset="0"/>
                              </a:rPr>
                            </m:ctrlPr>
                          </m:sSubPr>
                          <m:e>
                            <m:r>
                              <m:rPr>
                                <m:sty m:val="p"/>
                              </m:rPr>
                              <a:rPr lang="en-US" altLang="zh-CN" b="0" i="0" dirty="0" smtClean="0">
                                <a:latin typeface="Cambria Math" panose="02040503050406030204" pitchFamily="18" charset="0"/>
                              </a:rPr>
                              <m:t>log</m:t>
                            </m:r>
                          </m:e>
                          <m:sub>
                            <m:r>
                              <a:rPr lang="en-US" altLang="zh-CN" b="0" i="1" dirty="0" smtClean="0">
                                <a:latin typeface="Cambria Math" panose="02040503050406030204" pitchFamily="18" charset="0"/>
                              </a:rPr>
                              <m:t>10</m:t>
                            </m:r>
                          </m:sub>
                        </m:sSub>
                      </m:fName>
                      <m:e>
                        <m:f>
                          <m:fPr>
                            <m:ctrlPr>
                              <a:rPr lang="en-US" altLang="zh-CN" i="1" dirty="0">
                                <a:latin typeface="Cambria Math" panose="02040503050406030204" pitchFamily="18" charset="0"/>
                              </a:rPr>
                            </m:ctrlPr>
                          </m:fPr>
                          <m:num>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𝐴</m:t>
                                </m:r>
                              </m:e>
                              <m:sub>
                                <m:r>
                                  <a:rPr lang="en-US" altLang="zh-CN" i="1" dirty="0">
                                    <a:latin typeface="Cambria Math" panose="02040503050406030204" pitchFamily="18" charset="0"/>
                                  </a:rPr>
                                  <m:t>𝑑</m:t>
                                </m:r>
                              </m:sub>
                            </m:sSub>
                          </m:num>
                          <m:den>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𝐴</m:t>
                                </m:r>
                              </m:e>
                              <m:sub>
                                <m:r>
                                  <a:rPr lang="en-US" altLang="zh-CN" i="1" dirty="0">
                                    <a:latin typeface="Cambria Math" panose="02040503050406030204" pitchFamily="18" charset="0"/>
                                  </a:rPr>
                                  <m:t>𝑐</m:t>
                                </m:r>
                              </m:sub>
                            </m:sSub>
                          </m:den>
                        </m:f>
                      </m:e>
                    </m:func>
                    <m:r>
                      <a:rPr lang="en-US" altLang="zh-CN" b="0" i="1" dirty="0" smtClean="0">
                        <a:latin typeface="Cambria Math" panose="02040503050406030204" pitchFamily="18" charset="0"/>
                      </a:rPr>
                      <m:t> (</m:t>
                    </m:r>
                    <m:r>
                      <m:rPr>
                        <m:sty m:val="p"/>
                      </m:rPr>
                      <a:rPr lang="en-US" altLang="zh-CN" b="0" i="0" dirty="0" smtClean="0">
                        <a:latin typeface="Cambria Math" panose="02040503050406030204" pitchFamily="18" charset="0"/>
                      </a:rPr>
                      <m:t>dB</m:t>
                    </m:r>
                    <m:r>
                      <a:rPr lang="en-US" altLang="zh-CN" b="0" i="1" dirty="0" smtClean="0">
                        <a:latin typeface="Cambria Math" panose="02040503050406030204" pitchFamily="18" charset="0"/>
                      </a:rPr>
                      <m:t>)</m:t>
                    </m:r>
                  </m:oMath>
                </a14:m>
                <a:endParaRPr lang="zh-CN" altLang="en-US" dirty="0"/>
              </a:p>
            </p:txBody>
          </p:sp>
        </mc:Choice>
        <mc:Fallback xmlns="">
          <p:sp>
            <p:nvSpPr>
              <p:cNvPr id="4" name="文本框 3">
                <a:extLst>
                  <a:ext uri="{FF2B5EF4-FFF2-40B4-BE49-F238E27FC236}">
                    <a16:creationId xmlns:a16="http://schemas.microsoft.com/office/drawing/2014/main" id="{7DE47662-5EAA-4031-BAB3-4A07DE8F156A}"/>
                  </a:ext>
                </a:extLst>
              </p:cNvPr>
              <p:cNvSpPr txBox="1">
                <a:spLocks noRot="1" noChangeAspect="1" noMove="1" noResize="1" noEditPoints="1" noAdjustHandles="1" noChangeArrowheads="1" noChangeShapeType="1" noTextEdit="1"/>
              </p:cNvSpPr>
              <p:nvPr/>
            </p:nvSpPr>
            <p:spPr>
              <a:xfrm>
                <a:off x="5013450" y="5140652"/>
                <a:ext cx="4133119" cy="569067"/>
              </a:xfrm>
              <a:prstGeom prst="rect">
                <a:avLst/>
              </a:prstGeom>
              <a:blipFill>
                <a:blip r:embed="rId7"/>
                <a:stretch>
                  <a:fillRect l="-14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Object 5">
                <a:extLst>
                  <a:ext uri="{FF2B5EF4-FFF2-40B4-BE49-F238E27FC236}">
                    <a16:creationId xmlns:a16="http://schemas.microsoft.com/office/drawing/2014/main" id="{3CF07F8F-3A5A-4187-8B58-43A7BACF8A53}"/>
                  </a:ext>
                </a:extLst>
              </p:cNvPr>
              <p:cNvSpPr txBox="1"/>
              <p:nvPr/>
            </p:nvSpPr>
            <p:spPr bwMode="auto">
              <a:xfrm>
                <a:off x="5310188" y="4038600"/>
                <a:ext cx="3368675" cy="509588"/>
              </a:xfrm>
              <a:prstGeom prst="rect">
                <a:avLst/>
              </a:prstGeom>
              <a:noFill/>
              <a:ln w="28575">
                <a:solidFill>
                  <a:srgbClr val="FF0000"/>
                </a:solidFill>
              </a:ln>
              <a:effec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𝑜</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m:rPr>
                          <m:sty m:val="p"/>
                        </m:rPr>
                        <a:rPr lang="en-US" altLang="zh-CN" i="1" baseline="-25000">
                          <a:solidFill>
                            <a:srgbClr val="000000"/>
                          </a:solidFill>
                          <a:latin typeface="Cambria Math" panose="02040503050406030204" pitchFamily="18" charset="0"/>
                        </a:rPr>
                        <m:t>d</m:t>
                      </m:r>
                      <m:d>
                        <m:dPr>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1</m:t>
                              </m:r>
                            </m:sub>
                          </m:sSub>
                        </m:e>
                      </m:d>
                      <m:r>
                        <a:rPr lang="en-US" altLang="zh-CN" b="0" i="1" smtClean="0">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en-US" altLang="zh-CN" b="0" i="1" baseline="-25000" smtClean="0">
                          <a:solidFill>
                            <a:srgbClr val="000000"/>
                          </a:solidFill>
                          <a:latin typeface="Cambria Math" panose="02040503050406030204" pitchFamily="18" charset="0"/>
                        </a:rPr>
                        <m:t>𝑐</m:t>
                      </m:r>
                      <m:d>
                        <m:dPr>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2</m:t>
                              </m:r>
                            </m:sub>
                          </m:sSub>
                          <m:r>
                            <a:rPr lang="en-US" altLang="zh-CN" b="0" i="1" smtClean="0">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𝑣</m:t>
                              </m:r>
                            </m:e>
                            <m:sub>
                              <m:r>
                                <a:rPr lang="zh-CN" altLang="en-US" i="1">
                                  <a:solidFill>
                                    <a:srgbClr val="000000"/>
                                  </a:solidFill>
                                  <a:latin typeface="Cambria Math" panose="02040503050406030204" pitchFamily="18" charset="0"/>
                                </a:rPr>
                                <m:t>1</m:t>
                              </m:r>
                            </m:sub>
                          </m:sSub>
                        </m:e>
                      </m:d>
                      <m:r>
                        <a:rPr lang="en-US" altLang="zh-CN" b="0" i="1" smtClean="0">
                          <a:solidFill>
                            <a:srgbClr val="000000"/>
                          </a:solidFill>
                          <a:latin typeface="Cambria Math" panose="02040503050406030204" pitchFamily="18" charset="0"/>
                        </a:rPr>
                        <m:t>/2</m:t>
                      </m:r>
                    </m:oMath>
                  </m:oMathPara>
                </a14:m>
                <a:endParaRPr lang="zh-CN" altLang="en-US" dirty="0"/>
              </a:p>
            </p:txBody>
          </p:sp>
        </mc:Choice>
        <mc:Fallback xmlns="">
          <p:sp>
            <p:nvSpPr>
              <p:cNvPr id="9" name="Object 5">
                <a:extLst>
                  <a:ext uri="{FF2B5EF4-FFF2-40B4-BE49-F238E27FC236}">
                    <a16:creationId xmlns:a16="http://schemas.microsoft.com/office/drawing/2014/main" id="{3CF07F8F-3A5A-4187-8B58-43A7BACF8A53}"/>
                  </a:ext>
                </a:extLst>
              </p:cNvPr>
              <p:cNvSpPr txBox="1">
                <a:spLocks noRot="1" noChangeAspect="1" noMove="1" noResize="1" noEditPoints="1" noAdjustHandles="1" noChangeArrowheads="1" noChangeShapeType="1" noTextEdit="1"/>
              </p:cNvSpPr>
              <p:nvPr/>
            </p:nvSpPr>
            <p:spPr bwMode="auto">
              <a:xfrm>
                <a:off x="5310188" y="4038600"/>
                <a:ext cx="3368675" cy="509588"/>
              </a:xfrm>
              <a:prstGeom prst="rect">
                <a:avLst/>
              </a:prstGeom>
              <a:blipFill>
                <a:blip r:embed="rId8"/>
                <a:stretch>
                  <a:fillRect/>
                </a:stretch>
              </a:blipFill>
              <a:ln w="28575">
                <a:solidFill>
                  <a:srgbClr val="FF0000"/>
                </a:solidFill>
              </a:ln>
              <a:effectLst/>
              <a:extLst/>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0746E3CB-CAD8-4863-A41A-C8F1B568806F}"/>
              </a:ext>
            </a:extLst>
          </p:cNvPr>
          <p:cNvSpPr txBox="1"/>
          <p:nvPr/>
        </p:nvSpPr>
        <p:spPr>
          <a:xfrm>
            <a:off x="5185055" y="3580672"/>
            <a:ext cx="2990178" cy="400110"/>
          </a:xfrm>
          <a:prstGeom prst="rect">
            <a:avLst/>
          </a:prstGeom>
          <a:noFill/>
        </p:spPr>
        <p:txBody>
          <a:bodyPr wrap="none" rtlCol="0">
            <a:spAutoFit/>
          </a:bodyPr>
          <a:lstStyle/>
          <a:p>
            <a:r>
              <a:rPr lang="en-US" altLang="zh-CN" dirty="0"/>
              <a:t>Op Amp in the real world</a:t>
            </a:r>
            <a:endParaRPr lang="zh-CN" altLang="en-US" dirty="0"/>
          </a:p>
        </p:txBody>
      </p:sp>
    </p:spTree>
    <p:extLst>
      <p:ext uri="{BB962C8B-B14F-4D97-AF65-F5344CB8AC3E}">
        <p14:creationId xmlns:p14="http://schemas.microsoft.com/office/powerpoint/2010/main" val="7313064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EE897D-4B83-472B-98E5-55C55D31F757}"/>
              </a:ext>
            </a:extLst>
          </p:cNvPr>
          <p:cNvSpPr>
            <a:spLocks noGrp="1"/>
          </p:cNvSpPr>
          <p:nvPr>
            <p:ph type="title"/>
          </p:nvPr>
        </p:nvSpPr>
        <p:spPr/>
        <p:txBody>
          <a:bodyPr/>
          <a:lstStyle/>
          <a:p>
            <a:r>
              <a:rPr lang="en-US" altLang="zh-CN" dirty="0"/>
              <a:t> uA741 Functional Block Diagram</a:t>
            </a:r>
            <a:endParaRPr lang="zh-CN" altLang="en-US" dirty="0"/>
          </a:p>
        </p:txBody>
      </p:sp>
      <p:pic>
        <p:nvPicPr>
          <p:cNvPr id="3" name="图片 2">
            <a:extLst>
              <a:ext uri="{FF2B5EF4-FFF2-40B4-BE49-F238E27FC236}">
                <a16:creationId xmlns:a16="http://schemas.microsoft.com/office/drawing/2014/main" id="{35E7916A-5E1B-46E7-9669-F8D36240D44F}"/>
              </a:ext>
            </a:extLst>
          </p:cNvPr>
          <p:cNvPicPr>
            <a:picLocks noChangeAspect="1"/>
          </p:cNvPicPr>
          <p:nvPr/>
        </p:nvPicPr>
        <p:blipFill>
          <a:blip r:embed="rId2"/>
          <a:stretch>
            <a:fillRect/>
          </a:stretch>
        </p:blipFill>
        <p:spPr>
          <a:xfrm>
            <a:off x="1447801" y="1523706"/>
            <a:ext cx="5808094" cy="5029690"/>
          </a:xfrm>
          <a:prstGeom prst="rect">
            <a:avLst/>
          </a:prstGeom>
        </p:spPr>
      </p:pic>
    </p:spTree>
    <p:extLst>
      <p:ext uri="{BB962C8B-B14F-4D97-AF65-F5344CB8AC3E}">
        <p14:creationId xmlns:p14="http://schemas.microsoft.com/office/powerpoint/2010/main" val="20071512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altLang="zh-CN" dirty="0">
                <a:ea typeface="宋体" panose="02010600030101010101" pitchFamily="2" charset="-122"/>
              </a:rPr>
              <a:t>Equivalent Circuit of an Op Amp</a:t>
            </a:r>
          </a:p>
        </p:txBody>
      </p:sp>
      <p:sp>
        <p:nvSpPr>
          <p:cNvPr id="20483" name="Content Placeholder 2"/>
          <p:cNvSpPr>
            <a:spLocks noGrp="1"/>
          </p:cNvSpPr>
          <p:nvPr>
            <p:ph idx="1"/>
          </p:nvPr>
        </p:nvSpPr>
        <p:spPr>
          <a:xfrm>
            <a:off x="182781" y="2514600"/>
            <a:ext cx="5064351" cy="4902200"/>
          </a:xfrm>
        </p:spPr>
        <p:txBody>
          <a:bodyPr/>
          <a:lstStyle/>
          <a:p>
            <a:pPr marL="290513" lvl="1" indent="0">
              <a:buNone/>
            </a:pPr>
            <a:endParaRPr lang="en-US" altLang="zh-CN" sz="2400" dirty="0">
              <a:ea typeface="宋体" panose="02010600030101010101" pitchFamily="2" charset="-122"/>
            </a:endParaRPr>
          </a:p>
          <a:p>
            <a:pPr lvl="1"/>
            <a:endParaRPr lang="en-US" altLang="zh-CN" sz="2400" dirty="0">
              <a:ea typeface="宋体" panose="02010600030101010101" pitchFamily="2" charset="-122"/>
            </a:endParaRPr>
          </a:p>
          <a:p>
            <a:pPr lvl="1"/>
            <a:endParaRPr lang="en-US" altLang="zh-CN" sz="2400" dirty="0">
              <a:ea typeface="宋体" panose="02010600030101010101" pitchFamily="2" charset="-122"/>
            </a:endParaRPr>
          </a:p>
        </p:txBody>
      </p:sp>
      <p:pic>
        <p:nvPicPr>
          <p:cNvPr id="11" name="Picture 2" descr="ale80571_05_004.jpg">
            <a:extLst>
              <a:ext uri="{FF2B5EF4-FFF2-40B4-BE49-F238E27FC236}">
                <a16:creationId xmlns:a16="http://schemas.microsoft.com/office/drawing/2014/main" id="{4A39B2C6-2B08-4C67-BFFB-50E84733D43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5185" t="2060" r="4084"/>
          <a:stretch/>
        </p:blipFill>
        <p:spPr bwMode="auto">
          <a:xfrm>
            <a:off x="1371600" y="2085028"/>
            <a:ext cx="2667000" cy="2441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a:extLst>
              <a:ext uri="{FF2B5EF4-FFF2-40B4-BE49-F238E27FC236}">
                <a16:creationId xmlns:a16="http://schemas.microsoft.com/office/drawing/2014/main" id="{55B4F9D9-D14C-4767-BD2D-611A9EAE061A}"/>
              </a:ext>
            </a:extLst>
          </p:cNvPr>
          <p:cNvSpPr/>
          <p:nvPr/>
        </p:nvSpPr>
        <p:spPr>
          <a:xfrm>
            <a:off x="1581999" y="1801172"/>
            <a:ext cx="2209800" cy="2895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E5EFD64C-5A30-4D2B-85D4-E003105C7409}"/>
              </a:ext>
            </a:extLst>
          </p:cNvPr>
          <p:cNvSpPr txBox="1"/>
          <p:nvPr/>
        </p:nvSpPr>
        <p:spPr>
          <a:xfrm>
            <a:off x="722698" y="5254434"/>
            <a:ext cx="7811702" cy="1631216"/>
          </a:xfrm>
          <a:prstGeom prst="rect">
            <a:avLst/>
          </a:prstGeom>
          <a:noFill/>
        </p:spPr>
        <p:txBody>
          <a:bodyPr wrap="square" rtlCol="0">
            <a:spAutoFit/>
          </a:bodyPr>
          <a:lstStyle/>
          <a:p>
            <a:r>
              <a:rPr lang="en-US" altLang="zh-CN" dirty="0"/>
              <a:t>The total current into the three terminals</a:t>
            </a:r>
            <a:r>
              <a:rPr lang="zh-CN" altLang="en-US" dirty="0"/>
              <a:t>（</a:t>
            </a:r>
            <a:r>
              <a:rPr lang="en-US" altLang="zh-CN" dirty="0"/>
              <a:t>V</a:t>
            </a:r>
            <a:r>
              <a:rPr lang="en-US" altLang="zh-CN" baseline="-25000" dirty="0"/>
              <a:t>i+</a:t>
            </a:r>
            <a:r>
              <a:rPr lang="en-US" altLang="zh-CN" dirty="0"/>
              <a:t>, V</a:t>
            </a:r>
            <a:r>
              <a:rPr lang="en-US" altLang="zh-CN" baseline="-25000" dirty="0"/>
              <a:t>i-</a:t>
            </a:r>
            <a:r>
              <a:rPr lang="en-US" altLang="zh-CN" dirty="0"/>
              <a:t>, and V</a:t>
            </a:r>
            <a:r>
              <a:rPr lang="en-US" altLang="zh-CN" baseline="-25000" dirty="0"/>
              <a:t>o</a:t>
            </a:r>
            <a:r>
              <a:rPr lang="en-US" altLang="zh-CN" dirty="0"/>
              <a:t>) of an amp is nonzero.  </a:t>
            </a:r>
          </a:p>
          <a:p>
            <a:r>
              <a:rPr lang="en-US" altLang="zh-CN" dirty="0"/>
              <a:t>KCL can still be applied to each node, but not to the model circuit as a whole (the red box) because </a:t>
            </a:r>
            <a:r>
              <a:rPr lang="en-US" altLang="zh-CN" dirty="0" err="1"/>
              <a:t>Vcc</a:t>
            </a:r>
            <a:r>
              <a:rPr lang="en-US" altLang="zh-CN" dirty="0"/>
              <a:t>+ and </a:t>
            </a:r>
            <a:r>
              <a:rPr lang="en-US" altLang="zh-CN" dirty="0" err="1"/>
              <a:t>Vcc</a:t>
            </a:r>
            <a:r>
              <a:rPr lang="en-US" altLang="zh-CN" dirty="0"/>
              <a:t>- are not part of the model circuit.</a:t>
            </a:r>
            <a:endParaRPr lang="zh-CN" altLang="en-US" dirty="0"/>
          </a:p>
        </p:txBody>
      </p:sp>
      <p:grpSp>
        <p:nvGrpSpPr>
          <p:cNvPr id="15" name="组合 14">
            <a:extLst>
              <a:ext uri="{FF2B5EF4-FFF2-40B4-BE49-F238E27FC236}">
                <a16:creationId xmlns:a16="http://schemas.microsoft.com/office/drawing/2014/main" id="{8E55FDFD-3419-4B59-A0A1-83D1EB91A144}"/>
              </a:ext>
            </a:extLst>
          </p:cNvPr>
          <p:cNvGrpSpPr/>
          <p:nvPr/>
        </p:nvGrpSpPr>
        <p:grpSpPr>
          <a:xfrm>
            <a:off x="2537896" y="1349326"/>
            <a:ext cx="761747" cy="3894004"/>
            <a:chOff x="5570289" y="1059066"/>
            <a:chExt cx="761747" cy="3133389"/>
          </a:xfrm>
        </p:grpSpPr>
        <p:cxnSp>
          <p:nvCxnSpPr>
            <p:cNvPr id="6" name="直接连接符 5">
              <a:extLst>
                <a:ext uri="{FF2B5EF4-FFF2-40B4-BE49-F238E27FC236}">
                  <a16:creationId xmlns:a16="http://schemas.microsoft.com/office/drawing/2014/main" id="{0F69171A-C337-4FA6-9611-B5C39B4EEE8C}"/>
                </a:ext>
              </a:extLst>
            </p:cNvPr>
            <p:cNvCxnSpPr/>
            <p:nvPr/>
          </p:nvCxnSpPr>
          <p:spPr>
            <a:xfrm flipV="1">
              <a:off x="5611911" y="1260937"/>
              <a:ext cx="0" cy="864000"/>
            </a:xfrm>
            <a:prstGeom prst="line">
              <a:avLst/>
            </a:prstGeom>
            <a:ln w="25400">
              <a:solidFill>
                <a:srgbClr val="0070C0"/>
              </a:solidFill>
              <a:tailEnd type="none"/>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92B43171-4C3A-4FAF-BF70-5EF2B97AA90C}"/>
                </a:ext>
              </a:extLst>
            </p:cNvPr>
            <p:cNvCxnSpPr/>
            <p:nvPr/>
          </p:nvCxnSpPr>
          <p:spPr>
            <a:xfrm flipV="1">
              <a:off x="5611911" y="3200400"/>
              <a:ext cx="0" cy="792000"/>
            </a:xfrm>
            <a:prstGeom prst="line">
              <a:avLst/>
            </a:prstGeom>
            <a:ln w="25400">
              <a:solidFill>
                <a:srgbClr val="0070C0"/>
              </a:solidFill>
              <a:tailEnd type="none"/>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424E4738-89DA-44DF-991F-FBF6933347F6}"/>
                </a:ext>
              </a:extLst>
            </p:cNvPr>
            <p:cNvSpPr txBox="1"/>
            <p:nvPr/>
          </p:nvSpPr>
          <p:spPr>
            <a:xfrm>
              <a:off x="5570289" y="1059066"/>
              <a:ext cx="761747" cy="400110"/>
            </a:xfrm>
            <a:prstGeom prst="rect">
              <a:avLst/>
            </a:prstGeom>
            <a:noFill/>
          </p:spPr>
          <p:txBody>
            <a:bodyPr wrap="none" rtlCol="0">
              <a:spAutoFit/>
            </a:bodyPr>
            <a:lstStyle/>
            <a:p>
              <a:r>
                <a:rPr lang="en-US" altLang="zh-CN" dirty="0" err="1"/>
                <a:t>Vcc</a:t>
              </a:r>
              <a:r>
                <a:rPr lang="en-US" altLang="zh-CN" dirty="0"/>
                <a:t>+</a:t>
              </a:r>
              <a:endParaRPr lang="zh-CN" altLang="en-US" dirty="0"/>
            </a:p>
          </p:txBody>
        </p:sp>
        <p:sp>
          <p:nvSpPr>
            <p:cNvPr id="9" name="矩形 8">
              <a:extLst>
                <a:ext uri="{FF2B5EF4-FFF2-40B4-BE49-F238E27FC236}">
                  <a16:creationId xmlns:a16="http://schemas.microsoft.com/office/drawing/2014/main" id="{02BC90BA-8B7F-4DEB-957B-3E2E2502FFC7}"/>
                </a:ext>
              </a:extLst>
            </p:cNvPr>
            <p:cNvSpPr/>
            <p:nvPr/>
          </p:nvSpPr>
          <p:spPr>
            <a:xfrm>
              <a:off x="5589637" y="3792345"/>
              <a:ext cx="697627" cy="400110"/>
            </a:xfrm>
            <a:prstGeom prst="rect">
              <a:avLst/>
            </a:prstGeom>
          </p:spPr>
          <p:txBody>
            <a:bodyPr wrap="none">
              <a:spAutoFit/>
            </a:bodyPr>
            <a:lstStyle/>
            <a:p>
              <a:r>
                <a:rPr lang="en-US" altLang="zh-CN" dirty="0" err="1"/>
                <a:t>Vcc</a:t>
              </a:r>
              <a:r>
                <a:rPr lang="en-US" altLang="zh-CN" dirty="0"/>
                <a:t>-</a:t>
              </a:r>
              <a:endParaRPr lang="zh-CN" altLang="en-US" dirty="0"/>
            </a:p>
          </p:txBody>
        </p:sp>
      </p:grpSp>
      <p:sp>
        <p:nvSpPr>
          <p:cNvPr id="16" name="矩形 15">
            <a:extLst>
              <a:ext uri="{FF2B5EF4-FFF2-40B4-BE49-F238E27FC236}">
                <a16:creationId xmlns:a16="http://schemas.microsoft.com/office/drawing/2014/main" id="{C236ADD0-1FDE-4C55-91B5-722E5115FC66}"/>
              </a:ext>
            </a:extLst>
          </p:cNvPr>
          <p:cNvSpPr/>
          <p:nvPr/>
        </p:nvSpPr>
        <p:spPr>
          <a:xfrm>
            <a:off x="949915" y="3810403"/>
            <a:ext cx="559961" cy="400110"/>
          </a:xfrm>
          <a:prstGeom prst="rect">
            <a:avLst/>
          </a:prstGeom>
        </p:spPr>
        <p:txBody>
          <a:bodyPr wrap="none">
            <a:spAutoFit/>
          </a:bodyPr>
          <a:lstStyle/>
          <a:p>
            <a:r>
              <a:rPr lang="en-US" altLang="zh-CN" dirty="0"/>
              <a:t>V</a:t>
            </a:r>
            <a:r>
              <a:rPr lang="en-US" altLang="zh-CN" baseline="-25000" dirty="0"/>
              <a:t>i+</a:t>
            </a:r>
            <a:r>
              <a:rPr lang="en-US" altLang="zh-CN" dirty="0"/>
              <a:t> </a:t>
            </a:r>
            <a:endParaRPr lang="zh-CN" altLang="en-US" dirty="0"/>
          </a:p>
        </p:txBody>
      </p:sp>
      <p:sp>
        <p:nvSpPr>
          <p:cNvPr id="17" name="矩形 16">
            <a:extLst>
              <a:ext uri="{FF2B5EF4-FFF2-40B4-BE49-F238E27FC236}">
                <a16:creationId xmlns:a16="http://schemas.microsoft.com/office/drawing/2014/main" id="{B3098C3A-3767-4E3A-866D-1D23AE3CFF6E}"/>
              </a:ext>
            </a:extLst>
          </p:cNvPr>
          <p:cNvSpPr/>
          <p:nvPr/>
        </p:nvSpPr>
        <p:spPr>
          <a:xfrm>
            <a:off x="973613" y="2374578"/>
            <a:ext cx="518283" cy="400110"/>
          </a:xfrm>
          <a:prstGeom prst="rect">
            <a:avLst/>
          </a:prstGeom>
        </p:spPr>
        <p:txBody>
          <a:bodyPr wrap="none">
            <a:spAutoFit/>
          </a:bodyPr>
          <a:lstStyle/>
          <a:p>
            <a:r>
              <a:rPr lang="en-US" altLang="zh-CN" dirty="0"/>
              <a:t>V</a:t>
            </a:r>
            <a:r>
              <a:rPr lang="en-US" altLang="zh-CN" baseline="-25000" dirty="0"/>
              <a:t>i-</a:t>
            </a:r>
            <a:r>
              <a:rPr lang="en-US" altLang="zh-CN" dirty="0"/>
              <a:t> </a:t>
            </a:r>
            <a:endParaRPr lang="zh-CN" altLang="en-US" dirty="0"/>
          </a:p>
        </p:txBody>
      </p:sp>
      <p:sp>
        <p:nvSpPr>
          <p:cNvPr id="18" name="矩形 17">
            <a:extLst>
              <a:ext uri="{FF2B5EF4-FFF2-40B4-BE49-F238E27FC236}">
                <a16:creationId xmlns:a16="http://schemas.microsoft.com/office/drawing/2014/main" id="{155053F8-FD58-4CDB-B714-43AFF4970CC6}"/>
              </a:ext>
            </a:extLst>
          </p:cNvPr>
          <p:cNvSpPr/>
          <p:nvPr/>
        </p:nvSpPr>
        <p:spPr>
          <a:xfrm>
            <a:off x="3943704" y="3079994"/>
            <a:ext cx="436594" cy="400110"/>
          </a:xfrm>
          <a:prstGeom prst="rect">
            <a:avLst/>
          </a:prstGeom>
        </p:spPr>
        <p:txBody>
          <a:bodyPr wrap="none">
            <a:spAutoFit/>
          </a:bodyPr>
          <a:lstStyle/>
          <a:p>
            <a:r>
              <a:rPr lang="en-US" altLang="zh-CN" dirty="0"/>
              <a:t>V</a:t>
            </a:r>
            <a:r>
              <a:rPr lang="en-US" altLang="zh-CN" baseline="-25000" dirty="0"/>
              <a:t>o</a:t>
            </a:r>
            <a:endParaRPr lang="zh-CN" altLang="en-US" dirty="0"/>
          </a:p>
        </p:txBody>
      </p:sp>
    </p:spTree>
    <p:extLst>
      <p:ext uri="{BB962C8B-B14F-4D97-AF65-F5344CB8AC3E}">
        <p14:creationId xmlns:p14="http://schemas.microsoft.com/office/powerpoint/2010/main" val="385006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61" name="Picture 5" descr="C:\Users\Joel\Documents\Teaching\McGraw Hill\Fundamentals of Electric Circuits 5e\figures\Ch05\Color Labeled\ale80571_05_005.jpg"/>
          <p:cNvPicPr>
            <a:picLocks noChangeAspect="1" noChangeArrowheads="1"/>
          </p:cNvPicPr>
          <p:nvPr/>
        </p:nvPicPr>
        <p:blipFill rotWithShape="1">
          <a:blip r:embed="rId4">
            <a:extLst>
              <a:ext uri="{28A0092B-C50C-407E-A947-70E740481C1C}">
                <a14:useLocalDpi xmlns:a14="http://schemas.microsoft.com/office/drawing/2010/main" val="0"/>
              </a:ext>
            </a:extLst>
          </a:blip>
          <a:srcRect t="4377"/>
          <a:stretch/>
        </p:blipFill>
        <p:spPr bwMode="auto">
          <a:xfrm>
            <a:off x="900869" y="2362200"/>
            <a:ext cx="3341762" cy="27407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58" name="Title 1"/>
          <p:cNvSpPr>
            <a:spLocks noGrp="1"/>
          </p:cNvSpPr>
          <p:nvPr>
            <p:ph type="title"/>
          </p:nvPr>
        </p:nvSpPr>
        <p:spPr/>
        <p:txBody>
          <a:bodyPr/>
          <a:lstStyle/>
          <a:p>
            <a:r>
              <a:rPr lang="en-US" altLang="zh-CN" dirty="0">
                <a:ea typeface="宋体" panose="02010600030101010101" pitchFamily="2" charset="-122"/>
              </a:rPr>
              <a:t>Voltage Saturation</a:t>
            </a:r>
          </a:p>
        </p:txBody>
      </p:sp>
      <p:sp>
        <p:nvSpPr>
          <p:cNvPr id="19459" name="Content Placeholder 2"/>
          <p:cNvSpPr>
            <a:spLocks noGrp="1"/>
          </p:cNvSpPr>
          <p:nvPr>
            <p:ph idx="1"/>
          </p:nvPr>
        </p:nvSpPr>
        <p:spPr>
          <a:xfrm>
            <a:off x="457200" y="1417637"/>
            <a:ext cx="8458200" cy="4525963"/>
          </a:xfrm>
        </p:spPr>
        <p:txBody>
          <a:bodyPr/>
          <a:lstStyle/>
          <a:p>
            <a:r>
              <a:rPr lang="en-US" altLang="zh-CN" sz="2400" dirty="0">
                <a:ea typeface="宋体" panose="02010600030101010101" pitchFamily="2" charset="-122"/>
              </a:rPr>
              <a:t>Is the output voltage unlimited?</a:t>
            </a:r>
          </a:p>
        </p:txBody>
      </p:sp>
      <p:pic>
        <p:nvPicPr>
          <p:cNvPr id="9" name="Picture 2" descr="ale80571_05_004.jpg"/>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768889" y="1300522"/>
            <a:ext cx="2939426" cy="2492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 name="Object 5"/>
          <p:cNvGraphicFramePr>
            <a:graphicFrameLocks noChangeAspect="1"/>
          </p:cNvGraphicFramePr>
          <p:nvPr>
            <p:extLst>
              <p:ext uri="{D42A27DB-BD31-4B8C-83A1-F6EECF244321}">
                <p14:modId xmlns:p14="http://schemas.microsoft.com/office/powerpoint/2010/main" val="3392123831"/>
              </p:ext>
            </p:extLst>
          </p:nvPr>
        </p:nvGraphicFramePr>
        <p:xfrm>
          <a:off x="5768889" y="3921537"/>
          <a:ext cx="2590800" cy="392112"/>
        </p:xfrm>
        <a:graphic>
          <a:graphicData uri="http://schemas.openxmlformats.org/presentationml/2006/ole">
            <mc:AlternateContent xmlns:mc="http://schemas.openxmlformats.org/markup-compatibility/2006">
              <mc:Choice xmlns:v="urn:schemas-microsoft-com:vml" Requires="v">
                <p:oleObj spid="_x0000_s102625" name="Equation" r:id="rId6" imgW="1295280" imgH="228600" progId="Equation.DSMT4">
                  <p:embed/>
                </p:oleObj>
              </mc:Choice>
              <mc:Fallback>
                <p:oleObj name="Equation" r:id="rId6" imgW="1295280" imgH="228600" progId="Equation.DSMT4">
                  <p:embed/>
                  <p:pic>
                    <p:nvPicPr>
                      <p:cNvPr id="1026"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68889" y="3921537"/>
                        <a:ext cx="2590800" cy="392112"/>
                      </a:xfrm>
                      <a:prstGeom prst="rect">
                        <a:avLst/>
                      </a:prstGeom>
                      <a:noFill/>
                      <a:ln w="28575">
                        <a:solidFill>
                          <a:srgbClr val="FF0000"/>
                        </a:solidFill>
                      </a:ln>
                      <a:effectLst/>
                    </p:spPr>
                  </p:pic>
                </p:oleObj>
              </mc:Fallback>
            </mc:AlternateContent>
          </a:graphicData>
        </a:graphic>
      </p:graphicFrame>
      <p:pic>
        <p:nvPicPr>
          <p:cNvPr id="3" name="图片 2">
            <a:extLst>
              <a:ext uri="{FF2B5EF4-FFF2-40B4-BE49-F238E27FC236}">
                <a16:creationId xmlns:a16="http://schemas.microsoft.com/office/drawing/2014/main" id="{2A4ECB37-5EFA-494A-9E38-571829E86526}"/>
              </a:ext>
            </a:extLst>
          </p:cNvPr>
          <p:cNvPicPr>
            <a:picLocks noChangeAspect="1"/>
          </p:cNvPicPr>
          <p:nvPr/>
        </p:nvPicPr>
        <p:blipFill rotWithShape="1">
          <a:blip r:embed="rId8"/>
          <a:srcRect t="74309"/>
          <a:stretch/>
        </p:blipFill>
        <p:spPr>
          <a:xfrm>
            <a:off x="723900" y="5632386"/>
            <a:ext cx="7924800" cy="799103"/>
          </a:xfrm>
          <a:prstGeom prst="rect">
            <a:avLst/>
          </a:prstGeom>
        </p:spPr>
      </p:pic>
      <p:pic>
        <p:nvPicPr>
          <p:cNvPr id="11" name="图片 10">
            <a:extLst>
              <a:ext uri="{FF2B5EF4-FFF2-40B4-BE49-F238E27FC236}">
                <a16:creationId xmlns:a16="http://schemas.microsoft.com/office/drawing/2014/main" id="{1A3B8453-6725-463C-9D6D-24C1CA1B7765}"/>
              </a:ext>
            </a:extLst>
          </p:cNvPr>
          <p:cNvPicPr>
            <a:picLocks noChangeAspect="1"/>
          </p:cNvPicPr>
          <p:nvPr/>
        </p:nvPicPr>
        <p:blipFill rotWithShape="1">
          <a:blip r:embed="rId8"/>
          <a:srcRect b="84017"/>
          <a:stretch/>
        </p:blipFill>
        <p:spPr>
          <a:xfrm>
            <a:off x="762000" y="5102953"/>
            <a:ext cx="7772400" cy="487579"/>
          </a:xfrm>
          <a:prstGeom prst="rect">
            <a:avLst/>
          </a:prstGeom>
        </p:spPr>
      </p:pic>
      <p:sp>
        <p:nvSpPr>
          <p:cNvPr id="6" name="矩形 5">
            <a:extLst>
              <a:ext uri="{FF2B5EF4-FFF2-40B4-BE49-F238E27FC236}">
                <a16:creationId xmlns:a16="http://schemas.microsoft.com/office/drawing/2014/main" id="{6A5973FE-867A-4ED7-9A03-3CE8C612D452}"/>
              </a:ext>
            </a:extLst>
          </p:cNvPr>
          <p:cNvSpPr/>
          <p:nvPr/>
        </p:nvSpPr>
        <p:spPr>
          <a:xfrm>
            <a:off x="2057400" y="3048000"/>
            <a:ext cx="304800" cy="381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7BB3FAD5-A5C8-46B8-AA2C-CB702D818F43}"/>
              </a:ext>
            </a:extLst>
          </p:cNvPr>
          <p:cNvSpPr/>
          <p:nvPr/>
        </p:nvSpPr>
        <p:spPr>
          <a:xfrm>
            <a:off x="2514600" y="4107202"/>
            <a:ext cx="457200" cy="381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Example 1</a:t>
            </a:r>
            <a:endParaRPr lang="en-US" dirty="0">
              <a:solidFill>
                <a:srgbClr val="FF0000"/>
              </a:solidFill>
            </a:endParaRPr>
          </a:p>
        </p:txBody>
      </p:sp>
      <p:pic>
        <p:nvPicPr>
          <p:cNvPr id="8" name="Picture 7" descr="Capture.PNG"/>
          <p:cNvPicPr>
            <a:picLocks noChangeAspect="1"/>
          </p:cNvPicPr>
          <p:nvPr/>
        </p:nvPicPr>
        <p:blipFill>
          <a:blip r:embed="rId3" cstate="print"/>
          <a:stretch>
            <a:fillRect/>
          </a:stretch>
        </p:blipFill>
        <p:spPr>
          <a:xfrm>
            <a:off x="145423" y="1275477"/>
            <a:ext cx="4966913" cy="2913810"/>
          </a:xfrm>
          <a:prstGeom prst="rect">
            <a:avLst/>
          </a:prstGeom>
        </p:spPr>
      </p:pic>
      <p:pic>
        <p:nvPicPr>
          <p:cNvPr id="19" name="Picture 18" descr="Capture.PNG"/>
          <p:cNvPicPr>
            <a:picLocks noChangeAspect="1"/>
          </p:cNvPicPr>
          <p:nvPr/>
        </p:nvPicPr>
        <p:blipFill>
          <a:blip r:embed="rId4" cstate="print"/>
          <a:stretch>
            <a:fillRect/>
          </a:stretch>
        </p:blipFill>
        <p:spPr>
          <a:xfrm>
            <a:off x="3174844" y="753974"/>
            <a:ext cx="5080312" cy="533399"/>
          </a:xfrm>
          <a:prstGeom prst="rect">
            <a:avLst/>
          </a:prstGeom>
        </p:spPr>
      </p:pic>
      <p:sp>
        <p:nvSpPr>
          <p:cNvPr id="5" name="文本框 4"/>
          <p:cNvSpPr txBox="1"/>
          <p:nvPr/>
        </p:nvSpPr>
        <p:spPr>
          <a:xfrm>
            <a:off x="5715000" y="929377"/>
            <a:ext cx="2989034" cy="400110"/>
          </a:xfrm>
          <a:prstGeom prst="rect">
            <a:avLst/>
          </a:prstGeom>
          <a:noFill/>
        </p:spPr>
        <p:txBody>
          <a:bodyPr wrap="square" rtlCol="0">
            <a:spAutoFit/>
          </a:bodyPr>
          <a:lstStyle/>
          <a:p>
            <a:r>
              <a:rPr lang="en-US" altLang="zh-CN" sz="1800" dirty="0">
                <a:latin typeface="Times New Roman" panose="02020603050405020304" pitchFamily="18" charset="0"/>
                <a:cs typeface="Times New Roman" panose="02020603050405020304" pitchFamily="18" charset="0"/>
              </a:rPr>
              <a:t>find</a:t>
            </a:r>
            <a:r>
              <a:rPr lang="en-US" altLang="zh-CN" i="1" dirty="0">
                <a:latin typeface="Times New Roman" panose="02020603050405020304" pitchFamily="18" charset="0"/>
                <a:cs typeface="Times New Roman" panose="02020603050405020304" pitchFamily="18" charset="0"/>
              </a:rPr>
              <a:t> </a:t>
            </a:r>
            <a:r>
              <a:rPr lang="en-US" altLang="zh-CN" i="1" dirty="0" err="1">
                <a:latin typeface="Times New Roman" panose="02020603050405020304" pitchFamily="18" charset="0"/>
                <a:cs typeface="Times New Roman" panose="02020603050405020304" pitchFamily="18" charset="0"/>
              </a:rPr>
              <a:t>v</a:t>
            </a:r>
            <a:r>
              <a:rPr lang="en-US" altLang="zh-CN" i="1" baseline="-25000" dirty="0" err="1">
                <a:latin typeface="Times New Roman" panose="02020603050405020304" pitchFamily="18" charset="0"/>
                <a:cs typeface="Times New Roman" panose="02020603050405020304" pitchFamily="18" charset="0"/>
              </a:rPr>
              <a:t>o</a:t>
            </a:r>
            <a:r>
              <a:rPr lang="en-US" altLang="zh-CN" i="1" dirty="0">
                <a:latin typeface="Times New Roman" panose="02020603050405020304" pitchFamily="18" charset="0"/>
                <a:cs typeface="Times New Roman" panose="02020603050405020304" pitchFamily="18" charset="0"/>
              </a:rPr>
              <a:t>,</a:t>
            </a:r>
            <a:r>
              <a:rPr lang="en-US" altLang="zh-CN" i="1" baseline="-25000"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assuming the output</a:t>
            </a:r>
            <a:endParaRPr lang="zh-CN" altLang="en-US" i="1" baseline="-25000" dirty="0">
              <a:latin typeface="Times New Roman" panose="02020603050405020304" pitchFamily="18" charset="0"/>
              <a:cs typeface="Times New Roman" panose="02020603050405020304" pitchFamily="18" charset="0"/>
            </a:endParaRPr>
          </a:p>
        </p:txBody>
      </p:sp>
      <p:sp>
        <p:nvSpPr>
          <p:cNvPr id="6" name="矩形 5"/>
          <p:cNvSpPr/>
          <p:nvPr/>
        </p:nvSpPr>
        <p:spPr>
          <a:xfrm>
            <a:off x="5715000" y="2895600"/>
            <a:ext cx="1447800"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a:extLst>
              <a:ext uri="{FF2B5EF4-FFF2-40B4-BE49-F238E27FC236}">
                <a16:creationId xmlns:a16="http://schemas.microsoft.com/office/drawing/2014/main" id="{E4837893-129A-4FEB-8473-CB52C55D0299}"/>
              </a:ext>
            </a:extLst>
          </p:cNvPr>
          <p:cNvGrpSpPr/>
          <p:nvPr/>
        </p:nvGrpSpPr>
        <p:grpSpPr>
          <a:xfrm>
            <a:off x="4738370" y="2937510"/>
            <a:ext cx="4405630" cy="3905250"/>
            <a:chOff x="4738370" y="2937510"/>
            <a:chExt cx="4405630" cy="3905250"/>
          </a:xfrm>
        </p:grpSpPr>
        <p:pic>
          <p:nvPicPr>
            <p:cNvPr id="10" name="图片 9">
              <a:extLst>
                <a:ext uri="{FF2B5EF4-FFF2-40B4-BE49-F238E27FC236}">
                  <a16:creationId xmlns:a16="http://schemas.microsoft.com/office/drawing/2014/main" id="{D097D8B7-D348-4D20-B340-C1D0788805A3}"/>
                </a:ext>
              </a:extLst>
            </p:cNvPr>
            <p:cNvPicPr>
              <a:picLocks noChangeAspect="1"/>
            </p:cNvPicPr>
            <p:nvPr/>
          </p:nvPicPr>
          <p:blipFill rotWithShape="1">
            <a:blip r:embed="rId5"/>
            <a:srcRect r="25526"/>
            <a:stretch/>
          </p:blipFill>
          <p:spPr>
            <a:xfrm>
              <a:off x="4738370" y="2937510"/>
              <a:ext cx="4405630" cy="3905250"/>
            </a:xfrm>
            <a:prstGeom prst="rect">
              <a:avLst/>
            </a:prstGeom>
          </p:spPr>
        </p:pic>
        <p:pic>
          <p:nvPicPr>
            <p:cNvPr id="11" name="图片 10">
              <a:extLst>
                <a:ext uri="{FF2B5EF4-FFF2-40B4-BE49-F238E27FC236}">
                  <a16:creationId xmlns:a16="http://schemas.microsoft.com/office/drawing/2014/main" id="{7B5D147A-F24A-49E9-B614-45B7C657CA9B}"/>
                </a:ext>
              </a:extLst>
            </p:cNvPr>
            <p:cNvPicPr>
              <a:picLocks noChangeAspect="1"/>
            </p:cNvPicPr>
            <p:nvPr/>
          </p:nvPicPr>
          <p:blipFill rotWithShape="1">
            <a:blip r:embed="rId5"/>
            <a:srcRect l="70610" t="57463"/>
            <a:stretch/>
          </p:blipFill>
          <p:spPr>
            <a:xfrm>
              <a:off x="7405370" y="4969827"/>
              <a:ext cx="1738630" cy="1661160"/>
            </a:xfrm>
            <a:prstGeom prst="rect">
              <a:avLst/>
            </a:prstGeom>
          </p:spPr>
        </p:pic>
      </p:grpSp>
      <p:sp>
        <p:nvSpPr>
          <p:cNvPr id="3" name="文本框 2">
            <a:extLst>
              <a:ext uri="{FF2B5EF4-FFF2-40B4-BE49-F238E27FC236}">
                <a16:creationId xmlns:a16="http://schemas.microsoft.com/office/drawing/2014/main" id="{2FAA3EAB-F698-4012-A252-BD0698DF26EB}"/>
              </a:ext>
            </a:extLst>
          </p:cNvPr>
          <p:cNvSpPr txBox="1"/>
          <p:nvPr/>
        </p:nvSpPr>
        <p:spPr>
          <a:xfrm>
            <a:off x="1447800" y="5195409"/>
            <a:ext cx="3262432" cy="400110"/>
          </a:xfrm>
          <a:prstGeom prst="rect">
            <a:avLst/>
          </a:prstGeom>
          <a:noFill/>
        </p:spPr>
        <p:txBody>
          <a:bodyPr wrap="none" rtlCol="0">
            <a:spAutoFit/>
          </a:bodyPr>
          <a:lstStyle/>
          <a:p>
            <a:r>
              <a:rPr lang="zh-CN" altLang="en-US" dirty="0"/>
              <a:t>假设输出电压的工作范围为</a:t>
            </a: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E9E49F5B-B838-4C2D-A3D6-45CFD2795125}"/>
                  </a:ext>
                </a:extLst>
              </p:cNvPr>
              <p:cNvSpPr/>
              <p:nvPr/>
            </p:nvSpPr>
            <p:spPr>
              <a:xfrm>
                <a:off x="3129901" y="1213455"/>
                <a:ext cx="3083601" cy="400110"/>
              </a:xfrm>
              <a:prstGeom prst="rect">
                <a:avLst/>
              </a:prstGeom>
            </p:spPr>
            <p:txBody>
              <a:bodyPr wrap="none">
                <a:spAutoFit/>
              </a:bodyPr>
              <a:lstStyle/>
              <a:p>
                <a:r>
                  <a:rPr lang="en-US" altLang="zh-CN" dirty="0">
                    <a:latin typeface="Times New Roman" panose="02020603050405020304" pitchFamily="18" charset="0"/>
                    <a:cs typeface="Times New Roman" panose="02020603050405020304" pitchFamily="18" charset="0"/>
                  </a:rPr>
                  <a:t>voltage range is </a:t>
                </a:r>
                <a14:m>
                  <m:oMath xmlns:m="http://schemas.openxmlformats.org/officeDocument/2006/math">
                    <m:r>
                      <a:rPr lang="en-US" altLang="zh-CN" b="0" i="1" smtClean="0">
                        <a:latin typeface="Cambria Math" panose="02040503050406030204" pitchFamily="18" charset="0"/>
                        <a:cs typeface="Times New Roman" panose="02020603050405020304" pitchFamily="18" charset="0"/>
                      </a:rPr>
                      <m:t>[−</m:t>
                    </m:r>
                    <m:sSub>
                      <m:sSubPr>
                        <m:ctrlPr>
                          <a:rPr lang="en-US" altLang="zh-CN" b="0" i="1" smtClean="0">
                            <a:latin typeface="Cambria Math" panose="02040503050406030204" pitchFamily="18" charset="0"/>
                            <a:cs typeface="Times New Roman" panose="02020603050405020304" pitchFamily="18" charset="0"/>
                          </a:rPr>
                        </m:ctrlPr>
                      </m:sSubPr>
                      <m:e>
                        <m:r>
                          <a:rPr lang="en-US" altLang="zh-CN" b="0" i="1" smtClean="0">
                            <a:latin typeface="Cambria Math" panose="02040503050406030204" pitchFamily="18" charset="0"/>
                            <a:cs typeface="Times New Roman" panose="02020603050405020304" pitchFamily="18" charset="0"/>
                          </a:rPr>
                          <m:t>𝑉</m:t>
                        </m:r>
                      </m:e>
                      <m:sub>
                        <m:r>
                          <m:rPr>
                            <m:sty m:val="p"/>
                          </m:rPr>
                          <a:rPr lang="en-US" altLang="zh-CN" b="0" i="0" smtClean="0">
                            <a:latin typeface="Cambria Math" panose="02040503050406030204" pitchFamily="18" charset="0"/>
                            <a:cs typeface="Times New Roman" panose="02020603050405020304" pitchFamily="18" charset="0"/>
                          </a:rPr>
                          <m:t>cc</m:t>
                        </m:r>
                      </m:sub>
                    </m:sSub>
                    <m:r>
                      <a:rPr lang="en-US" altLang="zh-CN" b="0" i="1" smtClean="0">
                        <a:latin typeface="Cambria Math" panose="02040503050406030204" pitchFamily="18" charset="0"/>
                        <a:cs typeface="Times New Roman" panose="02020603050405020304" pitchFamily="18" charset="0"/>
                      </a:rPr>
                      <m:t>,</m:t>
                    </m:r>
                    <m:r>
                      <a:rPr lang="en-US" altLang="zh-CN" b="0" i="0" smtClean="0">
                        <a:latin typeface="Cambria Math" panose="02040503050406030204" pitchFamily="18" charset="0"/>
                        <a:cs typeface="Times New Roman" panose="02020603050405020304" pitchFamily="18" charset="0"/>
                      </a:rPr>
                      <m:t> </m:t>
                    </m:r>
                    <m:sSub>
                      <m:sSubPr>
                        <m:ctrlPr>
                          <a:rPr lang="en-US" altLang="zh-CN" b="0" i="1" smtClean="0">
                            <a:latin typeface="Cambria Math" panose="02040503050406030204" pitchFamily="18" charset="0"/>
                            <a:cs typeface="Times New Roman" panose="02020603050405020304" pitchFamily="18" charset="0"/>
                          </a:rPr>
                        </m:ctrlPr>
                      </m:sSubPr>
                      <m:e>
                        <m:r>
                          <a:rPr lang="en-US" altLang="zh-CN" b="0" i="1" smtClean="0">
                            <a:latin typeface="Cambria Math" panose="02040503050406030204" pitchFamily="18" charset="0"/>
                            <a:cs typeface="Times New Roman" panose="02020603050405020304" pitchFamily="18" charset="0"/>
                          </a:rPr>
                          <m:t>𝑉</m:t>
                        </m:r>
                      </m:e>
                      <m:sub>
                        <m:r>
                          <m:rPr>
                            <m:sty m:val="p"/>
                          </m:rPr>
                          <a:rPr lang="en-US" altLang="zh-CN" b="0" i="0" smtClean="0">
                            <a:latin typeface="Cambria Math" panose="02040503050406030204" pitchFamily="18" charset="0"/>
                            <a:cs typeface="Times New Roman" panose="02020603050405020304" pitchFamily="18" charset="0"/>
                          </a:rPr>
                          <m:t>cc</m:t>
                        </m:r>
                      </m:sub>
                    </m:sSub>
                    <m:r>
                      <a:rPr lang="en-US" altLang="zh-CN" b="0" i="1" smtClean="0">
                        <a:latin typeface="Cambria Math" panose="02040503050406030204" pitchFamily="18" charset="0"/>
                        <a:cs typeface="Times New Roman" panose="02020603050405020304" pitchFamily="18" charset="0"/>
                      </a:rPr>
                      <m:t>]</m:t>
                    </m:r>
                  </m:oMath>
                </a14:m>
                <a:r>
                  <a:rPr lang="en-US" altLang="zh-CN" dirty="0"/>
                  <a:t>.</a:t>
                </a:r>
                <a:r>
                  <a:rPr lang="en-US" altLang="zh-CN" dirty="0">
                    <a:latin typeface="Times New Roman" panose="02020603050405020304" pitchFamily="18" charset="0"/>
                    <a:cs typeface="Times New Roman" panose="02020603050405020304" pitchFamily="18" charset="0"/>
                  </a:rPr>
                  <a:t> </a:t>
                </a:r>
                <a:endParaRPr lang="zh-CN" altLang="en-US" dirty="0"/>
              </a:p>
            </p:txBody>
          </p:sp>
        </mc:Choice>
        <mc:Fallback xmlns="">
          <p:sp>
            <p:nvSpPr>
              <p:cNvPr id="4" name="矩形 3">
                <a:extLst>
                  <a:ext uri="{FF2B5EF4-FFF2-40B4-BE49-F238E27FC236}">
                    <a16:creationId xmlns:a16="http://schemas.microsoft.com/office/drawing/2014/main" id="{E9E49F5B-B838-4C2D-A3D6-45CFD2795125}"/>
                  </a:ext>
                </a:extLst>
              </p:cNvPr>
              <p:cNvSpPr>
                <a:spLocks noRot="1" noChangeAspect="1" noMove="1" noResize="1" noEditPoints="1" noAdjustHandles="1" noChangeArrowheads="1" noChangeShapeType="1" noTextEdit="1"/>
              </p:cNvSpPr>
              <p:nvPr/>
            </p:nvSpPr>
            <p:spPr>
              <a:xfrm>
                <a:off x="3129901" y="1213455"/>
                <a:ext cx="3083601" cy="400110"/>
              </a:xfrm>
              <a:prstGeom prst="rect">
                <a:avLst/>
              </a:prstGeom>
              <a:blipFill>
                <a:blip r:embed="rId6"/>
                <a:stretch>
                  <a:fillRect l="-1976" t="-7576" b="-2575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18842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51399FFF-3A0C-4869-AC08-65C57B4B90F2}"/>
              </a:ext>
            </a:extLst>
          </p:cNvPr>
          <p:cNvPicPr>
            <a:picLocks noChangeAspect="1"/>
          </p:cNvPicPr>
          <p:nvPr/>
        </p:nvPicPr>
        <p:blipFill>
          <a:blip r:embed="rId3"/>
          <a:stretch>
            <a:fillRect/>
          </a:stretch>
        </p:blipFill>
        <p:spPr>
          <a:xfrm>
            <a:off x="5943600" y="2278713"/>
            <a:ext cx="2419688" cy="1219370"/>
          </a:xfrm>
          <a:prstGeom prst="rect">
            <a:avLst/>
          </a:prstGeom>
        </p:spPr>
      </p:pic>
      <p:sp>
        <p:nvSpPr>
          <p:cNvPr id="18434" name="Title 1"/>
          <p:cNvSpPr>
            <a:spLocks noGrp="1"/>
          </p:cNvSpPr>
          <p:nvPr>
            <p:ph type="title"/>
          </p:nvPr>
        </p:nvSpPr>
        <p:spPr/>
        <p:txBody>
          <a:bodyPr/>
          <a:lstStyle/>
          <a:p>
            <a:r>
              <a:rPr lang="en-US" altLang="zh-CN" dirty="0">
                <a:ea typeface="宋体" panose="02010600030101010101" pitchFamily="2" charset="-122"/>
              </a:rPr>
              <a:t>Feedback</a:t>
            </a:r>
          </a:p>
        </p:txBody>
      </p:sp>
      <p:pic>
        <p:nvPicPr>
          <p:cNvPr id="8" name="Picture 7" descr="http://sub.allaboutcircuits.com/images/03034.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2207" y="2280994"/>
            <a:ext cx="2333625" cy="1047751"/>
          </a:xfrm>
          <a:prstGeom prst="rect">
            <a:avLst/>
          </a:prstGeom>
          <a:noFill/>
          <a:extLst>
            <a:ext uri="{909E8E84-426E-40DD-AFC4-6F175D3DCCD1}">
              <a14:hiddenFill xmlns:a14="http://schemas.microsoft.com/office/drawing/2010/main">
                <a:solidFill>
                  <a:srgbClr val="FFFFFF"/>
                </a:solidFill>
              </a14:hiddenFill>
            </a:ext>
          </a:extLst>
        </p:spPr>
      </p:pic>
      <p:sp>
        <p:nvSpPr>
          <p:cNvPr id="3" name="Oval 2"/>
          <p:cNvSpPr/>
          <p:nvPr/>
        </p:nvSpPr>
        <p:spPr>
          <a:xfrm>
            <a:off x="1022207" y="1804745"/>
            <a:ext cx="1848910" cy="685800"/>
          </a:xfrm>
          <a:prstGeom prst="ellipse">
            <a:avLst/>
          </a:prstGeom>
          <a:noFill/>
          <a:ln w="19050">
            <a:solidFill>
              <a:srgbClr val="00B0F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extBox 10"/>
          <p:cNvSpPr txBox="1"/>
          <p:nvPr/>
        </p:nvSpPr>
        <p:spPr>
          <a:xfrm>
            <a:off x="1044960" y="1957145"/>
            <a:ext cx="1882247" cy="338554"/>
          </a:xfrm>
          <a:prstGeom prst="rect">
            <a:avLst/>
          </a:prstGeom>
          <a:noFill/>
        </p:spPr>
        <p:txBody>
          <a:bodyPr wrap="none" rtlCol="0">
            <a:spAutoFit/>
          </a:bodyPr>
          <a:lstStyle/>
          <a:p>
            <a:r>
              <a:rPr lang="en-US" altLang="zh-CN" sz="1600" dirty="0"/>
              <a:t>Negative feedback</a:t>
            </a:r>
            <a:endParaRPr lang="zh-CN" altLang="en-US" sz="1600" dirty="0"/>
          </a:p>
        </p:txBody>
      </p:sp>
      <mc:AlternateContent xmlns:mc="http://schemas.openxmlformats.org/markup-compatibility/2006" xmlns:a14="http://schemas.microsoft.com/office/drawing/2010/main">
        <mc:Choice Requires="a14">
          <p:sp>
            <p:nvSpPr>
              <p:cNvPr id="9" name="TextBox 3">
                <a:extLst>
                  <a:ext uri="{FF2B5EF4-FFF2-40B4-BE49-F238E27FC236}">
                    <a16:creationId xmlns:a16="http://schemas.microsoft.com/office/drawing/2014/main" id="{34D0731A-B366-47B9-A2EC-5241AFFF6F9F}"/>
                  </a:ext>
                </a:extLst>
              </p:cNvPr>
              <p:cNvSpPr txBox="1"/>
              <p:nvPr/>
            </p:nvSpPr>
            <p:spPr>
              <a:xfrm>
                <a:off x="95201" y="3529256"/>
                <a:ext cx="4487190" cy="615553"/>
              </a:xfrm>
              <a:prstGeom prst="rect">
                <a:avLst/>
              </a:prstGeom>
              <a:noFill/>
            </p:spPr>
            <p:txBody>
              <a:bodyPr wrap="none" lIns="0" tIns="0" rIns="0" bIns="0" rtlCol="0">
                <a:spAutoFit/>
              </a:bodyPr>
              <a:lstStyle/>
              <a:p>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m:rPr>
                            <m:sty m:val="p"/>
                          </m:rPr>
                          <a:rPr lang="en-US" altLang="zh-CN" i="0">
                            <a:latin typeface="Cambria Math" panose="02040503050406030204" pitchFamily="18" charset="0"/>
                          </a:rPr>
                          <m:t>out</m:t>
                        </m:r>
                      </m:sub>
                    </m:sSub>
                    <m:r>
                      <a:rPr lang="zh-CN" altLang="en-US" i="1" dirty="0" smtClean="0">
                        <a:latin typeface="Cambria Math" panose="02040503050406030204" pitchFamily="18" charset="0"/>
                      </a:rPr>
                      <m:t>↑</m:t>
                    </m:r>
                  </m:oMath>
                </a14:m>
                <a:r>
                  <a:rPr lang="en-US" altLang="zh-CN" dirty="0"/>
                  <a:t> </a:t>
                </a:r>
                <a14:m>
                  <m:oMath xmlns:m="http://schemas.openxmlformats.org/officeDocument/2006/math">
                    <m:r>
                      <a:rPr lang="zh-CN" altLang="en-US" i="1" dirty="0">
                        <a:latin typeface="Cambria Math" panose="02040503050406030204" pitchFamily="18" charset="0"/>
                      </a:rPr>
                      <m:t>⟹</m:t>
                    </m:r>
                  </m:oMath>
                </a14:m>
                <a:r>
                  <a:rPr lang="zh-CN" altLang="en-US" dirty="0"/>
                  <a:t> </a:t>
                </a:r>
                <a:r>
                  <a:rPr lang="en-US" altLang="zh-CN" dirty="0"/>
                  <a:t>voltage difference</a:t>
                </a:r>
                <a:r>
                  <a:rPr lang="en-US" altLang="zh-CN" dirty="0">
                    <a:ea typeface="Cambria Math" panose="02040503050406030204" pitchFamily="18" charset="0"/>
                  </a:rPr>
                  <a:t> </a:t>
                </a:r>
                <a14:m>
                  <m:oMath xmlns:m="http://schemas.openxmlformats.org/officeDocument/2006/math">
                    <m:r>
                      <a:rPr lang="en-US" altLang="zh-CN" i="1">
                        <a:latin typeface="Cambria Math" panose="02040503050406030204" pitchFamily="18" charset="0"/>
                        <a:ea typeface="Cambria Math" panose="02040503050406030204" pitchFamily="18" charset="0"/>
                      </a:rPr>
                      <m:t>↓</m:t>
                    </m:r>
                  </m:oMath>
                </a14:m>
                <a:r>
                  <a:rPr lang="en-US" altLang="zh-CN" dirty="0"/>
                  <a:t> </a:t>
                </a:r>
                <a14:m>
                  <m:oMath xmlns:m="http://schemas.openxmlformats.org/officeDocument/2006/math">
                    <m:r>
                      <a:rPr lang="zh-CN" altLang="en-US" i="1" dirty="0">
                        <a:latin typeface="Cambria Math" panose="02040503050406030204" pitchFamily="18" charset="0"/>
                      </a:rPr>
                      <m:t>⟹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m:rPr>
                            <m:sty m:val="p"/>
                          </m:rPr>
                          <a:rPr lang="en-US" altLang="zh-CN" i="0">
                            <a:latin typeface="Cambria Math" panose="02040503050406030204" pitchFamily="18" charset="0"/>
                          </a:rPr>
                          <m:t>out</m:t>
                        </m:r>
                      </m:sub>
                    </m:sSub>
                    <m:r>
                      <a:rPr lang="en-US" altLang="zh-CN" i="1">
                        <a:latin typeface="Cambria Math" panose="02040503050406030204" pitchFamily="18" charset="0"/>
                        <a:ea typeface="Cambria Math" panose="02040503050406030204" pitchFamily="18" charset="0"/>
                      </a:rPr>
                      <m:t>↓</m:t>
                    </m:r>
                  </m:oMath>
                </a14:m>
                <a:r>
                  <a:rPr lang="zh-CN" altLang="en-US" dirty="0"/>
                  <a:t> </a:t>
                </a:r>
                <a:endParaRPr lang="en-US" altLang="zh-CN" i="1" dirty="0">
                  <a:latin typeface="Cambria Math" panose="02040503050406030204" pitchFamily="18" charset="0"/>
                </a:endParaRPr>
              </a:p>
              <a:p>
                <a:r>
                  <a:rPr lang="zh-CN" altLang="en-US" dirty="0"/>
                  <a:t>        </a:t>
                </a:r>
                <a14:m>
                  <m:oMath xmlns:m="http://schemas.openxmlformats.org/officeDocument/2006/math">
                    <m:r>
                      <a:rPr lang="en-US" altLang="zh-CN" b="0" i="0" dirty="0" smtClean="0">
                        <a:latin typeface="Cambria Math" panose="02040503050406030204" pitchFamily="18" charset="0"/>
                      </a:rPr>
                      <m:t>  </m:t>
                    </m:r>
                  </m:oMath>
                </a14:m>
                <a:endParaRPr lang="zh-CN" altLang="en-US" dirty="0"/>
              </a:p>
            </p:txBody>
          </p:sp>
        </mc:Choice>
        <mc:Fallback xmlns="">
          <p:sp>
            <p:nvSpPr>
              <p:cNvPr id="9" name="TextBox 3">
                <a:extLst>
                  <a:ext uri="{FF2B5EF4-FFF2-40B4-BE49-F238E27FC236}">
                    <a16:creationId xmlns:a16="http://schemas.microsoft.com/office/drawing/2014/main" id="{34D0731A-B366-47B9-A2EC-5241AFFF6F9F}"/>
                  </a:ext>
                </a:extLst>
              </p:cNvPr>
              <p:cNvSpPr txBox="1">
                <a:spLocks noRot="1" noChangeAspect="1" noMove="1" noResize="1" noEditPoints="1" noAdjustHandles="1" noChangeArrowheads="1" noChangeShapeType="1" noTextEdit="1"/>
              </p:cNvSpPr>
              <p:nvPr/>
            </p:nvSpPr>
            <p:spPr>
              <a:xfrm>
                <a:off x="95201" y="3529256"/>
                <a:ext cx="4487190" cy="615553"/>
              </a:xfrm>
              <a:prstGeom prst="rect">
                <a:avLst/>
              </a:prstGeom>
              <a:blipFill>
                <a:blip r:embed="rId5"/>
                <a:stretch>
                  <a:fillRect l="-2038" t="-11881"/>
                </a:stretch>
              </a:blipFill>
            </p:spPr>
            <p:txBody>
              <a:bodyPr/>
              <a:lstStyle/>
              <a:p>
                <a:r>
                  <a:rPr lang="zh-CN" altLang="en-US">
                    <a:noFill/>
                  </a:rPr>
                  <a:t> </a:t>
                </a:r>
              </a:p>
            </p:txBody>
          </p:sp>
        </mc:Fallback>
      </mc:AlternateContent>
      <p:sp>
        <p:nvSpPr>
          <p:cNvPr id="10" name="文本框 9">
            <a:extLst>
              <a:ext uri="{FF2B5EF4-FFF2-40B4-BE49-F238E27FC236}">
                <a16:creationId xmlns:a16="http://schemas.microsoft.com/office/drawing/2014/main" id="{F8F465E8-2EF5-4BBC-9805-1BC74C7ADC42}"/>
              </a:ext>
            </a:extLst>
          </p:cNvPr>
          <p:cNvSpPr txBox="1"/>
          <p:nvPr/>
        </p:nvSpPr>
        <p:spPr>
          <a:xfrm>
            <a:off x="436419" y="4238139"/>
            <a:ext cx="3505200" cy="2246769"/>
          </a:xfrm>
          <a:prstGeom prst="rect">
            <a:avLst/>
          </a:prstGeom>
          <a:noFill/>
        </p:spPr>
        <p:txBody>
          <a:bodyPr wrap="square" rtlCol="0">
            <a:spAutoFit/>
          </a:bodyPr>
          <a:lstStyle/>
          <a:p>
            <a:r>
              <a:rPr lang="zh-CN" altLang="en-US" dirty="0">
                <a:solidFill>
                  <a:srgbClr val="FF0000"/>
                </a:solidFill>
              </a:rPr>
              <a:t>负反馈</a:t>
            </a:r>
            <a:r>
              <a:rPr lang="zh-CN" altLang="en-US" dirty="0"/>
              <a:t>：当输出端电压变化通过外部电路反馈至输入端时，反馈信号引起的输出端电压变化方向与原变化方向相反且通常幅度更大</a:t>
            </a:r>
            <a:r>
              <a:rPr lang="en-US" altLang="zh-CN" dirty="0"/>
              <a:t>,</a:t>
            </a:r>
            <a:r>
              <a:rPr lang="zh-CN" altLang="en-US" dirty="0"/>
              <a:t>从而能抵消输出电压的变化，维持输出电压稳定。</a:t>
            </a:r>
          </a:p>
        </p:txBody>
      </p:sp>
      <p:sp>
        <p:nvSpPr>
          <p:cNvPr id="13" name="Oval 2">
            <a:extLst>
              <a:ext uri="{FF2B5EF4-FFF2-40B4-BE49-F238E27FC236}">
                <a16:creationId xmlns:a16="http://schemas.microsoft.com/office/drawing/2014/main" id="{1BDF8271-B089-4DF3-85A1-4629CB0CCF7D}"/>
              </a:ext>
            </a:extLst>
          </p:cNvPr>
          <p:cNvSpPr/>
          <p:nvPr/>
        </p:nvSpPr>
        <p:spPr>
          <a:xfrm>
            <a:off x="6101822" y="1809800"/>
            <a:ext cx="1848910" cy="685800"/>
          </a:xfrm>
          <a:prstGeom prst="ellipse">
            <a:avLst/>
          </a:prstGeom>
          <a:noFill/>
          <a:ln w="19050">
            <a:solidFill>
              <a:srgbClr val="00B0F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TextBox 10">
            <a:extLst>
              <a:ext uri="{FF2B5EF4-FFF2-40B4-BE49-F238E27FC236}">
                <a16:creationId xmlns:a16="http://schemas.microsoft.com/office/drawing/2014/main" id="{A0CFFCD9-4F7C-434C-8F45-E3B3AAA08158}"/>
              </a:ext>
            </a:extLst>
          </p:cNvPr>
          <p:cNvSpPr txBox="1"/>
          <p:nvPr/>
        </p:nvSpPr>
        <p:spPr>
          <a:xfrm>
            <a:off x="6124575" y="1962200"/>
            <a:ext cx="1790875" cy="338554"/>
          </a:xfrm>
          <a:prstGeom prst="rect">
            <a:avLst/>
          </a:prstGeom>
          <a:noFill/>
        </p:spPr>
        <p:txBody>
          <a:bodyPr wrap="none" rtlCol="0">
            <a:spAutoFit/>
          </a:bodyPr>
          <a:lstStyle/>
          <a:p>
            <a:r>
              <a:rPr lang="en-US" altLang="zh-CN" sz="1600" dirty="0"/>
              <a:t>Positive feedback</a:t>
            </a:r>
            <a:endParaRPr lang="zh-CN" altLang="en-US" sz="1600" dirty="0"/>
          </a:p>
        </p:txBody>
      </p:sp>
      <mc:AlternateContent xmlns:mc="http://schemas.openxmlformats.org/markup-compatibility/2006" xmlns:a14="http://schemas.microsoft.com/office/drawing/2010/main">
        <mc:Choice Requires="a14">
          <p:sp>
            <p:nvSpPr>
              <p:cNvPr id="15" name="TextBox 3">
                <a:extLst>
                  <a:ext uri="{FF2B5EF4-FFF2-40B4-BE49-F238E27FC236}">
                    <a16:creationId xmlns:a16="http://schemas.microsoft.com/office/drawing/2014/main" id="{7EF408F1-A6A2-4A28-8534-6F620931CBF5}"/>
                  </a:ext>
                </a:extLst>
              </p:cNvPr>
              <p:cNvSpPr txBox="1"/>
              <p:nvPr/>
            </p:nvSpPr>
            <p:spPr>
              <a:xfrm>
                <a:off x="4868406" y="3529256"/>
                <a:ext cx="4275594" cy="615553"/>
              </a:xfrm>
              <a:prstGeom prst="rect">
                <a:avLst/>
              </a:prstGeom>
              <a:noFill/>
            </p:spPr>
            <p:txBody>
              <a:bodyPr wrap="none" lIns="0" tIns="0" rIns="0" bIns="0" rtlCol="0">
                <a:spAutoFit/>
              </a:bodyPr>
              <a:lstStyle/>
              <a:p>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m:rPr>
                            <m:sty m:val="p"/>
                          </m:rPr>
                          <a:rPr lang="en-US" altLang="zh-CN" i="0">
                            <a:latin typeface="Cambria Math" panose="02040503050406030204" pitchFamily="18" charset="0"/>
                          </a:rPr>
                          <m:t>out</m:t>
                        </m:r>
                      </m:sub>
                    </m:sSub>
                    <m:r>
                      <a:rPr lang="zh-CN" altLang="en-US" i="1" dirty="0" smtClean="0">
                        <a:latin typeface="Cambria Math" panose="02040503050406030204" pitchFamily="18" charset="0"/>
                      </a:rPr>
                      <m:t>↑</m:t>
                    </m:r>
                  </m:oMath>
                </a14:m>
                <a:r>
                  <a:rPr lang="en-US" altLang="zh-CN" dirty="0"/>
                  <a:t> </a:t>
                </a:r>
                <a14:m>
                  <m:oMath xmlns:m="http://schemas.openxmlformats.org/officeDocument/2006/math">
                    <m:r>
                      <a:rPr lang="zh-CN" altLang="en-US" i="1" dirty="0">
                        <a:latin typeface="Cambria Math" panose="02040503050406030204" pitchFamily="18" charset="0"/>
                      </a:rPr>
                      <m:t>⟹</m:t>
                    </m:r>
                  </m:oMath>
                </a14:m>
                <a:r>
                  <a:rPr lang="zh-CN" altLang="en-US" dirty="0"/>
                  <a:t> </a:t>
                </a:r>
                <a:r>
                  <a:rPr lang="en-US" altLang="zh-CN" dirty="0"/>
                  <a:t>voltage difference</a:t>
                </a:r>
                <a14:m>
                  <m:oMath xmlns:m="http://schemas.openxmlformats.org/officeDocument/2006/math">
                    <m:r>
                      <a:rPr lang="zh-CN" altLang="en-US" i="1" dirty="0">
                        <a:latin typeface="Cambria Math" panose="02040503050406030204" pitchFamily="18" charset="0"/>
                      </a:rPr>
                      <m:t>↑⟹ </m:t>
                    </m:r>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m:rPr>
                            <m:sty m:val="p"/>
                          </m:rPr>
                          <a:rPr lang="en-US" altLang="zh-CN" i="0">
                            <a:latin typeface="Cambria Math" panose="02040503050406030204" pitchFamily="18" charset="0"/>
                          </a:rPr>
                          <m:t>out</m:t>
                        </m:r>
                      </m:sub>
                    </m:sSub>
                    <m:r>
                      <a:rPr lang="zh-CN" altLang="en-US" i="1" dirty="0">
                        <a:latin typeface="Cambria Math" panose="02040503050406030204" pitchFamily="18" charset="0"/>
                      </a:rPr>
                      <m:t>↑</m:t>
                    </m:r>
                  </m:oMath>
                </a14:m>
                <a:endParaRPr lang="en-US" altLang="zh-CN" i="1" dirty="0">
                  <a:latin typeface="Cambria Math" panose="02040503050406030204" pitchFamily="18" charset="0"/>
                </a:endParaRPr>
              </a:p>
              <a:p>
                <a:r>
                  <a:rPr lang="zh-CN" altLang="en-US" dirty="0"/>
                  <a:t>        </a:t>
                </a:r>
                <a14:m>
                  <m:oMath xmlns:m="http://schemas.openxmlformats.org/officeDocument/2006/math">
                    <m:r>
                      <a:rPr lang="en-US" altLang="zh-CN" b="0" i="0" dirty="0" smtClean="0">
                        <a:latin typeface="Cambria Math" panose="02040503050406030204" pitchFamily="18" charset="0"/>
                      </a:rPr>
                      <m:t>  </m:t>
                    </m:r>
                  </m:oMath>
                </a14:m>
                <a:endParaRPr lang="zh-CN" altLang="en-US" dirty="0"/>
              </a:p>
            </p:txBody>
          </p:sp>
        </mc:Choice>
        <mc:Fallback xmlns="">
          <p:sp>
            <p:nvSpPr>
              <p:cNvPr id="15" name="TextBox 3">
                <a:extLst>
                  <a:ext uri="{FF2B5EF4-FFF2-40B4-BE49-F238E27FC236}">
                    <a16:creationId xmlns:a16="http://schemas.microsoft.com/office/drawing/2014/main" id="{7EF408F1-A6A2-4A28-8534-6F620931CBF5}"/>
                  </a:ext>
                </a:extLst>
              </p:cNvPr>
              <p:cNvSpPr txBox="1">
                <a:spLocks noRot="1" noChangeAspect="1" noMove="1" noResize="1" noEditPoints="1" noAdjustHandles="1" noChangeArrowheads="1" noChangeShapeType="1" noTextEdit="1"/>
              </p:cNvSpPr>
              <p:nvPr/>
            </p:nvSpPr>
            <p:spPr>
              <a:xfrm>
                <a:off x="4868406" y="3529256"/>
                <a:ext cx="4275594" cy="615553"/>
              </a:xfrm>
              <a:prstGeom prst="rect">
                <a:avLst/>
              </a:prstGeom>
              <a:blipFill>
                <a:blip r:embed="rId6"/>
                <a:stretch>
                  <a:fillRect l="-2140" t="-11881" r="-1569"/>
                </a:stretch>
              </a:blipFill>
            </p:spPr>
            <p:txBody>
              <a:bodyPr/>
              <a:lstStyle/>
              <a:p>
                <a:r>
                  <a:rPr lang="zh-CN" altLang="en-US">
                    <a:noFill/>
                  </a:rPr>
                  <a:t> </a:t>
                </a:r>
              </a:p>
            </p:txBody>
          </p:sp>
        </mc:Fallback>
      </mc:AlternateContent>
      <p:sp>
        <p:nvSpPr>
          <p:cNvPr id="16" name="文本框 15">
            <a:extLst>
              <a:ext uri="{FF2B5EF4-FFF2-40B4-BE49-F238E27FC236}">
                <a16:creationId xmlns:a16="http://schemas.microsoft.com/office/drawing/2014/main" id="{60F639BB-A577-4FE8-8CC2-18D1C6673C2B}"/>
              </a:ext>
            </a:extLst>
          </p:cNvPr>
          <p:cNvSpPr txBox="1"/>
          <p:nvPr/>
        </p:nvSpPr>
        <p:spPr>
          <a:xfrm>
            <a:off x="5160818" y="4238139"/>
            <a:ext cx="3505200" cy="1631216"/>
          </a:xfrm>
          <a:prstGeom prst="rect">
            <a:avLst/>
          </a:prstGeom>
          <a:noFill/>
        </p:spPr>
        <p:txBody>
          <a:bodyPr wrap="square" rtlCol="0">
            <a:spAutoFit/>
          </a:bodyPr>
          <a:lstStyle/>
          <a:p>
            <a:r>
              <a:rPr lang="zh-CN" altLang="en-US" dirty="0">
                <a:solidFill>
                  <a:srgbClr val="FF0000"/>
                </a:solidFill>
              </a:rPr>
              <a:t>正反馈</a:t>
            </a:r>
            <a:r>
              <a:rPr lang="zh-CN" altLang="en-US" dirty="0"/>
              <a:t>：当输出端电压变化通过外部电路反馈至输入端时，反馈信号引起的输出端电压变化方向与原变化方向相同</a:t>
            </a:r>
            <a:r>
              <a:rPr lang="en-US" altLang="zh-CN" dirty="0"/>
              <a:t>,</a:t>
            </a:r>
            <a:r>
              <a:rPr lang="zh-CN" altLang="en-US" dirty="0"/>
              <a:t>从而加剧输出电压的变化。</a:t>
            </a:r>
          </a:p>
        </p:txBody>
      </p:sp>
    </p:spTree>
    <p:extLst>
      <p:ext uri="{BB962C8B-B14F-4D97-AF65-F5344CB8AC3E}">
        <p14:creationId xmlns:p14="http://schemas.microsoft.com/office/powerpoint/2010/main" val="28867995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descr="Capture.PNG"/>
          <p:cNvPicPr>
            <a:picLocks noChangeAspect="1"/>
          </p:cNvPicPr>
          <p:nvPr/>
        </p:nvPicPr>
        <p:blipFill>
          <a:blip r:embed="rId2" cstate="print"/>
          <a:stretch>
            <a:fillRect/>
          </a:stretch>
        </p:blipFill>
        <p:spPr>
          <a:xfrm>
            <a:off x="1447800" y="2234698"/>
            <a:ext cx="5740556" cy="4089902"/>
          </a:xfrm>
          <a:prstGeom prst="rect">
            <a:avLst/>
          </a:prstGeom>
        </p:spPr>
      </p:pic>
      <p:sp>
        <p:nvSpPr>
          <p:cNvPr id="2" name="Title 1"/>
          <p:cNvSpPr>
            <a:spLocks noGrp="1"/>
          </p:cNvSpPr>
          <p:nvPr>
            <p:ph type="title"/>
          </p:nvPr>
        </p:nvSpPr>
        <p:spPr/>
        <p:txBody>
          <a:bodyPr>
            <a:normAutofit/>
          </a:bodyPr>
          <a:lstStyle/>
          <a:p>
            <a:r>
              <a:rPr lang="en-US" dirty="0"/>
              <a:t>Example 2</a:t>
            </a:r>
            <a:endParaRPr lang="en-US" dirty="0">
              <a:solidFill>
                <a:srgbClr val="FF0000"/>
              </a:solidFill>
            </a:endParaRPr>
          </a:p>
        </p:txBody>
      </p:sp>
      <p:pic>
        <p:nvPicPr>
          <p:cNvPr id="19" name="Picture 18" descr="Capture.PNG"/>
          <p:cNvPicPr>
            <a:picLocks noChangeAspect="1"/>
          </p:cNvPicPr>
          <p:nvPr/>
        </p:nvPicPr>
        <p:blipFill>
          <a:blip r:embed="rId3" cstate="print"/>
          <a:stretch>
            <a:fillRect/>
          </a:stretch>
        </p:blipFill>
        <p:spPr>
          <a:xfrm>
            <a:off x="482288" y="1437440"/>
            <a:ext cx="5232712" cy="533399"/>
          </a:xfrm>
          <a:prstGeom prst="rect">
            <a:avLst/>
          </a:prstGeom>
        </p:spPr>
      </p:pic>
      <p:sp>
        <p:nvSpPr>
          <p:cNvPr id="8" name="文本框 7"/>
          <p:cNvSpPr txBox="1"/>
          <p:nvPr/>
        </p:nvSpPr>
        <p:spPr>
          <a:xfrm>
            <a:off x="3124200" y="1617681"/>
            <a:ext cx="1752600" cy="400110"/>
          </a:xfrm>
          <a:prstGeom prst="rect">
            <a:avLst/>
          </a:prstGeom>
          <a:noFill/>
        </p:spPr>
        <p:txBody>
          <a:bodyPr wrap="square" rtlCol="0">
            <a:spAutoFit/>
          </a:bodyPr>
          <a:lstStyle/>
          <a:p>
            <a:r>
              <a:rPr lang="en-US" altLang="zh-CN" sz="1800" dirty="0">
                <a:latin typeface="Times New Roman" panose="02020603050405020304" pitchFamily="18" charset="0"/>
                <a:cs typeface="Times New Roman" panose="02020603050405020304" pitchFamily="18" charset="0"/>
              </a:rPr>
              <a:t>Find</a:t>
            </a:r>
            <a:r>
              <a:rPr lang="en-US" altLang="zh-CN" i="1" dirty="0">
                <a:latin typeface="Times New Roman" panose="02020603050405020304" pitchFamily="18" charset="0"/>
                <a:cs typeface="Times New Roman" panose="02020603050405020304" pitchFamily="18" charset="0"/>
              </a:rPr>
              <a:t> </a:t>
            </a:r>
            <a:r>
              <a:rPr lang="en-US" altLang="zh-CN" i="1" dirty="0" err="1">
                <a:latin typeface="Times New Roman" panose="02020603050405020304" pitchFamily="18" charset="0"/>
                <a:cs typeface="Times New Roman" panose="02020603050405020304" pitchFamily="18" charset="0"/>
              </a:rPr>
              <a:t>v</a:t>
            </a:r>
            <a:r>
              <a:rPr lang="en-US" altLang="zh-CN" i="1" baseline="-25000" dirty="0" err="1">
                <a:latin typeface="Times New Roman" panose="02020603050405020304" pitchFamily="18" charset="0"/>
                <a:cs typeface="Times New Roman" panose="02020603050405020304" pitchFamily="18" charset="0"/>
              </a:rPr>
              <a:t>o</a:t>
            </a:r>
            <a:r>
              <a:rPr lang="en-US" altLang="zh-CN" i="1" baseline="-25000" dirty="0">
                <a:latin typeface="Times New Roman" panose="02020603050405020304" pitchFamily="18" charset="0"/>
                <a:cs typeface="Times New Roman" panose="02020603050405020304" pitchFamily="18" charset="0"/>
              </a:rPr>
              <a:t> </a:t>
            </a:r>
            <a:r>
              <a:rPr lang="en-US" altLang="zh-CN" i="1" dirty="0">
                <a:latin typeface="Times New Roman" panose="02020603050405020304" pitchFamily="18" charset="0"/>
                <a:cs typeface="Times New Roman" panose="02020603050405020304" pitchFamily="18" charset="0"/>
              </a:rPr>
              <a:t>/ v</a:t>
            </a:r>
            <a:r>
              <a:rPr lang="en-US" altLang="zh-CN" i="1" baseline="-25000" dirty="0">
                <a:latin typeface="Times New Roman" panose="02020603050405020304" pitchFamily="18" charset="0"/>
                <a:cs typeface="Times New Roman" panose="02020603050405020304" pitchFamily="18" charset="0"/>
              </a:rPr>
              <a:t>s</a:t>
            </a:r>
            <a:endParaRPr lang="zh-CN" altLang="en-US" i="1" baseline="-25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219484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Example 2 (solution)</a:t>
            </a:r>
            <a:endParaRPr lang="en-US" dirty="0">
              <a:solidFill>
                <a:srgbClr val="FF0000"/>
              </a:solidFill>
            </a:endParaRPr>
          </a:p>
        </p:txBody>
      </p:sp>
      <p:pic>
        <p:nvPicPr>
          <p:cNvPr id="7" name="图片 6">
            <a:extLst>
              <a:ext uri="{FF2B5EF4-FFF2-40B4-BE49-F238E27FC236}">
                <a16:creationId xmlns:a16="http://schemas.microsoft.com/office/drawing/2014/main" id="{ED98AE6A-F42E-4F6E-AA5D-6AD598875383}"/>
              </a:ext>
            </a:extLst>
          </p:cNvPr>
          <p:cNvPicPr>
            <a:picLocks noChangeAspect="1"/>
          </p:cNvPicPr>
          <p:nvPr/>
        </p:nvPicPr>
        <p:blipFill>
          <a:blip r:embed="rId3"/>
          <a:stretch>
            <a:fillRect/>
          </a:stretch>
        </p:blipFill>
        <p:spPr>
          <a:xfrm>
            <a:off x="677545" y="1382957"/>
            <a:ext cx="7788910" cy="5119426"/>
          </a:xfrm>
          <a:prstGeom prst="rect">
            <a:avLst/>
          </a:prstGeom>
        </p:spPr>
      </p:pic>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02D95D91-A4C9-4BAF-B555-45AC08F0EBE0}"/>
                  </a:ext>
                </a:extLst>
              </p:cNvPr>
              <p:cNvSpPr txBox="1"/>
              <p:nvPr/>
            </p:nvSpPr>
            <p:spPr>
              <a:xfrm>
                <a:off x="4419600" y="5733829"/>
                <a:ext cx="4724400" cy="1181542"/>
              </a:xfrm>
              <a:prstGeom prst="rect">
                <a:avLst/>
              </a:prstGeom>
              <a:noFill/>
            </p:spPr>
            <p:txBody>
              <a:bodyPr wrap="square" rtlCol="0">
                <a:spAutoFit/>
              </a:bodyPr>
              <a:lstStyle/>
              <a:p>
                <a:r>
                  <a:rPr lang="zh-CN" altLang="en-US" dirty="0">
                    <a:solidFill>
                      <a:srgbClr val="FF0000"/>
                    </a:solidFill>
                  </a:rPr>
                  <a:t>注意</a:t>
                </a:r>
                <a:r>
                  <a:rPr lang="zh-CN" altLang="en-US" dirty="0"/>
                  <a:t>：当</a:t>
                </a:r>
                <a14:m>
                  <m:oMath xmlns:m="http://schemas.openxmlformats.org/officeDocument/2006/math">
                    <m:r>
                      <a:rPr lang="en-US" altLang="zh-CN" b="0" i="1" smtClean="0">
                        <a:latin typeface="Cambria Math" panose="02040503050406030204" pitchFamily="18" charset="0"/>
                      </a:rPr>
                      <m:t>𝐴</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10</m:t>
                        </m:r>
                      </m:e>
                      <m:sup>
                        <m:r>
                          <a:rPr lang="en-US" altLang="zh-CN" b="0" i="1" smtClean="0">
                            <a:latin typeface="Cambria Math" panose="02040503050406030204" pitchFamily="18" charset="0"/>
                          </a:rPr>
                          <m:t>6</m:t>
                        </m:r>
                      </m:sup>
                    </m:sSup>
                  </m:oMath>
                </a14:m>
                <a:r>
                  <a:rPr lang="zh-CN" altLang="en-US" dirty="0"/>
                  <a:t>时（正反馈），同样可以得到</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𝑉</m:t>
                        </m:r>
                      </m:e>
                      <m:sub>
                        <m:r>
                          <a:rPr lang="en-US" altLang="zh-CN" b="0" i="1" smtClean="0">
                            <a:latin typeface="Cambria Math" panose="02040503050406030204" pitchFamily="18" charset="0"/>
                          </a:rPr>
                          <m:t>𝑠</m:t>
                        </m:r>
                      </m:sub>
                    </m:sSub>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𝑉</m:t>
                        </m:r>
                      </m:e>
                      <m:sub>
                        <m:r>
                          <a:rPr lang="en-US" altLang="zh-CN" b="0" i="1" smtClean="0">
                            <a:latin typeface="Cambria Math" panose="02040503050406030204" pitchFamily="18" charset="0"/>
                          </a:rPr>
                          <m:t>0</m:t>
                        </m:r>
                      </m:sub>
                    </m:sSub>
                    <m:f>
                      <m:fPr>
                        <m:ctrlPr>
                          <a:rPr lang="en-US" altLang="zh-CN" b="0"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𝑅</m:t>
                            </m:r>
                          </m:e>
                          <m:sub>
                            <m:r>
                              <a:rPr lang="en-US" altLang="zh-CN" b="0" i="1" smtClean="0">
                                <a:latin typeface="Cambria Math" panose="02040503050406030204" pitchFamily="18" charset="0"/>
                              </a:rPr>
                              <m:t>2</m:t>
                            </m:r>
                          </m:sub>
                        </m:sSub>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b="0" i="1" smtClean="0">
                                <a:latin typeface="Cambria Math" panose="02040503050406030204" pitchFamily="18" charset="0"/>
                              </a:rPr>
                              <m:t>2</m:t>
                            </m:r>
                          </m:sub>
                        </m:sSub>
                      </m:den>
                    </m:f>
                  </m:oMath>
                </a14:m>
                <a:r>
                  <a:rPr lang="zh-CN" altLang="en-US" dirty="0"/>
                  <a:t>，但此时电压不稳定。</a:t>
                </a:r>
              </a:p>
            </p:txBody>
          </p:sp>
        </mc:Choice>
        <mc:Fallback xmlns="">
          <p:sp>
            <p:nvSpPr>
              <p:cNvPr id="3" name="文本框 2">
                <a:extLst>
                  <a:ext uri="{FF2B5EF4-FFF2-40B4-BE49-F238E27FC236}">
                    <a16:creationId xmlns:a16="http://schemas.microsoft.com/office/drawing/2014/main" id="{02D95D91-A4C9-4BAF-B555-45AC08F0EBE0}"/>
                  </a:ext>
                </a:extLst>
              </p:cNvPr>
              <p:cNvSpPr txBox="1">
                <a:spLocks noRot="1" noChangeAspect="1" noMove="1" noResize="1" noEditPoints="1" noAdjustHandles="1" noChangeArrowheads="1" noChangeShapeType="1" noTextEdit="1"/>
              </p:cNvSpPr>
              <p:nvPr/>
            </p:nvSpPr>
            <p:spPr>
              <a:xfrm>
                <a:off x="4419600" y="5733829"/>
                <a:ext cx="4724400" cy="1181542"/>
              </a:xfrm>
              <a:prstGeom prst="rect">
                <a:avLst/>
              </a:prstGeom>
              <a:blipFill>
                <a:blip r:embed="rId4"/>
                <a:stretch>
                  <a:fillRect l="-1290" t="-3109" b="-880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633441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altLang="zh-CN" dirty="0">
                <a:ea typeface="宋体" panose="02010600030101010101" pitchFamily="2" charset="-122"/>
              </a:rPr>
              <a:t>Attributes of an Ideal Op Amp</a:t>
            </a: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1EF53015-CA85-4CA8-8B57-EE95E1C92ACB}"/>
                  </a:ext>
                </a:extLst>
              </p:cNvPr>
              <p:cNvSpPr/>
              <p:nvPr/>
            </p:nvSpPr>
            <p:spPr>
              <a:xfrm>
                <a:off x="-10255" y="3205832"/>
                <a:ext cx="5039393" cy="461665"/>
              </a:xfrm>
              <a:prstGeom prst="rect">
                <a:avLst/>
              </a:prstGeom>
            </p:spPr>
            <p:txBody>
              <a:bodyPr wrap="none">
                <a:spAutoFit/>
              </a:bodyPr>
              <a:lstStyle/>
              <a:p>
                <a:pPr marL="800100" lvl="1" indent="-342900">
                  <a:buClr>
                    <a:srgbClr val="C00000"/>
                  </a:buClr>
                  <a:buFont typeface="Wingdings" panose="05000000000000000000" pitchFamily="2" charset="2"/>
                  <a:buChar char="ü"/>
                </a:pPr>
                <a:r>
                  <a:rPr lang="en-US" altLang="zh-CN" sz="2400" dirty="0">
                    <a:ea typeface="宋体" panose="02010600030101010101" pitchFamily="2" charset="-122"/>
                  </a:rPr>
                  <a:t>infinite open-loop gain: </a:t>
                </a:r>
                <a14:m>
                  <m:oMath xmlns:m="http://schemas.openxmlformats.org/officeDocument/2006/math">
                    <m:r>
                      <a:rPr lang="en-US" altLang="zh-CN" sz="2400" b="0" i="1" smtClean="0">
                        <a:latin typeface="Cambria Math" panose="02040503050406030204" pitchFamily="18" charset="0"/>
                        <a:ea typeface="宋体" panose="02010600030101010101" pitchFamily="2" charset="-122"/>
                      </a:rPr>
                      <m:t>𝐴</m:t>
                    </m:r>
                    <m:r>
                      <a:rPr lang="en-US" altLang="zh-CN" sz="2400" b="0" i="1" smtClean="0">
                        <a:latin typeface="Cambria Math" panose="02040503050406030204" pitchFamily="18" charset="0"/>
                        <a:ea typeface="Cambria Math" panose="02040503050406030204" pitchFamily="18" charset="0"/>
                      </a:rPr>
                      <m:t>≅∞</m:t>
                    </m:r>
                  </m:oMath>
                </a14:m>
                <a:endParaRPr lang="en-US" altLang="zh-CN" sz="2400" dirty="0">
                  <a:ea typeface="宋体" panose="02010600030101010101" pitchFamily="2" charset="-122"/>
                </a:endParaRPr>
              </a:p>
            </p:txBody>
          </p:sp>
        </mc:Choice>
        <mc:Fallback xmlns="">
          <p:sp>
            <p:nvSpPr>
              <p:cNvPr id="6" name="矩形 5">
                <a:extLst>
                  <a:ext uri="{FF2B5EF4-FFF2-40B4-BE49-F238E27FC236}">
                    <a16:creationId xmlns:a16="http://schemas.microsoft.com/office/drawing/2014/main" id="{1EF53015-CA85-4CA8-8B57-EE95E1C92ACB}"/>
                  </a:ext>
                </a:extLst>
              </p:cNvPr>
              <p:cNvSpPr>
                <a:spLocks noRot="1" noChangeAspect="1" noMove="1" noResize="1" noEditPoints="1" noAdjustHandles="1" noChangeArrowheads="1" noChangeShapeType="1" noTextEdit="1"/>
              </p:cNvSpPr>
              <p:nvPr/>
            </p:nvSpPr>
            <p:spPr>
              <a:xfrm>
                <a:off x="-10255" y="3205832"/>
                <a:ext cx="5039393" cy="461665"/>
              </a:xfrm>
              <a:prstGeom prst="rect">
                <a:avLst/>
              </a:prstGeom>
              <a:blipFill>
                <a:blip r:embed="rId3"/>
                <a:stretch>
                  <a:fillRect t="-9211" b="-302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48959D72-4EA7-4390-967D-95530588A7E3}"/>
                  </a:ext>
                </a:extLst>
              </p:cNvPr>
              <p:cNvSpPr/>
              <p:nvPr/>
            </p:nvSpPr>
            <p:spPr>
              <a:xfrm>
                <a:off x="-20872" y="2147618"/>
                <a:ext cx="5617115" cy="461665"/>
              </a:xfrm>
              <a:prstGeom prst="rect">
                <a:avLst/>
              </a:prstGeom>
            </p:spPr>
            <p:txBody>
              <a:bodyPr wrap="none">
                <a:spAutoFit/>
              </a:bodyPr>
              <a:lstStyle/>
              <a:p>
                <a:pPr marL="800100" lvl="1" indent="-342900">
                  <a:buClr>
                    <a:srgbClr val="C00000"/>
                  </a:buClr>
                  <a:buFont typeface="Wingdings" panose="05000000000000000000" pitchFamily="2" charset="2"/>
                  <a:buChar char="ü"/>
                </a:pPr>
                <a:r>
                  <a:rPr lang="en-US" altLang="zh-CN" sz="2400" dirty="0">
                    <a:ea typeface="宋体" panose="02010600030101010101" pitchFamily="2" charset="-122"/>
                  </a:rPr>
                  <a:t>infinite input resistance: </a:t>
                </a:r>
                <a14:m>
                  <m:oMath xmlns:m="http://schemas.openxmlformats.org/officeDocument/2006/math">
                    <m:sSub>
                      <m:sSubPr>
                        <m:ctrlPr>
                          <a:rPr lang="en-US" altLang="zh-CN" sz="2400" i="1">
                            <a:latin typeface="Cambria Math" panose="02040503050406030204" pitchFamily="18" charset="0"/>
                            <a:ea typeface="宋体" panose="02010600030101010101" pitchFamily="2" charset="-122"/>
                          </a:rPr>
                        </m:ctrlPr>
                      </m:sSubPr>
                      <m:e>
                        <m:r>
                          <m:rPr>
                            <m:sty m:val="p"/>
                          </m:rPr>
                          <a:rPr lang="en-US" altLang="zh-CN" sz="2400" i="1">
                            <a:latin typeface="Cambria Math" panose="02040503050406030204" pitchFamily="18" charset="0"/>
                            <a:ea typeface="宋体" panose="02010600030101010101" pitchFamily="2" charset="-122"/>
                          </a:rPr>
                          <m:t>R</m:t>
                        </m:r>
                      </m:e>
                      <m:sub>
                        <m:r>
                          <a:rPr lang="en-US" altLang="zh-CN" sz="2400" b="0" i="1" smtClean="0">
                            <a:latin typeface="Cambria Math" panose="02040503050406030204" pitchFamily="18" charset="0"/>
                            <a:ea typeface="宋体" panose="02010600030101010101" pitchFamily="2" charset="-122"/>
                          </a:rPr>
                          <m:t>𝑖</m:t>
                        </m:r>
                      </m:sub>
                    </m:sSub>
                    <m:r>
                      <a:rPr lang="en-US" altLang="zh-CN" sz="2400" i="1">
                        <a:latin typeface="Cambria Math" panose="02040503050406030204" pitchFamily="18" charset="0"/>
                        <a:ea typeface="Cambria Math" panose="02040503050406030204" pitchFamily="18" charset="0"/>
                      </a:rPr>
                      <m:t>≈</m:t>
                    </m:r>
                    <m:r>
                      <a:rPr lang="en-US" altLang="zh-CN" sz="2400" i="1" smtClean="0">
                        <a:latin typeface="Cambria Math" panose="02040503050406030204" pitchFamily="18" charset="0"/>
                        <a:ea typeface="Cambria Math" panose="02040503050406030204" pitchFamily="18" charset="0"/>
                      </a:rPr>
                      <m:t>∞</m:t>
                    </m:r>
                    <m:r>
                      <a:rPr lang="en-US" altLang="zh-CN" sz="2400" i="1">
                        <a:latin typeface="Cambria Math" panose="02040503050406030204" pitchFamily="18" charset="0"/>
                        <a:ea typeface="宋体" panose="02010600030101010101" pitchFamily="2" charset="-122"/>
                      </a:rPr>
                      <m:t> </m:t>
                    </m:r>
                    <m:r>
                      <m:rPr>
                        <m:sty m:val="p"/>
                      </m:rPr>
                      <a:rPr lang="el-GR" altLang="zh-CN" sz="2400" i="1">
                        <a:latin typeface="Cambria Math" panose="02040503050406030204" pitchFamily="18" charset="0"/>
                        <a:ea typeface="宋体" panose="02010600030101010101" pitchFamily="2" charset="-122"/>
                      </a:rPr>
                      <m:t>Ω</m:t>
                    </m:r>
                  </m:oMath>
                </a14:m>
                <a:r>
                  <a:rPr lang="en-US" altLang="zh-CN" sz="2400" dirty="0">
                    <a:ea typeface="宋体" panose="02010600030101010101" pitchFamily="2" charset="-122"/>
                  </a:rPr>
                  <a:t> </a:t>
                </a:r>
              </a:p>
            </p:txBody>
          </p:sp>
        </mc:Choice>
        <mc:Fallback xmlns="">
          <p:sp>
            <p:nvSpPr>
              <p:cNvPr id="7" name="矩形 6">
                <a:extLst>
                  <a:ext uri="{FF2B5EF4-FFF2-40B4-BE49-F238E27FC236}">
                    <a16:creationId xmlns:a16="http://schemas.microsoft.com/office/drawing/2014/main" id="{48959D72-4EA7-4390-967D-95530588A7E3}"/>
                  </a:ext>
                </a:extLst>
              </p:cNvPr>
              <p:cNvSpPr>
                <a:spLocks noRot="1" noChangeAspect="1" noMove="1" noResize="1" noEditPoints="1" noAdjustHandles="1" noChangeArrowheads="1" noChangeShapeType="1" noTextEdit="1"/>
              </p:cNvSpPr>
              <p:nvPr/>
            </p:nvSpPr>
            <p:spPr>
              <a:xfrm>
                <a:off x="-20872" y="2147618"/>
                <a:ext cx="5617115" cy="461665"/>
              </a:xfrm>
              <a:prstGeom prst="rect">
                <a:avLst/>
              </a:prstGeom>
              <a:blipFill>
                <a:blip r:embed="rId4"/>
                <a:stretch>
                  <a:fillRect t="-9211" b="-302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3CC77C48-A9EC-4EE5-8DFA-513387BA2CB7}"/>
                  </a:ext>
                </a:extLst>
              </p:cNvPr>
              <p:cNvSpPr/>
              <p:nvPr/>
            </p:nvSpPr>
            <p:spPr>
              <a:xfrm>
                <a:off x="-41564" y="4213424"/>
                <a:ext cx="6051109" cy="769441"/>
              </a:xfrm>
              <a:prstGeom prst="rect">
                <a:avLst/>
              </a:prstGeom>
            </p:spPr>
            <p:txBody>
              <a:bodyPr wrap="square">
                <a:spAutoFit/>
              </a:bodyPr>
              <a:lstStyle/>
              <a:p>
                <a:pPr marL="800100" lvl="1" indent="-342900">
                  <a:buClr>
                    <a:srgbClr val="C00000"/>
                  </a:buClr>
                  <a:buFont typeface="Wingdings" panose="05000000000000000000" pitchFamily="2" charset="2"/>
                  <a:buChar char="ü"/>
                </a:pPr>
                <a:r>
                  <a:rPr lang="en-US" altLang="zh-CN" sz="2400" dirty="0">
                    <a:ea typeface="宋体" panose="02010600030101010101" pitchFamily="2" charset="-122"/>
                  </a:rPr>
                  <a:t>zero output impedance: </a:t>
                </a:r>
                <a14:m>
                  <m:oMath xmlns:m="http://schemas.openxmlformats.org/officeDocument/2006/math">
                    <m:sSub>
                      <m:sSubPr>
                        <m:ctrlPr>
                          <a:rPr lang="en-US" altLang="zh-CN" sz="2400" i="1" smtClean="0">
                            <a:latin typeface="Cambria Math" panose="02040503050406030204" pitchFamily="18" charset="0"/>
                            <a:ea typeface="宋体" panose="02010600030101010101" pitchFamily="2" charset="-122"/>
                          </a:rPr>
                        </m:ctrlPr>
                      </m:sSubPr>
                      <m:e>
                        <m:r>
                          <m:rPr>
                            <m:sty m:val="p"/>
                          </m:rPr>
                          <a:rPr lang="en-US" altLang="zh-CN" sz="2400" i="1">
                            <a:latin typeface="Cambria Math" panose="02040503050406030204" pitchFamily="18" charset="0"/>
                            <a:ea typeface="宋体" panose="02010600030101010101" pitchFamily="2" charset="-122"/>
                          </a:rPr>
                          <m:t>R</m:t>
                        </m:r>
                      </m:e>
                      <m:sub>
                        <m:r>
                          <a:rPr lang="en-US" altLang="zh-CN" sz="2400" b="0" i="1" smtClean="0">
                            <a:latin typeface="Cambria Math" panose="02040503050406030204" pitchFamily="18" charset="0"/>
                            <a:ea typeface="宋体" panose="02010600030101010101" pitchFamily="2" charset="-122"/>
                          </a:rPr>
                          <m:t>𝑜</m:t>
                        </m:r>
                      </m:sub>
                    </m:sSub>
                    <m:r>
                      <a:rPr lang="en-US" altLang="zh-CN" sz="2400" b="0" i="1" smtClean="0">
                        <a:latin typeface="Cambria Math" panose="02040503050406030204" pitchFamily="18" charset="0"/>
                        <a:ea typeface="Cambria Math" panose="02040503050406030204" pitchFamily="18" charset="0"/>
                      </a:rPr>
                      <m:t>≈</m:t>
                    </m:r>
                    <m:r>
                      <a:rPr lang="en-US" altLang="zh-CN" sz="2400" b="0" i="1" smtClean="0">
                        <a:latin typeface="Cambria Math" panose="02040503050406030204" pitchFamily="18" charset="0"/>
                        <a:ea typeface="宋体" panose="02010600030101010101" pitchFamily="2" charset="-122"/>
                      </a:rPr>
                      <m:t>0 </m:t>
                    </m:r>
                    <m:r>
                      <m:rPr>
                        <m:sty m:val="p"/>
                      </m:rPr>
                      <a:rPr lang="el-GR" altLang="zh-CN" sz="2400" b="0" i="1" smtClean="0">
                        <a:latin typeface="Cambria Math" panose="02040503050406030204" pitchFamily="18" charset="0"/>
                        <a:ea typeface="宋体" panose="02010600030101010101" pitchFamily="2" charset="-122"/>
                      </a:rPr>
                      <m:t>Ω</m:t>
                    </m:r>
                  </m:oMath>
                </a14:m>
                <a:r>
                  <a:rPr lang="en-US" altLang="zh-CN" dirty="0">
                    <a:ea typeface="宋体" panose="02010600030101010101" pitchFamily="2" charset="-122"/>
                  </a:rPr>
                  <a:t> (not necessary for applying the golden rules)</a:t>
                </a:r>
              </a:p>
            </p:txBody>
          </p:sp>
        </mc:Choice>
        <mc:Fallback xmlns="">
          <p:sp>
            <p:nvSpPr>
              <p:cNvPr id="9" name="矩形 8">
                <a:extLst>
                  <a:ext uri="{FF2B5EF4-FFF2-40B4-BE49-F238E27FC236}">
                    <a16:creationId xmlns:a16="http://schemas.microsoft.com/office/drawing/2014/main" id="{3CC77C48-A9EC-4EE5-8DFA-513387BA2CB7}"/>
                  </a:ext>
                </a:extLst>
              </p:cNvPr>
              <p:cNvSpPr>
                <a:spLocks noRot="1" noChangeAspect="1" noMove="1" noResize="1" noEditPoints="1" noAdjustHandles="1" noChangeArrowheads="1" noChangeShapeType="1" noTextEdit="1"/>
              </p:cNvSpPr>
              <p:nvPr/>
            </p:nvSpPr>
            <p:spPr>
              <a:xfrm>
                <a:off x="-41564" y="4213424"/>
                <a:ext cx="6051109" cy="769441"/>
              </a:xfrm>
              <a:prstGeom prst="rect">
                <a:avLst/>
              </a:prstGeom>
              <a:blipFill>
                <a:blip r:embed="rId5"/>
                <a:stretch>
                  <a:fillRect t="-5556" r="-403" b="-14286"/>
                </a:stretch>
              </a:blipFill>
            </p:spPr>
            <p:txBody>
              <a:bodyPr/>
              <a:lstStyle/>
              <a:p>
                <a:r>
                  <a:rPr lang="zh-CN" altLang="en-US">
                    <a:noFill/>
                  </a:rPr>
                  <a:t> </a:t>
                </a:r>
              </a:p>
            </p:txBody>
          </p:sp>
        </mc:Fallback>
      </mc:AlternateContent>
      <p:pic>
        <p:nvPicPr>
          <p:cNvPr id="10" name="Picture 2" descr="ale80571_05_004.jpg">
            <a:extLst>
              <a:ext uri="{FF2B5EF4-FFF2-40B4-BE49-F238E27FC236}">
                <a16:creationId xmlns:a16="http://schemas.microsoft.com/office/drawing/2014/main" id="{C0D6C15D-8756-48F0-AB30-A1BF92410D71}"/>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780031" y="1930858"/>
            <a:ext cx="2939426" cy="2492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38866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7602" name="Rectangle 2"/>
          <p:cNvSpPr>
            <a:spLocks noGrp="1" noChangeArrowheads="1"/>
          </p:cNvSpPr>
          <p:nvPr>
            <p:ph type="title"/>
          </p:nvPr>
        </p:nvSpPr>
        <p:spPr>
          <a:xfrm>
            <a:off x="304800" y="609600"/>
            <a:ext cx="8266113" cy="609600"/>
          </a:xfrm>
          <a:ln/>
        </p:spPr>
        <p:txBody>
          <a:bodyPr/>
          <a:lstStyle/>
          <a:p>
            <a:r>
              <a:rPr lang="en-US" altLang="zh-CN" dirty="0">
                <a:ea typeface="宋体" panose="02010600030101010101" pitchFamily="2" charset="-122"/>
              </a:rPr>
              <a:t>Ideal Op-Amp Analysis</a:t>
            </a:r>
          </a:p>
        </p:txBody>
      </p:sp>
      <mc:AlternateContent xmlns:mc="http://schemas.openxmlformats.org/markup-compatibility/2006" xmlns:a14="http://schemas.microsoft.com/office/drawing/2010/main">
        <mc:Choice Requires="a14">
          <p:sp>
            <p:nvSpPr>
              <p:cNvPr id="537603" name="Text Box 3"/>
              <p:cNvSpPr txBox="1">
                <a:spLocks noChangeArrowheads="1"/>
              </p:cNvSpPr>
              <p:nvPr/>
            </p:nvSpPr>
            <p:spPr bwMode="auto">
              <a:xfrm>
                <a:off x="550862" y="2447442"/>
                <a:ext cx="8223250" cy="70788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nchor="ctr">
                <a:spAutoFit/>
              </a:bodyPr>
              <a:lstStyle>
                <a:lvl1pPr>
                  <a:defRPr sz="2400">
                    <a:solidFill>
                      <a:schemeClr val="tx1"/>
                    </a:solidFill>
                    <a:latin typeface="Times New Roman" panose="02020603050405020304" pitchFamily="18" charset="0"/>
                  </a:defRPr>
                </a:lvl1pPr>
                <a:lvl2pPr marL="738188" indent="-280988">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eaLnBrk="0" fontAlgn="base" hangingPunct="0">
                  <a:spcBef>
                    <a:spcPct val="0"/>
                  </a:spcBef>
                  <a:spcAft>
                    <a:spcPct val="0"/>
                  </a:spcAft>
                  <a:defRPr sz="2400">
                    <a:solidFill>
                      <a:schemeClr val="tx1"/>
                    </a:solidFill>
                    <a:latin typeface="Times New Roman" panose="02020603050405020304" pitchFamily="18" charset="0"/>
                  </a:defRPr>
                </a:lvl6pPr>
                <a:lvl7pPr eaLnBrk="0" fontAlgn="base" hangingPunct="0">
                  <a:spcBef>
                    <a:spcPct val="0"/>
                  </a:spcBef>
                  <a:spcAft>
                    <a:spcPct val="0"/>
                  </a:spcAft>
                  <a:defRPr sz="2400">
                    <a:solidFill>
                      <a:schemeClr val="tx1"/>
                    </a:solidFill>
                    <a:latin typeface="Times New Roman" panose="02020603050405020304" pitchFamily="18" charset="0"/>
                  </a:defRPr>
                </a:lvl7pPr>
                <a:lvl8pPr eaLnBrk="0" fontAlgn="base" hangingPunct="0">
                  <a:spcBef>
                    <a:spcPct val="0"/>
                  </a:spcBef>
                  <a:spcAft>
                    <a:spcPct val="0"/>
                  </a:spcAft>
                  <a:defRPr sz="2400">
                    <a:solidFill>
                      <a:schemeClr val="tx1"/>
                    </a:solidFill>
                    <a:latin typeface="Times New Roman" panose="02020603050405020304" pitchFamily="18" charset="0"/>
                  </a:defRPr>
                </a:lvl8pPr>
                <a:lvl9pPr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spcAft>
                    <a:spcPct val="25000"/>
                  </a:spcAft>
                </a:pPr>
                <a:r>
                  <a:rPr lang="en-US" altLang="zh-CN" sz="2000" dirty="0">
                    <a:latin typeface="Arial" panose="020B0604020202020204" pitchFamily="34" charset="0"/>
                    <a:ea typeface="宋体" panose="02010600030101010101" pitchFamily="2" charset="-122"/>
                  </a:rPr>
                  <a:t>Property 1: Gain is infinite </a:t>
                </a:r>
                <a14:m>
                  <m:oMath xmlns:m="http://schemas.openxmlformats.org/officeDocument/2006/math">
                    <m:r>
                      <a:rPr lang="zh-CN" altLang="en-US" sz="2000" i="1" dirty="0">
                        <a:latin typeface="Cambria Math" panose="02040503050406030204" pitchFamily="18" charset="0"/>
                      </a:rPr>
                      <m:t>⟹</m:t>
                    </m:r>
                  </m:oMath>
                </a14:m>
                <a:r>
                  <a:rPr lang="en-US" altLang="zh-CN" sz="2000" dirty="0">
                    <a:latin typeface="Arial" panose="020B0604020202020204" pitchFamily="34" charset="0"/>
                    <a:ea typeface="宋体" panose="02010600030101010101" pitchFamily="2" charset="-122"/>
                  </a:rPr>
                  <a:t> The </a:t>
                </a:r>
                <a:r>
                  <a:rPr lang="en-US" altLang="zh-CN" sz="2000" dirty="0">
                    <a:solidFill>
                      <a:schemeClr val="accent2"/>
                    </a:solidFill>
                    <a:latin typeface="Arial" panose="020B0604020202020204" pitchFamily="34" charset="0"/>
                    <a:ea typeface="宋体" panose="02010600030101010101" pitchFamily="2" charset="-122"/>
                  </a:rPr>
                  <a:t>potential</a:t>
                </a:r>
                <a:r>
                  <a:rPr lang="en-US" altLang="zh-CN" sz="2000" dirty="0">
                    <a:latin typeface="Arial" panose="020B0604020202020204" pitchFamily="34" charset="0"/>
                    <a:ea typeface="宋体" panose="02010600030101010101" pitchFamily="2" charset="-122"/>
                  </a:rPr>
                  <a:t> between the op-amp input terminals, </a:t>
                </a:r>
                <a:r>
                  <a:rPr lang="en-US" altLang="zh-CN" sz="2000" i="1" dirty="0">
                    <a:latin typeface="Arial" panose="020B0604020202020204" pitchFamily="34" charset="0"/>
                    <a:ea typeface="宋体" panose="02010600030101010101" pitchFamily="2" charset="-122"/>
                  </a:rPr>
                  <a:t>v</a:t>
                </a:r>
                <a:r>
                  <a:rPr lang="en-US" altLang="zh-CN" sz="2000" baseline="-25000" dirty="0">
                    <a:latin typeface="Arial" panose="020B0604020202020204" pitchFamily="34" charset="0"/>
                    <a:ea typeface="宋体" panose="02010600030101010101" pitchFamily="2" charset="-122"/>
                  </a:rPr>
                  <a:t>(+)</a:t>
                </a:r>
                <a:r>
                  <a:rPr lang="en-US" altLang="zh-CN" sz="2000" dirty="0">
                    <a:latin typeface="Arial" panose="020B0604020202020204" pitchFamily="34" charset="0"/>
                    <a:ea typeface="宋体" panose="02010600030101010101" pitchFamily="2" charset="-122"/>
                  </a:rPr>
                  <a:t> – </a:t>
                </a:r>
                <a:r>
                  <a:rPr lang="en-US" altLang="zh-CN" sz="2000" i="1" dirty="0">
                    <a:latin typeface="Arial" panose="020B0604020202020204" pitchFamily="34" charset="0"/>
                    <a:ea typeface="宋体" panose="02010600030101010101" pitchFamily="2" charset="-122"/>
                  </a:rPr>
                  <a:t>v</a:t>
                </a:r>
                <a:r>
                  <a:rPr lang="en-US" altLang="zh-CN" sz="2000" baseline="-25000" dirty="0">
                    <a:latin typeface="Arial" panose="020B0604020202020204" pitchFamily="34" charset="0"/>
                    <a:ea typeface="宋体" panose="02010600030101010101" pitchFamily="2" charset="-122"/>
                  </a:rPr>
                  <a:t>(-)</a:t>
                </a:r>
                <a:r>
                  <a:rPr lang="en-US" altLang="zh-CN" sz="2000" dirty="0">
                    <a:latin typeface="Arial" panose="020B0604020202020204" pitchFamily="34" charset="0"/>
                    <a:ea typeface="宋体" panose="02010600030101010101" pitchFamily="2" charset="-122"/>
                  </a:rPr>
                  <a:t>, equals </a:t>
                </a:r>
                <a:r>
                  <a:rPr lang="en-US" altLang="zh-CN" sz="2000" dirty="0">
                    <a:solidFill>
                      <a:schemeClr val="accent2"/>
                    </a:solidFill>
                    <a:latin typeface="Arial" panose="020B0604020202020204" pitchFamily="34" charset="0"/>
                    <a:ea typeface="宋体" panose="02010600030101010101" pitchFamily="2" charset="-122"/>
                  </a:rPr>
                  <a:t>zero</a:t>
                </a:r>
                <a:r>
                  <a:rPr lang="en-US" altLang="zh-CN" sz="2000" dirty="0">
                    <a:latin typeface="Arial" panose="020B0604020202020204" pitchFamily="34" charset="0"/>
                    <a:ea typeface="宋体" panose="02010600030101010101" pitchFamily="2" charset="-122"/>
                  </a:rPr>
                  <a:t>.</a:t>
                </a:r>
                <a:endParaRPr lang="en-US" altLang="zh-CN" dirty="0">
                  <a:ea typeface="宋体" panose="02010600030101010101" pitchFamily="2" charset="-122"/>
                </a:endParaRPr>
              </a:p>
            </p:txBody>
          </p:sp>
        </mc:Choice>
        <mc:Fallback xmlns="">
          <p:sp>
            <p:nvSpPr>
              <p:cNvPr id="537603" name="Text Box 3"/>
              <p:cNvSpPr txBox="1">
                <a:spLocks noRot="1" noChangeAspect="1" noMove="1" noResize="1" noEditPoints="1" noAdjustHandles="1" noChangeArrowheads="1" noChangeShapeType="1" noTextEdit="1"/>
              </p:cNvSpPr>
              <p:nvPr/>
            </p:nvSpPr>
            <p:spPr bwMode="auto">
              <a:xfrm>
                <a:off x="550862" y="2447442"/>
                <a:ext cx="8223250" cy="707886"/>
              </a:xfrm>
              <a:prstGeom prst="rect">
                <a:avLst/>
              </a:prstGeom>
              <a:blipFill>
                <a:blip r:embed="rId2"/>
                <a:stretch>
                  <a:fillRect l="-741" t="-2564" b="-1453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grpSp>
        <p:nvGrpSpPr>
          <p:cNvPr id="537604" name="Group 4"/>
          <p:cNvGrpSpPr>
            <a:grpSpLocks/>
          </p:cNvGrpSpPr>
          <p:nvPr/>
        </p:nvGrpSpPr>
        <p:grpSpPr bwMode="auto">
          <a:xfrm>
            <a:off x="3048000" y="4383570"/>
            <a:ext cx="3268663" cy="1438275"/>
            <a:chOff x="336" y="1056"/>
            <a:chExt cx="2059" cy="906"/>
          </a:xfrm>
        </p:grpSpPr>
        <p:sp>
          <p:nvSpPr>
            <p:cNvPr id="537605" name="Rectangle 5"/>
            <p:cNvSpPr>
              <a:spLocks noChangeArrowheads="1"/>
            </p:cNvSpPr>
            <p:nvPr/>
          </p:nvSpPr>
          <p:spPr bwMode="auto">
            <a:xfrm>
              <a:off x="1631" y="1062"/>
              <a:ext cx="15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zh-CN" sz="2000">
                  <a:solidFill>
                    <a:srgbClr val="000000"/>
                  </a:solidFill>
                  <a:latin typeface="Times" panose="02020603050405020304" pitchFamily="18" charset="0"/>
                  <a:ea typeface="宋体" panose="02010600030101010101" pitchFamily="2" charset="-122"/>
                </a:rPr>
                <a:t>R</a:t>
              </a:r>
              <a:r>
                <a:rPr lang="en-US" altLang="zh-CN" sz="2000" baseline="-25000">
                  <a:solidFill>
                    <a:srgbClr val="000000"/>
                  </a:solidFill>
                  <a:latin typeface="Times" panose="02020603050405020304" pitchFamily="18" charset="0"/>
                  <a:ea typeface="宋体" panose="02010600030101010101" pitchFamily="2" charset="-122"/>
                </a:rPr>
                <a:t>2</a:t>
              </a:r>
              <a:endParaRPr lang="en-US" altLang="zh-CN" sz="2000">
                <a:latin typeface="Arial" panose="020B0604020202020204" pitchFamily="34" charset="0"/>
                <a:ea typeface="宋体" panose="02010600030101010101" pitchFamily="2" charset="-122"/>
              </a:endParaRPr>
            </a:p>
          </p:txBody>
        </p:sp>
        <p:sp>
          <p:nvSpPr>
            <p:cNvPr id="537606" name="Rectangle 6"/>
            <p:cNvSpPr>
              <a:spLocks noChangeArrowheads="1"/>
            </p:cNvSpPr>
            <p:nvPr/>
          </p:nvSpPr>
          <p:spPr bwMode="auto">
            <a:xfrm>
              <a:off x="1012" y="1056"/>
              <a:ext cx="15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zh-CN" sz="2000">
                  <a:solidFill>
                    <a:srgbClr val="000000"/>
                  </a:solidFill>
                  <a:latin typeface="Times" panose="02020603050405020304" pitchFamily="18" charset="0"/>
                  <a:ea typeface="宋体" panose="02010600030101010101" pitchFamily="2" charset="-122"/>
                </a:rPr>
                <a:t>R</a:t>
              </a:r>
              <a:r>
                <a:rPr lang="en-US" altLang="zh-CN" sz="2000" baseline="-25000">
                  <a:solidFill>
                    <a:srgbClr val="000000"/>
                  </a:solidFill>
                  <a:latin typeface="Times" panose="02020603050405020304" pitchFamily="18" charset="0"/>
                  <a:ea typeface="宋体" panose="02010600030101010101" pitchFamily="2" charset="-122"/>
                </a:rPr>
                <a:t>1</a:t>
              </a:r>
              <a:endParaRPr lang="en-US" altLang="zh-CN" sz="2000">
                <a:latin typeface="Arial" panose="020B0604020202020204" pitchFamily="34" charset="0"/>
                <a:ea typeface="宋体" panose="02010600030101010101" pitchFamily="2" charset="-122"/>
              </a:endParaRPr>
            </a:p>
          </p:txBody>
        </p:sp>
        <p:grpSp>
          <p:nvGrpSpPr>
            <p:cNvPr id="537607" name="Group 7"/>
            <p:cNvGrpSpPr>
              <a:grpSpLocks/>
            </p:cNvGrpSpPr>
            <p:nvPr/>
          </p:nvGrpSpPr>
          <p:grpSpPr bwMode="auto">
            <a:xfrm>
              <a:off x="1450" y="1559"/>
              <a:ext cx="384" cy="403"/>
              <a:chOff x="2018" y="3608"/>
              <a:chExt cx="384" cy="403"/>
            </a:xfrm>
          </p:grpSpPr>
          <p:sp>
            <p:nvSpPr>
              <p:cNvPr id="537608" name="AutoShape 8"/>
              <p:cNvSpPr>
                <a:spLocks noChangeArrowheads="1"/>
              </p:cNvSpPr>
              <p:nvPr/>
            </p:nvSpPr>
            <p:spPr bwMode="auto">
              <a:xfrm rot="5400000">
                <a:off x="2018" y="3627"/>
                <a:ext cx="384" cy="384"/>
              </a:xfrm>
              <a:prstGeom prst="triangle">
                <a:avLst>
                  <a:gd name="adj" fmla="val 50000"/>
                </a:avLst>
              </a:prstGeom>
              <a:solidFill>
                <a:srgbClr val="FF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7609" name="Rectangle 9"/>
              <p:cNvSpPr>
                <a:spLocks noChangeArrowheads="1"/>
              </p:cNvSpPr>
              <p:nvPr/>
            </p:nvSpPr>
            <p:spPr bwMode="auto">
              <a:xfrm>
                <a:off x="2049" y="3608"/>
                <a:ext cx="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zh-CN" sz="2200">
                    <a:solidFill>
                      <a:srgbClr val="000000"/>
                    </a:solidFill>
                    <a:latin typeface="Symbol" panose="05050102010706020507" pitchFamily="18" charset="2"/>
                    <a:ea typeface="宋体" panose="02010600030101010101" pitchFamily="2" charset="-122"/>
                  </a:rPr>
                  <a:t>-</a:t>
                </a:r>
                <a:endParaRPr lang="en-US" altLang="zh-CN" sz="2000">
                  <a:latin typeface="Arial" panose="020B0604020202020204" pitchFamily="34" charset="0"/>
                  <a:ea typeface="宋体" panose="02010600030101010101" pitchFamily="2" charset="-122"/>
                </a:endParaRPr>
              </a:p>
            </p:txBody>
          </p:sp>
          <p:sp>
            <p:nvSpPr>
              <p:cNvPr id="537610" name="Rectangle 10"/>
              <p:cNvSpPr>
                <a:spLocks noChangeArrowheads="1"/>
              </p:cNvSpPr>
              <p:nvPr/>
            </p:nvSpPr>
            <p:spPr bwMode="auto">
              <a:xfrm>
                <a:off x="2049" y="3791"/>
                <a:ext cx="99"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zh-CN" sz="2200">
                    <a:solidFill>
                      <a:srgbClr val="000000"/>
                    </a:solidFill>
                    <a:latin typeface="Times" panose="02020603050405020304" pitchFamily="18" charset="0"/>
                    <a:ea typeface="宋体" panose="02010600030101010101" pitchFamily="2" charset="-122"/>
                  </a:rPr>
                  <a:t>+</a:t>
                </a:r>
                <a:endParaRPr lang="en-US" altLang="zh-CN" sz="2000">
                  <a:latin typeface="Arial" panose="020B0604020202020204" pitchFamily="34" charset="0"/>
                  <a:ea typeface="宋体" panose="02010600030101010101" pitchFamily="2" charset="-122"/>
                </a:endParaRPr>
              </a:p>
            </p:txBody>
          </p:sp>
        </p:grpSp>
        <p:grpSp>
          <p:nvGrpSpPr>
            <p:cNvPr id="537611" name="Group 11"/>
            <p:cNvGrpSpPr>
              <a:grpSpLocks noChangeAspect="1"/>
            </p:cNvGrpSpPr>
            <p:nvPr/>
          </p:nvGrpSpPr>
          <p:grpSpPr bwMode="auto">
            <a:xfrm rot="-5400000">
              <a:off x="870" y="1007"/>
              <a:ext cx="98" cy="621"/>
              <a:chOff x="1939" y="2585"/>
              <a:chExt cx="131" cy="794"/>
            </a:xfrm>
          </p:grpSpPr>
          <p:grpSp>
            <p:nvGrpSpPr>
              <p:cNvPr id="537612" name="Group 12"/>
              <p:cNvGrpSpPr>
                <a:grpSpLocks noChangeAspect="1"/>
              </p:cNvGrpSpPr>
              <p:nvPr/>
            </p:nvGrpSpPr>
            <p:grpSpPr bwMode="auto">
              <a:xfrm rot="5400000">
                <a:off x="1913" y="2916"/>
                <a:ext cx="184" cy="131"/>
                <a:chOff x="1777" y="2942"/>
                <a:chExt cx="345" cy="245"/>
              </a:xfrm>
            </p:grpSpPr>
            <p:sp>
              <p:nvSpPr>
                <p:cNvPr id="537613" name="Line 13"/>
                <p:cNvSpPr>
                  <a:spLocks noChangeAspect="1" noChangeShapeType="1"/>
                </p:cNvSpPr>
                <p:nvPr/>
              </p:nvSpPr>
              <p:spPr bwMode="auto">
                <a:xfrm rot="-5400000">
                  <a:off x="1724" y="2996"/>
                  <a:ext cx="158" cy="5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7614" name="Line 14"/>
                <p:cNvSpPr>
                  <a:spLocks noChangeAspect="1" noChangeShapeType="1"/>
                </p:cNvSpPr>
                <p:nvPr/>
              </p:nvSpPr>
              <p:spPr bwMode="auto">
                <a:xfrm rot="16200000" flipH="1">
                  <a:off x="1743" y="3027"/>
                  <a:ext cx="245" cy="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7615" name="Line 15"/>
                <p:cNvSpPr>
                  <a:spLocks noChangeAspect="1" noChangeShapeType="1"/>
                </p:cNvSpPr>
                <p:nvPr/>
              </p:nvSpPr>
              <p:spPr bwMode="auto">
                <a:xfrm rot="-5400000">
                  <a:off x="1815" y="3048"/>
                  <a:ext cx="227" cy="5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7616" name="Line 16"/>
                <p:cNvSpPr>
                  <a:spLocks noChangeAspect="1" noChangeShapeType="1"/>
                </p:cNvSpPr>
                <p:nvPr/>
              </p:nvSpPr>
              <p:spPr bwMode="auto">
                <a:xfrm rot="16200000" flipH="1">
                  <a:off x="1875" y="3039"/>
                  <a:ext cx="227" cy="7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7617" name="Line 17"/>
                <p:cNvSpPr>
                  <a:spLocks noChangeAspect="1" noChangeShapeType="1"/>
                </p:cNvSpPr>
                <p:nvPr/>
              </p:nvSpPr>
              <p:spPr bwMode="auto">
                <a:xfrm rot="-5400000">
                  <a:off x="1936" y="3048"/>
                  <a:ext cx="227" cy="5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7618" name="Line 18"/>
                <p:cNvSpPr>
                  <a:spLocks noChangeAspect="1" noChangeShapeType="1"/>
                </p:cNvSpPr>
                <p:nvPr/>
              </p:nvSpPr>
              <p:spPr bwMode="auto">
                <a:xfrm rot="16200000" flipH="1">
                  <a:off x="2028" y="3007"/>
                  <a:ext cx="141" cy="4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537619" name="Line 19"/>
              <p:cNvSpPr>
                <a:spLocks noChangeAspect="1" noChangeShapeType="1"/>
              </p:cNvSpPr>
              <p:nvPr/>
            </p:nvSpPr>
            <p:spPr bwMode="auto">
              <a:xfrm flipV="1">
                <a:off x="1993" y="2585"/>
                <a:ext cx="0" cy="30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7620" name="Line 20"/>
              <p:cNvSpPr>
                <a:spLocks noChangeAspect="1" noChangeShapeType="1"/>
              </p:cNvSpPr>
              <p:nvPr/>
            </p:nvSpPr>
            <p:spPr bwMode="auto">
              <a:xfrm flipV="1">
                <a:off x="1994" y="3074"/>
                <a:ext cx="0" cy="30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537621" name="Group 21"/>
            <p:cNvGrpSpPr>
              <a:grpSpLocks noChangeAspect="1"/>
            </p:cNvGrpSpPr>
            <p:nvPr/>
          </p:nvGrpSpPr>
          <p:grpSpPr bwMode="auto">
            <a:xfrm rot="-5400000">
              <a:off x="1485" y="1009"/>
              <a:ext cx="98" cy="616"/>
              <a:chOff x="1939" y="2585"/>
              <a:chExt cx="131" cy="788"/>
            </a:xfrm>
          </p:grpSpPr>
          <p:grpSp>
            <p:nvGrpSpPr>
              <p:cNvPr id="537622" name="Group 22"/>
              <p:cNvGrpSpPr>
                <a:grpSpLocks noChangeAspect="1"/>
              </p:cNvGrpSpPr>
              <p:nvPr/>
            </p:nvGrpSpPr>
            <p:grpSpPr bwMode="auto">
              <a:xfrm rot="5400000">
                <a:off x="1913" y="2916"/>
                <a:ext cx="184" cy="131"/>
                <a:chOff x="1777" y="2942"/>
                <a:chExt cx="345" cy="245"/>
              </a:xfrm>
            </p:grpSpPr>
            <p:sp>
              <p:nvSpPr>
                <p:cNvPr id="537623" name="Line 23"/>
                <p:cNvSpPr>
                  <a:spLocks noChangeAspect="1" noChangeShapeType="1"/>
                </p:cNvSpPr>
                <p:nvPr/>
              </p:nvSpPr>
              <p:spPr bwMode="auto">
                <a:xfrm rot="-5400000">
                  <a:off x="1724" y="2996"/>
                  <a:ext cx="158" cy="5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7624" name="Line 24"/>
                <p:cNvSpPr>
                  <a:spLocks noChangeAspect="1" noChangeShapeType="1"/>
                </p:cNvSpPr>
                <p:nvPr/>
              </p:nvSpPr>
              <p:spPr bwMode="auto">
                <a:xfrm rot="16200000" flipH="1">
                  <a:off x="1743" y="3027"/>
                  <a:ext cx="245" cy="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7625" name="Line 25"/>
                <p:cNvSpPr>
                  <a:spLocks noChangeAspect="1" noChangeShapeType="1"/>
                </p:cNvSpPr>
                <p:nvPr/>
              </p:nvSpPr>
              <p:spPr bwMode="auto">
                <a:xfrm rot="-5400000">
                  <a:off x="1815" y="3048"/>
                  <a:ext cx="227" cy="5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7626" name="Line 26"/>
                <p:cNvSpPr>
                  <a:spLocks noChangeAspect="1" noChangeShapeType="1"/>
                </p:cNvSpPr>
                <p:nvPr/>
              </p:nvSpPr>
              <p:spPr bwMode="auto">
                <a:xfrm rot="16200000" flipH="1">
                  <a:off x="1875" y="3039"/>
                  <a:ext cx="227" cy="7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7627" name="Line 27"/>
                <p:cNvSpPr>
                  <a:spLocks noChangeAspect="1" noChangeShapeType="1"/>
                </p:cNvSpPr>
                <p:nvPr/>
              </p:nvSpPr>
              <p:spPr bwMode="auto">
                <a:xfrm rot="-5400000">
                  <a:off x="1936" y="3048"/>
                  <a:ext cx="227" cy="5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7628" name="Line 28"/>
                <p:cNvSpPr>
                  <a:spLocks noChangeAspect="1" noChangeShapeType="1"/>
                </p:cNvSpPr>
                <p:nvPr/>
              </p:nvSpPr>
              <p:spPr bwMode="auto">
                <a:xfrm rot="16200000" flipH="1">
                  <a:off x="2028" y="3007"/>
                  <a:ext cx="141" cy="4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537629" name="Line 29"/>
              <p:cNvSpPr>
                <a:spLocks noChangeAspect="1" noChangeShapeType="1"/>
              </p:cNvSpPr>
              <p:nvPr/>
            </p:nvSpPr>
            <p:spPr bwMode="auto">
              <a:xfrm flipV="1">
                <a:off x="1993" y="2585"/>
                <a:ext cx="0" cy="30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7630" name="Line 30"/>
              <p:cNvSpPr>
                <a:spLocks noChangeAspect="1" noChangeShapeType="1"/>
              </p:cNvSpPr>
              <p:nvPr/>
            </p:nvSpPr>
            <p:spPr bwMode="auto">
              <a:xfrm flipV="1">
                <a:off x="1988" y="3068"/>
                <a:ext cx="0" cy="30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537631" name="Line 31"/>
            <p:cNvSpPr>
              <a:spLocks noChangeShapeType="1"/>
            </p:cNvSpPr>
            <p:nvPr/>
          </p:nvSpPr>
          <p:spPr bwMode="auto">
            <a:xfrm flipV="1">
              <a:off x="1839" y="1325"/>
              <a:ext cx="0" cy="44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37632" name="Line 32"/>
            <p:cNvSpPr>
              <a:spLocks noChangeShapeType="1"/>
            </p:cNvSpPr>
            <p:nvPr/>
          </p:nvSpPr>
          <p:spPr bwMode="auto">
            <a:xfrm flipH="1">
              <a:off x="1247" y="1692"/>
              <a:ext cx="19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7633" name="Line 33"/>
            <p:cNvSpPr>
              <a:spLocks noChangeShapeType="1"/>
            </p:cNvSpPr>
            <p:nvPr/>
          </p:nvSpPr>
          <p:spPr bwMode="auto">
            <a:xfrm flipV="1">
              <a:off x="1247" y="1320"/>
              <a:ext cx="0" cy="38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nvGrpSpPr>
            <p:cNvPr id="537634" name="Group 34"/>
            <p:cNvGrpSpPr>
              <a:grpSpLocks/>
            </p:cNvGrpSpPr>
            <p:nvPr/>
          </p:nvGrpSpPr>
          <p:grpSpPr bwMode="auto">
            <a:xfrm>
              <a:off x="457" y="1329"/>
              <a:ext cx="308" cy="228"/>
              <a:chOff x="1673" y="2829"/>
              <a:chExt cx="308" cy="228"/>
            </a:xfrm>
          </p:grpSpPr>
          <p:sp>
            <p:nvSpPr>
              <p:cNvPr id="537635" name="Freeform 35"/>
              <p:cNvSpPr>
                <a:spLocks/>
              </p:cNvSpPr>
              <p:nvPr/>
            </p:nvSpPr>
            <p:spPr bwMode="auto">
              <a:xfrm>
                <a:off x="1867" y="3041"/>
                <a:ext cx="17" cy="16"/>
              </a:xfrm>
              <a:custGeom>
                <a:avLst/>
                <a:gdLst>
                  <a:gd name="T0" fmla="*/ 17 w 17"/>
                  <a:gd name="T1" fmla="*/ 16 h 16"/>
                  <a:gd name="T2" fmla="*/ 17 w 17"/>
                  <a:gd name="T3" fmla="*/ 0 h 16"/>
                  <a:gd name="T4" fmla="*/ 17 w 17"/>
                  <a:gd name="T5" fmla="*/ 0 h 16"/>
                  <a:gd name="T6" fmla="*/ 0 w 17"/>
                  <a:gd name="T7" fmla="*/ 0 h 16"/>
                  <a:gd name="T8" fmla="*/ 0 w 17"/>
                  <a:gd name="T9" fmla="*/ 16 h 16"/>
                  <a:gd name="T10" fmla="*/ 0 w 17"/>
                  <a:gd name="T11" fmla="*/ 16 h 16"/>
                  <a:gd name="T12" fmla="*/ 17 w 17"/>
                  <a:gd name="T13" fmla="*/ 16 h 16"/>
                  <a:gd name="T14" fmla="*/ 17 w 17"/>
                  <a:gd name="T15" fmla="*/ 16 h 16"/>
                  <a:gd name="T16" fmla="*/ 17 w 17"/>
                  <a:gd name="T17" fmla="*/ 1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6">
                    <a:moveTo>
                      <a:pt x="17" y="16"/>
                    </a:moveTo>
                    <a:lnTo>
                      <a:pt x="17" y="0"/>
                    </a:lnTo>
                    <a:lnTo>
                      <a:pt x="17" y="0"/>
                    </a:lnTo>
                    <a:lnTo>
                      <a:pt x="0" y="0"/>
                    </a:lnTo>
                    <a:lnTo>
                      <a:pt x="0" y="16"/>
                    </a:lnTo>
                    <a:lnTo>
                      <a:pt x="0" y="16"/>
                    </a:lnTo>
                    <a:lnTo>
                      <a:pt x="17" y="16"/>
                    </a:lnTo>
                    <a:lnTo>
                      <a:pt x="17" y="16"/>
                    </a:lnTo>
                    <a:lnTo>
                      <a:pt x="17" y="16"/>
                    </a:lnTo>
                    <a:close/>
                  </a:path>
                </a:pathLst>
              </a:cu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7636" name="Freeform 36"/>
              <p:cNvSpPr>
                <a:spLocks/>
              </p:cNvSpPr>
              <p:nvPr/>
            </p:nvSpPr>
            <p:spPr bwMode="auto">
              <a:xfrm>
                <a:off x="1770" y="3041"/>
                <a:ext cx="16" cy="16"/>
              </a:xfrm>
              <a:custGeom>
                <a:avLst/>
                <a:gdLst>
                  <a:gd name="T0" fmla="*/ 16 w 16"/>
                  <a:gd name="T1" fmla="*/ 16 h 16"/>
                  <a:gd name="T2" fmla="*/ 16 w 16"/>
                  <a:gd name="T3" fmla="*/ 0 h 16"/>
                  <a:gd name="T4" fmla="*/ 16 w 16"/>
                  <a:gd name="T5" fmla="*/ 0 h 16"/>
                  <a:gd name="T6" fmla="*/ 0 w 16"/>
                  <a:gd name="T7" fmla="*/ 0 h 16"/>
                  <a:gd name="T8" fmla="*/ 0 w 16"/>
                  <a:gd name="T9" fmla="*/ 16 h 16"/>
                  <a:gd name="T10" fmla="*/ 0 w 16"/>
                  <a:gd name="T11" fmla="*/ 16 h 16"/>
                  <a:gd name="T12" fmla="*/ 16 w 16"/>
                  <a:gd name="T13" fmla="*/ 16 h 16"/>
                  <a:gd name="T14" fmla="*/ 16 w 16"/>
                  <a:gd name="T15" fmla="*/ 16 h 16"/>
                  <a:gd name="T16" fmla="*/ 16 w 16"/>
                  <a:gd name="T17" fmla="*/ 1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6">
                    <a:moveTo>
                      <a:pt x="16" y="16"/>
                    </a:moveTo>
                    <a:lnTo>
                      <a:pt x="16" y="0"/>
                    </a:lnTo>
                    <a:lnTo>
                      <a:pt x="16" y="0"/>
                    </a:lnTo>
                    <a:lnTo>
                      <a:pt x="0" y="0"/>
                    </a:lnTo>
                    <a:lnTo>
                      <a:pt x="0" y="16"/>
                    </a:lnTo>
                    <a:lnTo>
                      <a:pt x="0" y="16"/>
                    </a:lnTo>
                    <a:lnTo>
                      <a:pt x="16" y="16"/>
                    </a:lnTo>
                    <a:lnTo>
                      <a:pt x="16" y="16"/>
                    </a:lnTo>
                    <a:lnTo>
                      <a:pt x="16" y="16"/>
                    </a:lnTo>
                    <a:close/>
                  </a:path>
                </a:pathLst>
              </a:cu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7637" name="Rectangle 37"/>
              <p:cNvSpPr>
                <a:spLocks noChangeArrowheads="1"/>
              </p:cNvSpPr>
              <p:nvPr/>
            </p:nvSpPr>
            <p:spPr bwMode="auto">
              <a:xfrm>
                <a:off x="1770" y="3041"/>
                <a:ext cx="97" cy="16"/>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37638" name="Freeform 38"/>
              <p:cNvSpPr>
                <a:spLocks/>
              </p:cNvSpPr>
              <p:nvPr/>
            </p:nvSpPr>
            <p:spPr bwMode="auto">
              <a:xfrm>
                <a:off x="1916" y="3008"/>
                <a:ext cx="16" cy="16"/>
              </a:xfrm>
              <a:custGeom>
                <a:avLst/>
                <a:gdLst>
                  <a:gd name="T0" fmla="*/ 16 w 16"/>
                  <a:gd name="T1" fmla="*/ 16 h 16"/>
                  <a:gd name="T2" fmla="*/ 16 w 16"/>
                  <a:gd name="T3" fmla="*/ 0 h 16"/>
                  <a:gd name="T4" fmla="*/ 16 w 16"/>
                  <a:gd name="T5" fmla="*/ 0 h 16"/>
                  <a:gd name="T6" fmla="*/ 0 w 16"/>
                  <a:gd name="T7" fmla="*/ 0 h 16"/>
                  <a:gd name="T8" fmla="*/ 0 w 16"/>
                  <a:gd name="T9" fmla="*/ 16 h 16"/>
                  <a:gd name="T10" fmla="*/ 0 w 16"/>
                  <a:gd name="T11" fmla="*/ 16 h 16"/>
                  <a:gd name="T12" fmla="*/ 16 w 16"/>
                  <a:gd name="T13" fmla="*/ 16 h 16"/>
                  <a:gd name="T14" fmla="*/ 16 w 16"/>
                  <a:gd name="T15" fmla="*/ 16 h 16"/>
                  <a:gd name="T16" fmla="*/ 16 w 16"/>
                  <a:gd name="T17" fmla="*/ 1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6">
                    <a:moveTo>
                      <a:pt x="16" y="16"/>
                    </a:moveTo>
                    <a:lnTo>
                      <a:pt x="16" y="0"/>
                    </a:lnTo>
                    <a:lnTo>
                      <a:pt x="16" y="0"/>
                    </a:lnTo>
                    <a:lnTo>
                      <a:pt x="0" y="0"/>
                    </a:lnTo>
                    <a:lnTo>
                      <a:pt x="0" y="16"/>
                    </a:lnTo>
                    <a:lnTo>
                      <a:pt x="0" y="16"/>
                    </a:lnTo>
                    <a:lnTo>
                      <a:pt x="16" y="16"/>
                    </a:lnTo>
                    <a:lnTo>
                      <a:pt x="16" y="16"/>
                    </a:lnTo>
                    <a:lnTo>
                      <a:pt x="16" y="16"/>
                    </a:lnTo>
                    <a:close/>
                  </a:path>
                </a:pathLst>
              </a:cu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7639" name="Freeform 39"/>
              <p:cNvSpPr>
                <a:spLocks/>
              </p:cNvSpPr>
              <p:nvPr/>
            </p:nvSpPr>
            <p:spPr bwMode="auto">
              <a:xfrm>
                <a:off x="1722" y="3008"/>
                <a:ext cx="16" cy="16"/>
              </a:xfrm>
              <a:custGeom>
                <a:avLst/>
                <a:gdLst>
                  <a:gd name="T0" fmla="*/ 16 w 16"/>
                  <a:gd name="T1" fmla="*/ 16 h 16"/>
                  <a:gd name="T2" fmla="*/ 16 w 16"/>
                  <a:gd name="T3" fmla="*/ 0 h 16"/>
                  <a:gd name="T4" fmla="*/ 16 w 16"/>
                  <a:gd name="T5" fmla="*/ 0 h 16"/>
                  <a:gd name="T6" fmla="*/ 0 w 16"/>
                  <a:gd name="T7" fmla="*/ 0 h 16"/>
                  <a:gd name="T8" fmla="*/ 0 w 16"/>
                  <a:gd name="T9" fmla="*/ 16 h 16"/>
                  <a:gd name="T10" fmla="*/ 0 w 16"/>
                  <a:gd name="T11" fmla="*/ 16 h 16"/>
                  <a:gd name="T12" fmla="*/ 16 w 16"/>
                  <a:gd name="T13" fmla="*/ 16 h 16"/>
                  <a:gd name="T14" fmla="*/ 16 w 16"/>
                  <a:gd name="T15" fmla="*/ 16 h 16"/>
                  <a:gd name="T16" fmla="*/ 16 w 16"/>
                  <a:gd name="T17" fmla="*/ 1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6">
                    <a:moveTo>
                      <a:pt x="16" y="16"/>
                    </a:moveTo>
                    <a:lnTo>
                      <a:pt x="16" y="0"/>
                    </a:lnTo>
                    <a:lnTo>
                      <a:pt x="16" y="0"/>
                    </a:lnTo>
                    <a:lnTo>
                      <a:pt x="0" y="0"/>
                    </a:lnTo>
                    <a:lnTo>
                      <a:pt x="0" y="16"/>
                    </a:lnTo>
                    <a:lnTo>
                      <a:pt x="0" y="16"/>
                    </a:lnTo>
                    <a:lnTo>
                      <a:pt x="16" y="16"/>
                    </a:lnTo>
                    <a:lnTo>
                      <a:pt x="16" y="16"/>
                    </a:lnTo>
                    <a:lnTo>
                      <a:pt x="16" y="16"/>
                    </a:lnTo>
                    <a:close/>
                  </a:path>
                </a:pathLst>
              </a:cu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7640" name="Rectangle 40"/>
              <p:cNvSpPr>
                <a:spLocks noChangeArrowheads="1"/>
              </p:cNvSpPr>
              <p:nvPr/>
            </p:nvSpPr>
            <p:spPr bwMode="auto">
              <a:xfrm>
                <a:off x="1722" y="3008"/>
                <a:ext cx="194" cy="16"/>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37641" name="Freeform 41"/>
              <p:cNvSpPr>
                <a:spLocks/>
              </p:cNvSpPr>
              <p:nvPr/>
            </p:nvSpPr>
            <p:spPr bwMode="auto">
              <a:xfrm>
                <a:off x="1965" y="2976"/>
                <a:ext cx="16" cy="16"/>
              </a:xfrm>
              <a:custGeom>
                <a:avLst/>
                <a:gdLst>
                  <a:gd name="T0" fmla="*/ 16 w 16"/>
                  <a:gd name="T1" fmla="*/ 16 h 16"/>
                  <a:gd name="T2" fmla="*/ 16 w 16"/>
                  <a:gd name="T3" fmla="*/ 0 h 16"/>
                  <a:gd name="T4" fmla="*/ 16 w 16"/>
                  <a:gd name="T5" fmla="*/ 0 h 16"/>
                  <a:gd name="T6" fmla="*/ 0 w 16"/>
                  <a:gd name="T7" fmla="*/ 0 h 16"/>
                  <a:gd name="T8" fmla="*/ 0 w 16"/>
                  <a:gd name="T9" fmla="*/ 16 h 16"/>
                  <a:gd name="T10" fmla="*/ 0 w 16"/>
                  <a:gd name="T11" fmla="*/ 16 h 16"/>
                  <a:gd name="T12" fmla="*/ 16 w 16"/>
                  <a:gd name="T13" fmla="*/ 16 h 16"/>
                  <a:gd name="T14" fmla="*/ 16 w 16"/>
                  <a:gd name="T15" fmla="*/ 16 h 16"/>
                  <a:gd name="T16" fmla="*/ 16 w 16"/>
                  <a:gd name="T17" fmla="*/ 1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6">
                    <a:moveTo>
                      <a:pt x="16" y="16"/>
                    </a:moveTo>
                    <a:lnTo>
                      <a:pt x="16" y="0"/>
                    </a:lnTo>
                    <a:lnTo>
                      <a:pt x="16" y="0"/>
                    </a:lnTo>
                    <a:lnTo>
                      <a:pt x="0" y="0"/>
                    </a:lnTo>
                    <a:lnTo>
                      <a:pt x="0" y="16"/>
                    </a:lnTo>
                    <a:lnTo>
                      <a:pt x="0" y="16"/>
                    </a:lnTo>
                    <a:lnTo>
                      <a:pt x="16" y="16"/>
                    </a:lnTo>
                    <a:lnTo>
                      <a:pt x="16" y="16"/>
                    </a:lnTo>
                    <a:lnTo>
                      <a:pt x="16" y="16"/>
                    </a:lnTo>
                    <a:close/>
                  </a:path>
                </a:pathLst>
              </a:cu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7642" name="Freeform 42"/>
              <p:cNvSpPr>
                <a:spLocks/>
              </p:cNvSpPr>
              <p:nvPr/>
            </p:nvSpPr>
            <p:spPr bwMode="auto">
              <a:xfrm>
                <a:off x="1673" y="2976"/>
                <a:ext cx="16" cy="16"/>
              </a:xfrm>
              <a:custGeom>
                <a:avLst/>
                <a:gdLst>
                  <a:gd name="T0" fmla="*/ 16 w 16"/>
                  <a:gd name="T1" fmla="*/ 16 h 16"/>
                  <a:gd name="T2" fmla="*/ 16 w 16"/>
                  <a:gd name="T3" fmla="*/ 0 h 16"/>
                  <a:gd name="T4" fmla="*/ 16 w 16"/>
                  <a:gd name="T5" fmla="*/ 0 h 16"/>
                  <a:gd name="T6" fmla="*/ 0 w 16"/>
                  <a:gd name="T7" fmla="*/ 0 h 16"/>
                  <a:gd name="T8" fmla="*/ 0 w 16"/>
                  <a:gd name="T9" fmla="*/ 16 h 16"/>
                  <a:gd name="T10" fmla="*/ 0 w 16"/>
                  <a:gd name="T11" fmla="*/ 16 h 16"/>
                  <a:gd name="T12" fmla="*/ 16 w 16"/>
                  <a:gd name="T13" fmla="*/ 16 h 16"/>
                  <a:gd name="T14" fmla="*/ 16 w 16"/>
                  <a:gd name="T15" fmla="*/ 16 h 16"/>
                  <a:gd name="T16" fmla="*/ 16 w 16"/>
                  <a:gd name="T17" fmla="*/ 1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6">
                    <a:moveTo>
                      <a:pt x="16" y="16"/>
                    </a:moveTo>
                    <a:lnTo>
                      <a:pt x="16" y="0"/>
                    </a:lnTo>
                    <a:lnTo>
                      <a:pt x="16" y="0"/>
                    </a:lnTo>
                    <a:lnTo>
                      <a:pt x="0" y="0"/>
                    </a:lnTo>
                    <a:lnTo>
                      <a:pt x="0" y="16"/>
                    </a:lnTo>
                    <a:lnTo>
                      <a:pt x="0" y="16"/>
                    </a:lnTo>
                    <a:lnTo>
                      <a:pt x="16" y="16"/>
                    </a:lnTo>
                    <a:lnTo>
                      <a:pt x="16" y="16"/>
                    </a:lnTo>
                    <a:lnTo>
                      <a:pt x="16" y="16"/>
                    </a:lnTo>
                    <a:close/>
                  </a:path>
                </a:pathLst>
              </a:cu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7643" name="Rectangle 43"/>
              <p:cNvSpPr>
                <a:spLocks noChangeArrowheads="1"/>
              </p:cNvSpPr>
              <p:nvPr/>
            </p:nvSpPr>
            <p:spPr bwMode="auto">
              <a:xfrm>
                <a:off x="1673" y="2976"/>
                <a:ext cx="292" cy="16"/>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37644" name="Line 44"/>
              <p:cNvSpPr>
                <a:spLocks noChangeShapeType="1"/>
              </p:cNvSpPr>
              <p:nvPr/>
            </p:nvSpPr>
            <p:spPr bwMode="auto">
              <a:xfrm flipV="1">
                <a:off x="1826" y="2829"/>
                <a:ext cx="0" cy="14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537645" name="Line 45"/>
            <p:cNvSpPr>
              <a:spLocks noChangeShapeType="1"/>
            </p:cNvSpPr>
            <p:nvPr/>
          </p:nvSpPr>
          <p:spPr bwMode="auto">
            <a:xfrm>
              <a:off x="1834" y="1770"/>
              <a:ext cx="33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7646" name="Line 46"/>
            <p:cNvSpPr>
              <a:spLocks noChangeShapeType="1"/>
            </p:cNvSpPr>
            <p:nvPr/>
          </p:nvSpPr>
          <p:spPr bwMode="auto">
            <a:xfrm flipH="1">
              <a:off x="651" y="1839"/>
              <a:ext cx="799"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7647" name="Oval 47"/>
            <p:cNvSpPr>
              <a:spLocks noChangeAspect="1" noChangeArrowheads="1"/>
            </p:cNvSpPr>
            <p:nvPr/>
          </p:nvSpPr>
          <p:spPr bwMode="auto">
            <a:xfrm>
              <a:off x="2113" y="1742"/>
              <a:ext cx="58" cy="5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7648" name="Oval 48"/>
            <p:cNvSpPr>
              <a:spLocks noChangeAspect="1" noChangeArrowheads="1"/>
            </p:cNvSpPr>
            <p:nvPr/>
          </p:nvSpPr>
          <p:spPr bwMode="auto">
            <a:xfrm>
              <a:off x="614" y="1811"/>
              <a:ext cx="58" cy="5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7649" name="Rectangle 49"/>
            <p:cNvSpPr>
              <a:spLocks noChangeArrowheads="1"/>
            </p:cNvSpPr>
            <p:nvPr/>
          </p:nvSpPr>
          <p:spPr bwMode="auto">
            <a:xfrm>
              <a:off x="2227" y="1664"/>
              <a:ext cx="16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zh-CN" sz="2000">
                  <a:solidFill>
                    <a:srgbClr val="000000"/>
                  </a:solidFill>
                  <a:latin typeface="Times" panose="02020603050405020304" pitchFamily="18" charset="0"/>
                  <a:ea typeface="宋体" panose="02010600030101010101" pitchFamily="2" charset="-122"/>
                </a:rPr>
                <a:t>V</a:t>
              </a:r>
              <a:r>
                <a:rPr lang="en-US" altLang="zh-CN" sz="2000" baseline="-25000">
                  <a:solidFill>
                    <a:srgbClr val="000000"/>
                  </a:solidFill>
                  <a:latin typeface="Times" panose="02020603050405020304" pitchFamily="18" charset="0"/>
                  <a:ea typeface="宋体" panose="02010600030101010101" pitchFamily="2" charset="-122"/>
                </a:rPr>
                <a:t>0</a:t>
              </a:r>
              <a:endParaRPr lang="en-US" altLang="zh-CN" sz="2000">
                <a:latin typeface="Arial" panose="020B0604020202020204" pitchFamily="34" charset="0"/>
                <a:ea typeface="宋体" panose="02010600030101010101" pitchFamily="2" charset="-122"/>
              </a:endParaRPr>
            </a:p>
          </p:txBody>
        </p:sp>
        <p:sp>
          <p:nvSpPr>
            <p:cNvPr id="537650" name="Rectangle 50"/>
            <p:cNvSpPr>
              <a:spLocks noChangeArrowheads="1"/>
            </p:cNvSpPr>
            <p:nvPr/>
          </p:nvSpPr>
          <p:spPr bwMode="auto">
            <a:xfrm>
              <a:off x="336" y="1761"/>
              <a:ext cx="22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zh-CN" sz="2000">
                  <a:solidFill>
                    <a:srgbClr val="000000"/>
                  </a:solidFill>
                  <a:latin typeface="Times" panose="02020603050405020304" pitchFamily="18" charset="0"/>
                  <a:ea typeface="宋体" panose="02010600030101010101" pitchFamily="2" charset="-122"/>
                </a:rPr>
                <a:t>V</a:t>
              </a:r>
              <a:r>
                <a:rPr lang="en-US" altLang="zh-CN" sz="2000" baseline="-25000">
                  <a:solidFill>
                    <a:srgbClr val="000000"/>
                  </a:solidFill>
                  <a:latin typeface="Times" panose="02020603050405020304" pitchFamily="18" charset="0"/>
                  <a:ea typeface="宋体" panose="02010600030101010101" pitchFamily="2" charset="-122"/>
                </a:rPr>
                <a:t>IN</a:t>
              </a:r>
              <a:endParaRPr lang="en-US" altLang="zh-CN" sz="2000">
                <a:latin typeface="Arial" panose="020B0604020202020204" pitchFamily="34" charset="0"/>
                <a:ea typeface="宋体" panose="02010600030101010101" pitchFamily="2" charset="-122"/>
              </a:endParaRPr>
            </a:p>
          </p:txBody>
        </p:sp>
      </p:grpSp>
      <mc:AlternateContent xmlns:mc="http://schemas.openxmlformats.org/markup-compatibility/2006" xmlns:a14="http://schemas.microsoft.com/office/drawing/2010/main">
        <mc:Choice Requires="a14">
          <p:sp>
            <p:nvSpPr>
              <p:cNvPr id="537652" name="Text Box 52"/>
              <p:cNvSpPr txBox="1">
                <a:spLocks noChangeArrowheads="1"/>
              </p:cNvSpPr>
              <p:nvPr/>
            </p:nvSpPr>
            <p:spPr bwMode="auto">
              <a:xfrm>
                <a:off x="533400" y="3471379"/>
                <a:ext cx="8223250" cy="70788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nchor="ctr">
                <a:spAutoFit/>
              </a:bodyPr>
              <a:lstStyle>
                <a:lvl1pPr>
                  <a:defRPr sz="2400">
                    <a:solidFill>
                      <a:schemeClr val="tx1"/>
                    </a:solidFill>
                    <a:latin typeface="Times New Roman" panose="02020603050405020304" pitchFamily="18" charset="0"/>
                  </a:defRPr>
                </a:lvl1pPr>
                <a:lvl2pPr marL="738188" indent="-280988">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eaLnBrk="0" fontAlgn="base" hangingPunct="0">
                  <a:spcBef>
                    <a:spcPct val="0"/>
                  </a:spcBef>
                  <a:spcAft>
                    <a:spcPct val="0"/>
                  </a:spcAft>
                  <a:defRPr sz="2400">
                    <a:solidFill>
                      <a:schemeClr val="tx1"/>
                    </a:solidFill>
                    <a:latin typeface="Times New Roman" panose="02020603050405020304" pitchFamily="18" charset="0"/>
                  </a:defRPr>
                </a:lvl6pPr>
                <a:lvl7pPr eaLnBrk="0" fontAlgn="base" hangingPunct="0">
                  <a:spcBef>
                    <a:spcPct val="0"/>
                  </a:spcBef>
                  <a:spcAft>
                    <a:spcPct val="0"/>
                  </a:spcAft>
                  <a:defRPr sz="2400">
                    <a:solidFill>
                      <a:schemeClr val="tx1"/>
                    </a:solidFill>
                    <a:latin typeface="Times New Roman" panose="02020603050405020304" pitchFamily="18" charset="0"/>
                  </a:defRPr>
                </a:lvl7pPr>
                <a:lvl8pPr eaLnBrk="0" fontAlgn="base" hangingPunct="0">
                  <a:spcBef>
                    <a:spcPct val="0"/>
                  </a:spcBef>
                  <a:spcAft>
                    <a:spcPct val="0"/>
                  </a:spcAft>
                  <a:defRPr sz="2400">
                    <a:solidFill>
                      <a:schemeClr val="tx1"/>
                    </a:solidFill>
                    <a:latin typeface="Times New Roman" panose="02020603050405020304" pitchFamily="18" charset="0"/>
                  </a:defRPr>
                </a:lvl8pPr>
                <a:lvl9pPr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spcAft>
                    <a:spcPct val="25000"/>
                  </a:spcAft>
                </a:pPr>
                <a:r>
                  <a:rPr lang="en-US" altLang="zh-CN" sz="2000" dirty="0">
                    <a:latin typeface="Arial" panose="020B0604020202020204" pitchFamily="34" charset="0"/>
                    <a:ea typeface="宋体" panose="02010600030101010101" pitchFamily="2" charset="-122"/>
                  </a:rPr>
                  <a:t>Property 2:  Input resistance is infinite </a:t>
                </a:r>
                <a14:m>
                  <m:oMath xmlns:m="http://schemas.openxmlformats.org/officeDocument/2006/math">
                    <m:r>
                      <a:rPr lang="zh-CN" altLang="en-US" sz="2000" i="1" dirty="0">
                        <a:latin typeface="Cambria Math" panose="02040503050406030204" pitchFamily="18" charset="0"/>
                      </a:rPr>
                      <m:t>⟹</m:t>
                    </m:r>
                  </m:oMath>
                </a14:m>
                <a:r>
                  <a:rPr lang="en-US" altLang="zh-CN" sz="2000" dirty="0">
                    <a:latin typeface="Arial" panose="020B0604020202020204" pitchFamily="34" charset="0"/>
                    <a:ea typeface="宋体" panose="02010600030101010101" pitchFamily="2" charset="-122"/>
                  </a:rPr>
                  <a:t> The </a:t>
                </a:r>
                <a:r>
                  <a:rPr lang="en-US" altLang="zh-CN" sz="2000" dirty="0">
                    <a:solidFill>
                      <a:srgbClr val="FF0000"/>
                    </a:solidFill>
                    <a:latin typeface="Arial" panose="020B0604020202020204" pitchFamily="34" charset="0"/>
                    <a:ea typeface="宋体" panose="02010600030101010101" pitchFamily="2" charset="-122"/>
                  </a:rPr>
                  <a:t>currents</a:t>
                </a:r>
                <a:r>
                  <a:rPr lang="en-US" altLang="zh-CN" sz="2000" dirty="0">
                    <a:latin typeface="Arial" panose="020B0604020202020204" pitchFamily="34" charset="0"/>
                    <a:ea typeface="宋体" panose="02010600030101010101" pitchFamily="2" charset="-122"/>
                  </a:rPr>
                  <a:t> flowing into the op-amp’s two input terminals both equal </a:t>
                </a:r>
                <a:r>
                  <a:rPr lang="en-US" altLang="zh-CN" sz="2000" dirty="0">
                    <a:solidFill>
                      <a:srgbClr val="FF0000"/>
                    </a:solidFill>
                    <a:latin typeface="Arial" panose="020B0604020202020204" pitchFamily="34" charset="0"/>
                    <a:ea typeface="宋体" panose="02010600030101010101" pitchFamily="2" charset="-122"/>
                  </a:rPr>
                  <a:t>zero</a:t>
                </a:r>
                <a:r>
                  <a:rPr lang="en-US" altLang="zh-CN" sz="2000" dirty="0">
                    <a:latin typeface="Arial" panose="020B0604020202020204" pitchFamily="34" charset="0"/>
                    <a:ea typeface="宋体" panose="02010600030101010101" pitchFamily="2" charset="-122"/>
                  </a:rPr>
                  <a:t>.</a:t>
                </a:r>
                <a:endParaRPr lang="en-US" altLang="zh-CN" dirty="0">
                  <a:ea typeface="宋体" panose="02010600030101010101" pitchFamily="2" charset="-122"/>
                </a:endParaRPr>
              </a:p>
            </p:txBody>
          </p:sp>
        </mc:Choice>
        <mc:Fallback xmlns="">
          <p:sp>
            <p:nvSpPr>
              <p:cNvPr id="537652" name="Text Box 52"/>
              <p:cNvSpPr txBox="1">
                <a:spLocks noRot="1" noChangeAspect="1" noMove="1" noResize="1" noEditPoints="1" noAdjustHandles="1" noChangeArrowheads="1" noChangeShapeType="1" noTextEdit="1"/>
              </p:cNvSpPr>
              <p:nvPr/>
            </p:nvSpPr>
            <p:spPr bwMode="auto">
              <a:xfrm>
                <a:off x="533400" y="3471379"/>
                <a:ext cx="8223250" cy="707886"/>
              </a:xfrm>
              <a:prstGeom prst="rect">
                <a:avLst/>
              </a:prstGeom>
              <a:blipFill>
                <a:blip r:embed="rId4"/>
                <a:stretch>
                  <a:fillRect l="-816" t="-2564" b="-1453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grpSp>
        <p:nvGrpSpPr>
          <p:cNvPr id="537653" name="Group 53"/>
          <p:cNvGrpSpPr>
            <a:grpSpLocks/>
          </p:cNvGrpSpPr>
          <p:nvPr/>
        </p:nvGrpSpPr>
        <p:grpSpPr bwMode="auto">
          <a:xfrm>
            <a:off x="4733926" y="4174021"/>
            <a:ext cx="3355976" cy="1582738"/>
            <a:chOff x="2734" y="2130"/>
            <a:chExt cx="2114" cy="997"/>
          </a:xfrm>
        </p:grpSpPr>
        <p:sp>
          <p:nvSpPr>
            <p:cNvPr id="537654" name="Oval 54"/>
            <p:cNvSpPr>
              <a:spLocks noChangeArrowheads="1"/>
            </p:cNvSpPr>
            <p:nvPr/>
          </p:nvSpPr>
          <p:spPr bwMode="auto">
            <a:xfrm>
              <a:off x="2734" y="2834"/>
              <a:ext cx="183" cy="293"/>
            </a:xfrm>
            <a:prstGeom prst="ellipse">
              <a:avLst/>
            </a:prstGeom>
            <a:noFill/>
            <a:ln w="19050">
              <a:solidFill>
                <a:schemeClr val="accent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37655" name="Text Box 55"/>
            <p:cNvSpPr txBox="1">
              <a:spLocks noChangeArrowheads="1"/>
            </p:cNvSpPr>
            <p:nvPr/>
          </p:nvSpPr>
          <p:spPr bwMode="auto">
            <a:xfrm>
              <a:off x="3134" y="2130"/>
              <a:ext cx="1714"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000" b="1" dirty="0">
                  <a:solidFill>
                    <a:schemeClr val="accent2"/>
                  </a:solidFill>
                  <a:ea typeface="宋体" panose="02010600030101010101" pitchFamily="2" charset="-122"/>
                </a:rPr>
                <a:t>No Potential Difference</a:t>
              </a:r>
            </a:p>
          </p:txBody>
        </p:sp>
        <p:sp>
          <p:nvSpPr>
            <p:cNvPr id="537656" name="Line 56"/>
            <p:cNvSpPr>
              <a:spLocks noChangeShapeType="1"/>
            </p:cNvSpPr>
            <p:nvPr/>
          </p:nvSpPr>
          <p:spPr bwMode="auto">
            <a:xfrm flipH="1">
              <a:off x="2880" y="2359"/>
              <a:ext cx="457" cy="475"/>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537658" name="Group 58"/>
          <p:cNvGrpSpPr>
            <a:grpSpLocks/>
          </p:cNvGrpSpPr>
          <p:nvPr/>
        </p:nvGrpSpPr>
        <p:grpSpPr bwMode="auto">
          <a:xfrm>
            <a:off x="1139825" y="4407381"/>
            <a:ext cx="3348038" cy="1146175"/>
            <a:chOff x="470" y="2277"/>
            <a:chExt cx="2109" cy="722"/>
          </a:xfrm>
        </p:grpSpPr>
        <p:sp>
          <p:nvSpPr>
            <p:cNvPr id="537659" name="Line 59"/>
            <p:cNvSpPr>
              <a:spLocks noChangeShapeType="1"/>
            </p:cNvSpPr>
            <p:nvPr/>
          </p:nvSpPr>
          <p:spPr bwMode="auto">
            <a:xfrm>
              <a:off x="2405" y="2999"/>
              <a:ext cx="174"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37660" name="Line 60"/>
            <p:cNvSpPr>
              <a:spLocks noChangeShapeType="1"/>
            </p:cNvSpPr>
            <p:nvPr/>
          </p:nvSpPr>
          <p:spPr bwMode="auto">
            <a:xfrm>
              <a:off x="2507" y="2657"/>
              <a:ext cx="0" cy="174"/>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37661" name="Text Box 61"/>
            <p:cNvSpPr txBox="1">
              <a:spLocks noChangeArrowheads="1"/>
            </p:cNvSpPr>
            <p:nvPr/>
          </p:nvSpPr>
          <p:spPr bwMode="auto">
            <a:xfrm>
              <a:off x="470" y="2277"/>
              <a:ext cx="974"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000" b="1">
                  <a:solidFill>
                    <a:srgbClr val="FF0000"/>
                  </a:solidFill>
                  <a:ea typeface="宋体" panose="02010600030101010101" pitchFamily="2" charset="-122"/>
                </a:rPr>
                <a:t>No Currents</a:t>
              </a:r>
            </a:p>
          </p:txBody>
        </p:sp>
        <p:sp>
          <p:nvSpPr>
            <p:cNvPr id="537662" name="Line 62"/>
            <p:cNvSpPr>
              <a:spLocks noChangeShapeType="1"/>
            </p:cNvSpPr>
            <p:nvPr/>
          </p:nvSpPr>
          <p:spPr bwMode="auto">
            <a:xfrm>
              <a:off x="1548" y="2454"/>
              <a:ext cx="912" cy="24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37663" name="Line 63"/>
            <p:cNvSpPr>
              <a:spLocks noChangeShapeType="1"/>
            </p:cNvSpPr>
            <p:nvPr/>
          </p:nvSpPr>
          <p:spPr bwMode="auto">
            <a:xfrm>
              <a:off x="1536" y="2454"/>
              <a:ext cx="834" cy="516"/>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2" name="文本框 1">
            <a:extLst>
              <a:ext uri="{FF2B5EF4-FFF2-40B4-BE49-F238E27FC236}">
                <a16:creationId xmlns:a16="http://schemas.microsoft.com/office/drawing/2014/main" id="{99EF64C4-1FDD-4322-B6C9-5029B6BACE96}"/>
              </a:ext>
            </a:extLst>
          </p:cNvPr>
          <p:cNvSpPr txBox="1"/>
          <p:nvPr/>
        </p:nvSpPr>
        <p:spPr>
          <a:xfrm>
            <a:off x="210127" y="1820350"/>
            <a:ext cx="4742004" cy="400110"/>
          </a:xfrm>
          <a:prstGeom prst="rect">
            <a:avLst/>
          </a:prstGeom>
          <a:noFill/>
        </p:spPr>
        <p:txBody>
          <a:bodyPr wrap="none" rtlCol="0">
            <a:spAutoFit/>
          </a:bodyPr>
          <a:lstStyle/>
          <a:p>
            <a:r>
              <a:rPr lang="en-US" altLang="zh-CN" b="1" dirty="0"/>
              <a:t>When there exists negative feedback,</a:t>
            </a:r>
            <a:endParaRPr lang="zh-CN" altLang="en-US" b="1" dirty="0"/>
          </a:p>
        </p:txBody>
      </p:sp>
      <p:sp>
        <p:nvSpPr>
          <p:cNvPr id="3" name="文本框 2">
            <a:extLst>
              <a:ext uri="{FF2B5EF4-FFF2-40B4-BE49-F238E27FC236}">
                <a16:creationId xmlns:a16="http://schemas.microsoft.com/office/drawing/2014/main" id="{85DC7981-BA7C-45C2-8B22-F69BD5145243}"/>
              </a:ext>
            </a:extLst>
          </p:cNvPr>
          <p:cNvSpPr txBox="1"/>
          <p:nvPr/>
        </p:nvSpPr>
        <p:spPr>
          <a:xfrm>
            <a:off x="574675" y="6064730"/>
            <a:ext cx="7162800" cy="707886"/>
          </a:xfrm>
          <a:prstGeom prst="rect">
            <a:avLst/>
          </a:prstGeom>
          <a:noFill/>
        </p:spPr>
        <p:txBody>
          <a:bodyPr wrap="square" rtlCol="0">
            <a:spAutoFit/>
          </a:bodyPr>
          <a:lstStyle/>
          <a:p>
            <a:r>
              <a:rPr lang="en-US" altLang="zh-CN" dirty="0"/>
              <a:t>Property 1 introduces an additional equation which replaces the KCL equation at the output node.</a:t>
            </a:r>
            <a:endParaRPr lang="zh-CN" altLang="en-US" dirty="0"/>
          </a:p>
        </p:txBody>
      </p:sp>
    </p:spTree>
    <p:extLst>
      <p:ext uri="{BB962C8B-B14F-4D97-AF65-F5344CB8AC3E}">
        <p14:creationId xmlns:p14="http://schemas.microsoft.com/office/powerpoint/2010/main" val="821054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descr="Capture.PNG"/>
          <p:cNvPicPr>
            <a:picLocks noChangeAspect="1"/>
          </p:cNvPicPr>
          <p:nvPr/>
        </p:nvPicPr>
        <p:blipFill>
          <a:blip r:embed="rId2" cstate="print"/>
          <a:stretch>
            <a:fillRect/>
          </a:stretch>
        </p:blipFill>
        <p:spPr>
          <a:xfrm>
            <a:off x="533400" y="2064743"/>
            <a:ext cx="6019800" cy="4288851"/>
          </a:xfrm>
          <a:prstGeom prst="rect">
            <a:avLst/>
          </a:prstGeom>
        </p:spPr>
      </p:pic>
      <p:sp>
        <p:nvSpPr>
          <p:cNvPr id="2" name="Title 1"/>
          <p:cNvSpPr>
            <a:spLocks noGrp="1"/>
          </p:cNvSpPr>
          <p:nvPr>
            <p:ph type="title"/>
          </p:nvPr>
        </p:nvSpPr>
        <p:spPr/>
        <p:txBody>
          <a:bodyPr>
            <a:normAutofit/>
          </a:bodyPr>
          <a:lstStyle/>
          <a:p>
            <a:r>
              <a:rPr lang="en-US" dirty="0"/>
              <a:t>Example 3</a:t>
            </a:r>
            <a:endParaRPr lang="en-US" dirty="0">
              <a:solidFill>
                <a:srgbClr val="FF0000"/>
              </a:solidFill>
            </a:endParaRPr>
          </a:p>
        </p:txBody>
      </p:sp>
      <p:pic>
        <p:nvPicPr>
          <p:cNvPr id="19" name="Picture 18" descr="Capture.PNG"/>
          <p:cNvPicPr>
            <a:picLocks noChangeAspect="1"/>
          </p:cNvPicPr>
          <p:nvPr/>
        </p:nvPicPr>
        <p:blipFill>
          <a:blip r:embed="rId3" cstate="print"/>
          <a:stretch>
            <a:fillRect/>
          </a:stretch>
        </p:blipFill>
        <p:spPr>
          <a:xfrm>
            <a:off x="482288" y="1437440"/>
            <a:ext cx="5232712" cy="533399"/>
          </a:xfrm>
          <a:prstGeom prst="rect">
            <a:avLst/>
          </a:prstGeom>
        </p:spPr>
      </p:pic>
      <p:sp>
        <p:nvSpPr>
          <p:cNvPr id="8" name="文本框 7"/>
          <p:cNvSpPr txBox="1"/>
          <p:nvPr/>
        </p:nvSpPr>
        <p:spPr>
          <a:xfrm>
            <a:off x="3124200" y="1617681"/>
            <a:ext cx="1752600" cy="400110"/>
          </a:xfrm>
          <a:prstGeom prst="rect">
            <a:avLst/>
          </a:prstGeom>
          <a:noFill/>
        </p:spPr>
        <p:txBody>
          <a:bodyPr wrap="square" rtlCol="0">
            <a:spAutoFit/>
          </a:bodyPr>
          <a:lstStyle/>
          <a:p>
            <a:r>
              <a:rPr lang="en-US" altLang="zh-CN" sz="1800" dirty="0">
                <a:latin typeface="Times New Roman" panose="02020603050405020304" pitchFamily="18" charset="0"/>
                <a:cs typeface="Times New Roman" panose="02020603050405020304" pitchFamily="18" charset="0"/>
              </a:rPr>
              <a:t>Find</a:t>
            </a:r>
            <a:r>
              <a:rPr lang="en-US" altLang="zh-CN" i="1" dirty="0">
                <a:latin typeface="Times New Roman" panose="02020603050405020304" pitchFamily="18" charset="0"/>
                <a:cs typeface="Times New Roman" panose="02020603050405020304" pitchFamily="18" charset="0"/>
              </a:rPr>
              <a:t> </a:t>
            </a:r>
            <a:r>
              <a:rPr lang="en-US" altLang="zh-CN" i="1" dirty="0" err="1">
                <a:latin typeface="Times New Roman" panose="02020603050405020304" pitchFamily="18" charset="0"/>
                <a:cs typeface="Times New Roman" panose="02020603050405020304" pitchFamily="18" charset="0"/>
              </a:rPr>
              <a:t>v</a:t>
            </a:r>
            <a:r>
              <a:rPr lang="en-US" altLang="zh-CN" i="1" baseline="-25000" dirty="0" err="1">
                <a:latin typeface="Times New Roman" panose="02020603050405020304" pitchFamily="18" charset="0"/>
                <a:cs typeface="Times New Roman" panose="02020603050405020304" pitchFamily="18" charset="0"/>
              </a:rPr>
              <a:t>o</a:t>
            </a:r>
            <a:r>
              <a:rPr lang="en-US" altLang="zh-CN" i="1" baseline="-25000" dirty="0">
                <a:latin typeface="Times New Roman" panose="02020603050405020304" pitchFamily="18" charset="0"/>
                <a:cs typeface="Times New Roman" panose="02020603050405020304" pitchFamily="18" charset="0"/>
              </a:rPr>
              <a:t> </a:t>
            </a:r>
            <a:r>
              <a:rPr lang="en-US" altLang="zh-CN" i="1" dirty="0">
                <a:latin typeface="Times New Roman" panose="02020603050405020304" pitchFamily="18" charset="0"/>
                <a:cs typeface="Times New Roman" panose="02020603050405020304" pitchFamily="18" charset="0"/>
              </a:rPr>
              <a:t>/ v</a:t>
            </a:r>
            <a:r>
              <a:rPr lang="en-US" altLang="zh-CN" i="1" baseline="-25000" dirty="0">
                <a:latin typeface="Times New Roman" panose="02020603050405020304" pitchFamily="18" charset="0"/>
                <a:cs typeface="Times New Roman" panose="02020603050405020304" pitchFamily="18" charset="0"/>
              </a:rPr>
              <a:t>s</a:t>
            </a:r>
            <a:endParaRPr lang="zh-CN" altLang="en-US" i="1" baseline="-25000" dirty="0">
              <a:latin typeface="Times New Roman" panose="02020603050405020304" pitchFamily="18" charset="0"/>
              <a:cs typeface="Times New Roman" panose="02020603050405020304" pitchFamily="18" charset="0"/>
            </a:endParaRPr>
          </a:p>
        </p:txBody>
      </p:sp>
      <p:pic>
        <p:nvPicPr>
          <p:cNvPr id="7" name="图片 6">
            <a:extLst>
              <a:ext uri="{FF2B5EF4-FFF2-40B4-BE49-F238E27FC236}">
                <a16:creationId xmlns:a16="http://schemas.microsoft.com/office/drawing/2014/main" id="{DCC02247-0699-4352-AB54-82A31D358EFF}"/>
              </a:ext>
            </a:extLst>
          </p:cNvPr>
          <p:cNvPicPr/>
          <p:nvPr/>
        </p:nvPicPr>
        <p:blipFill>
          <a:blip r:embed="rId4"/>
          <a:stretch>
            <a:fillRect/>
          </a:stretch>
        </p:blipFill>
        <p:spPr>
          <a:xfrm>
            <a:off x="7022370" y="2248852"/>
            <a:ext cx="1466850" cy="2571750"/>
          </a:xfrm>
          <a:prstGeom prst="rect">
            <a:avLst/>
          </a:prstGeom>
        </p:spPr>
      </p:pic>
      <p:pic>
        <p:nvPicPr>
          <p:cNvPr id="3" name="图片 2">
            <a:extLst>
              <a:ext uri="{FF2B5EF4-FFF2-40B4-BE49-F238E27FC236}">
                <a16:creationId xmlns:a16="http://schemas.microsoft.com/office/drawing/2014/main" id="{F7B4A555-5446-459A-B828-B43F653B38B7}"/>
              </a:ext>
            </a:extLst>
          </p:cNvPr>
          <p:cNvPicPr>
            <a:picLocks noChangeAspect="1"/>
          </p:cNvPicPr>
          <p:nvPr/>
        </p:nvPicPr>
        <p:blipFill>
          <a:blip r:embed="rId5"/>
          <a:stretch>
            <a:fillRect/>
          </a:stretch>
        </p:blipFill>
        <p:spPr>
          <a:xfrm rot="-600000">
            <a:off x="6869166" y="4566610"/>
            <a:ext cx="1762371" cy="790685"/>
          </a:xfrm>
          <a:prstGeom prst="rect">
            <a:avLst/>
          </a:prstGeom>
        </p:spPr>
      </p:pic>
      <p:sp>
        <p:nvSpPr>
          <p:cNvPr id="5" name="文本框 4">
            <a:extLst>
              <a:ext uri="{FF2B5EF4-FFF2-40B4-BE49-F238E27FC236}">
                <a16:creationId xmlns:a16="http://schemas.microsoft.com/office/drawing/2014/main" id="{8F48F49A-A271-455E-98DC-5D1ED79E1A73}"/>
              </a:ext>
            </a:extLst>
          </p:cNvPr>
          <p:cNvSpPr txBox="1"/>
          <p:nvPr/>
        </p:nvSpPr>
        <p:spPr>
          <a:xfrm>
            <a:off x="7750352" y="2815445"/>
            <a:ext cx="465192" cy="400110"/>
          </a:xfrm>
          <a:prstGeom prst="rect">
            <a:avLst/>
          </a:prstGeom>
          <a:noFill/>
        </p:spPr>
        <p:txBody>
          <a:bodyPr wrap="none" rtlCol="0">
            <a:spAutoFit/>
          </a:bodyPr>
          <a:lstStyle/>
          <a:p>
            <a:r>
              <a:rPr lang="en-US" altLang="zh-CN" dirty="0"/>
              <a:t>R</a:t>
            </a:r>
            <a:r>
              <a:rPr lang="en-US" altLang="zh-CN" baseline="-25000" dirty="0"/>
              <a:t>1</a:t>
            </a:r>
            <a:endParaRPr lang="zh-CN" altLang="en-US" baseline="-25000" dirty="0"/>
          </a:p>
        </p:txBody>
      </p:sp>
      <p:sp>
        <p:nvSpPr>
          <p:cNvPr id="10" name="文本框 9">
            <a:extLst>
              <a:ext uri="{FF2B5EF4-FFF2-40B4-BE49-F238E27FC236}">
                <a16:creationId xmlns:a16="http://schemas.microsoft.com/office/drawing/2014/main" id="{CFF259F0-15A7-4235-BB5A-6C6CDD6B2143}"/>
              </a:ext>
            </a:extLst>
          </p:cNvPr>
          <p:cNvSpPr txBox="1"/>
          <p:nvPr/>
        </p:nvSpPr>
        <p:spPr>
          <a:xfrm>
            <a:off x="7734023" y="3534727"/>
            <a:ext cx="465192" cy="400110"/>
          </a:xfrm>
          <a:prstGeom prst="rect">
            <a:avLst/>
          </a:prstGeom>
          <a:noFill/>
        </p:spPr>
        <p:txBody>
          <a:bodyPr wrap="none" rtlCol="0">
            <a:spAutoFit/>
          </a:bodyPr>
          <a:lstStyle/>
          <a:p>
            <a:r>
              <a:rPr lang="en-US" altLang="zh-CN" dirty="0"/>
              <a:t>R</a:t>
            </a:r>
            <a:r>
              <a:rPr lang="en-US" altLang="zh-CN" baseline="-25000" dirty="0"/>
              <a:t>2</a:t>
            </a:r>
            <a:endParaRPr lang="zh-CN" altLang="en-US" baseline="-25000" dirty="0"/>
          </a:p>
        </p:txBody>
      </p:sp>
      <p:sp>
        <p:nvSpPr>
          <p:cNvPr id="6" name="矩形 5">
            <a:extLst>
              <a:ext uri="{FF2B5EF4-FFF2-40B4-BE49-F238E27FC236}">
                <a16:creationId xmlns:a16="http://schemas.microsoft.com/office/drawing/2014/main" id="{6C168A1A-B053-4BC2-9DBC-48090BCA05F0}"/>
              </a:ext>
            </a:extLst>
          </p:cNvPr>
          <p:cNvSpPr/>
          <p:nvPr/>
        </p:nvSpPr>
        <p:spPr>
          <a:xfrm>
            <a:off x="6688201" y="1848742"/>
            <a:ext cx="2124299" cy="400110"/>
          </a:xfrm>
          <a:prstGeom prst="rect">
            <a:avLst/>
          </a:prstGeom>
        </p:spPr>
        <p:txBody>
          <a:bodyPr wrap="none">
            <a:spAutoFit/>
          </a:bodyPr>
          <a:lstStyle/>
          <a:p>
            <a:r>
              <a:rPr lang="en-US" altLang="zh-CN" dirty="0"/>
              <a:t>Equivalent circuit</a:t>
            </a:r>
            <a:endParaRPr lang="zh-CN" altLang="en-US" dirty="0"/>
          </a:p>
        </p:txBody>
      </p:sp>
      <p:sp>
        <p:nvSpPr>
          <p:cNvPr id="4" name="文本框 3">
            <a:extLst>
              <a:ext uri="{FF2B5EF4-FFF2-40B4-BE49-F238E27FC236}">
                <a16:creationId xmlns:a16="http://schemas.microsoft.com/office/drawing/2014/main" id="{3D42180F-20FD-4726-9C74-503CD8BBD119}"/>
              </a:ext>
            </a:extLst>
          </p:cNvPr>
          <p:cNvSpPr txBox="1"/>
          <p:nvPr/>
        </p:nvSpPr>
        <p:spPr>
          <a:xfrm>
            <a:off x="6019800" y="5789013"/>
            <a:ext cx="3352800" cy="1015663"/>
          </a:xfrm>
          <a:prstGeom prst="rect">
            <a:avLst/>
          </a:prstGeom>
          <a:noFill/>
        </p:spPr>
        <p:txBody>
          <a:bodyPr wrap="square" rtlCol="0">
            <a:spAutoFit/>
          </a:bodyPr>
          <a:lstStyle/>
          <a:p>
            <a:r>
              <a:rPr lang="en-US" altLang="zh-CN" dirty="0"/>
              <a:t>Note</a:t>
            </a:r>
            <a:r>
              <a:rPr lang="zh-CN" altLang="en-US" dirty="0"/>
              <a:t>：</a:t>
            </a:r>
            <a:r>
              <a:rPr lang="en-US" altLang="zh-CN" dirty="0"/>
              <a:t> there is no involvement of R</a:t>
            </a:r>
            <a:r>
              <a:rPr lang="en-US" altLang="zh-CN" baseline="-25000" dirty="0"/>
              <a:t>0</a:t>
            </a:r>
            <a:r>
              <a:rPr lang="en-US" altLang="zh-CN" dirty="0"/>
              <a:t> in the analysis.</a:t>
            </a:r>
            <a:endParaRPr lang="zh-CN" altLang="en-US" dirty="0"/>
          </a:p>
        </p:txBody>
      </p:sp>
    </p:spTree>
    <p:extLst>
      <p:ext uri="{BB962C8B-B14F-4D97-AF65-F5344CB8AC3E}">
        <p14:creationId xmlns:p14="http://schemas.microsoft.com/office/powerpoint/2010/main" val="33821671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2"/>
          <p:cNvSpPr>
            <a:spLocks noGrp="1"/>
          </p:cNvSpPr>
          <p:nvPr>
            <p:ph type="title"/>
          </p:nvPr>
        </p:nvSpPr>
        <p:spPr/>
        <p:txBody>
          <a:bodyPr/>
          <a:lstStyle/>
          <a:p>
            <a:r>
              <a:rPr lang="en-US" altLang="zh-CN" dirty="0">
                <a:ea typeface="宋体" panose="02010600030101010101" pitchFamily="2" charset="-122"/>
              </a:rPr>
              <a:t>Outline</a:t>
            </a:r>
          </a:p>
        </p:txBody>
      </p:sp>
      <p:sp>
        <p:nvSpPr>
          <p:cNvPr id="14339" name="Content Placeholder 3"/>
          <p:cNvSpPr>
            <a:spLocks noGrp="1"/>
          </p:cNvSpPr>
          <p:nvPr>
            <p:ph idx="1"/>
          </p:nvPr>
        </p:nvSpPr>
        <p:spPr/>
        <p:txBody>
          <a:bodyPr/>
          <a:lstStyle/>
          <a:p>
            <a:r>
              <a:rPr lang="en-US" altLang="zh-CN" dirty="0">
                <a:solidFill>
                  <a:schemeClr val="bg1">
                    <a:lumMod val="75000"/>
                  </a:schemeClr>
                </a:solidFill>
                <a:ea typeface="宋体" panose="02010600030101010101" pitchFamily="2" charset="-122"/>
              </a:rPr>
              <a:t>Operational amplifier (op amp)</a:t>
            </a:r>
          </a:p>
          <a:p>
            <a:endParaRPr lang="en-US" altLang="zh-CN" dirty="0">
              <a:ea typeface="宋体" panose="02010600030101010101" pitchFamily="2" charset="-122"/>
            </a:endParaRPr>
          </a:p>
          <a:p>
            <a:r>
              <a:rPr lang="en-US" altLang="zh-CN" dirty="0">
                <a:ea typeface="宋体" panose="02010600030101010101" pitchFamily="2" charset="-122"/>
              </a:rPr>
              <a:t>Basic operations </a:t>
            </a:r>
          </a:p>
          <a:p>
            <a:pPr lvl="2">
              <a:lnSpc>
                <a:spcPct val="80000"/>
              </a:lnSpc>
              <a:buFont typeface="Wingdings" panose="05000000000000000000" pitchFamily="2" charset="2"/>
              <a:buChar char="Ø"/>
            </a:pPr>
            <a:r>
              <a:rPr lang="en-US" altLang="zh-CN" dirty="0">
                <a:solidFill>
                  <a:srgbClr val="FFC000"/>
                </a:solidFill>
                <a:ea typeface="宋体" panose="02010600030101010101" pitchFamily="2" charset="-122"/>
              </a:rPr>
              <a:t>sign changing</a:t>
            </a:r>
          </a:p>
          <a:p>
            <a:pPr lvl="2">
              <a:lnSpc>
                <a:spcPct val="80000"/>
              </a:lnSpc>
              <a:buFont typeface="Wingdings" panose="05000000000000000000" pitchFamily="2" charset="2"/>
              <a:buChar char="Ø"/>
            </a:pPr>
            <a:r>
              <a:rPr lang="en-US" altLang="zh-CN" dirty="0">
                <a:solidFill>
                  <a:srgbClr val="FFC000"/>
                </a:solidFill>
                <a:ea typeface="宋体" panose="02010600030101010101" pitchFamily="2" charset="-122"/>
              </a:rPr>
              <a:t>amplification/scaling</a:t>
            </a:r>
          </a:p>
          <a:p>
            <a:pPr lvl="2">
              <a:lnSpc>
                <a:spcPct val="80000"/>
              </a:lnSpc>
              <a:buFont typeface="Wingdings" panose="05000000000000000000" pitchFamily="2" charset="2"/>
              <a:buChar char="Ø"/>
            </a:pPr>
            <a:r>
              <a:rPr lang="en-US" altLang="zh-CN" dirty="0">
                <a:solidFill>
                  <a:srgbClr val="FFC000"/>
                </a:solidFill>
                <a:ea typeface="宋体" panose="02010600030101010101" pitchFamily="2" charset="-122"/>
              </a:rPr>
              <a:t>addition/subtraction</a:t>
            </a:r>
            <a:endParaRPr lang="en-US" altLang="zh-CN" dirty="0">
              <a:ea typeface="宋体" panose="02010600030101010101" pitchFamily="2" charset="-122"/>
            </a:endParaRPr>
          </a:p>
          <a:p>
            <a:pPr lvl="2">
              <a:lnSpc>
                <a:spcPct val="80000"/>
              </a:lnSpc>
              <a:buFont typeface="Wingdings" panose="05000000000000000000" pitchFamily="2" charset="2"/>
              <a:buChar char="Ø"/>
            </a:pPr>
            <a:r>
              <a:rPr lang="en-US" altLang="zh-CN" dirty="0">
                <a:solidFill>
                  <a:srgbClr val="00B050"/>
                </a:solidFill>
                <a:ea typeface="宋体" panose="02010600030101010101" pitchFamily="2" charset="-122"/>
              </a:rPr>
              <a:t>integration</a:t>
            </a:r>
          </a:p>
          <a:p>
            <a:pPr lvl="2">
              <a:lnSpc>
                <a:spcPct val="80000"/>
              </a:lnSpc>
              <a:buFont typeface="Wingdings" panose="05000000000000000000" pitchFamily="2" charset="2"/>
              <a:buChar char="Ø"/>
            </a:pPr>
            <a:r>
              <a:rPr lang="en-US" altLang="zh-CN" dirty="0">
                <a:solidFill>
                  <a:srgbClr val="00B050"/>
                </a:solidFill>
                <a:ea typeface="宋体" panose="02010600030101010101" pitchFamily="2" charset="-122"/>
              </a:rPr>
              <a:t>differentiation</a:t>
            </a:r>
          </a:p>
          <a:p>
            <a:pPr lvl="2">
              <a:lnSpc>
                <a:spcPct val="80000"/>
              </a:lnSpc>
              <a:buFont typeface="Wingdings" panose="05000000000000000000" pitchFamily="2" charset="2"/>
              <a:buChar char="Ø"/>
            </a:pPr>
            <a:r>
              <a:rPr lang="en-US" altLang="zh-CN" dirty="0">
                <a:solidFill>
                  <a:srgbClr val="00B0F0"/>
                </a:solidFill>
                <a:ea typeface="宋体" panose="02010600030101010101" pitchFamily="2" charset="-122"/>
              </a:rPr>
              <a:t>analog filtering</a:t>
            </a:r>
            <a:endParaRPr lang="en-US" altLang="zh-CN" dirty="0">
              <a:ea typeface="宋体" panose="02010600030101010101" pitchFamily="2" charset="-122"/>
            </a:endParaRPr>
          </a:p>
          <a:p>
            <a:r>
              <a:rPr lang="en-US" altLang="zh-CN" dirty="0">
                <a:solidFill>
                  <a:schemeClr val="bg1">
                    <a:lumMod val="75000"/>
                  </a:schemeClr>
                </a:solidFill>
                <a:ea typeface="宋体" panose="02010600030101010101" pitchFamily="2" charset="-122"/>
              </a:rPr>
              <a:t>DAC</a:t>
            </a:r>
          </a:p>
          <a:p>
            <a:endParaRPr lang="en-US" altLang="zh-CN" dirty="0">
              <a:solidFill>
                <a:schemeClr val="bg1">
                  <a:lumMod val="75000"/>
                </a:schemeClr>
              </a:solidFill>
              <a:ea typeface="宋体" panose="02010600030101010101" pitchFamily="2" charset="-122"/>
            </a:endParaRPr>
          </a:p>
          <a:p>
            <a:r>
              <a:rPr lang="en-US" altLang="zh-CN" dirty="0">
                <a:solidFill>
                  <a:schemeClr val="bg1">
                    <a:lumMod val="75000"/>
                  </a:schemeClr>
                </a:solidFill>
                <a:ea typeface="宋体" panose="02010600030101010101" pitchFamily="2" charset="-122"/>
              </a:rPr>
              <a:t>Instrumentation amplifier</a:t>
            </a:r>
          </a:p>
          <a:p>
            <a:pPr lvl="1"/>
            <a:endParaRPr lang="en-US" altLang="zh-CN" dirty="0">
              <a:ea typeface="宋体" panose="02010600030101010101" pitchFamily="2" charset="-122"/>
            </a:endParaRPr>
          </a:p>
        </p:txBody>
      </p:sp>
    </p:spTree>
    <p:extLst>
      <p:ext uri="{BB962C8B-B14F-4D97-AF65-F5344CB8AC3E}">
        <p14:creationId xmlns:p14="http://schemas.microsoft.com/office/powerpoint/2010/main" val="38266584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2"/>
          <p:cNvSpPr>
            <a:spLocks noGrp="1" noChangeArrowheads="1"/>
          </p:cNvSpPr>
          <p:nvPr>
            <p:ph type="title"/>
          </p:nvPr>
        </p:nvSpPr>
        <p:spPr>
          <a:xfrm>
            <a:off x="381000" y="838200"/>
            <a:ext cx="3444661" cy="523220"/>
          </a:xfrm>
          <a:noFill/>
          <a:ln/>
        </p:spPr>
        <p:txBody>
          <a:bodyPr wrap="none">
            <a:spAutoFit/>
          </a:bodyPr>
          <a:lstStyle/>
          <a:p>
            <a:r>
              <a:rPr lang="en-US" altLang="zh-CN" dirty="0">
                <a:ea typeface="宋体" panose="02010600030101010101" pitchFamily="2" charset="-122"/>
              </a:rPr>
              <a:t>Inverting Amplifier</a:t>
            </a:r>
          </a:p>
        </p:txBody>
      </p:sp>
      <p:sp>
        <p:nvSpPr>
          <p:cNvPr id="28" name="Rectangle 16"/>
          <p:cNvSpPr>
            <a:spLocks noChangeArrowheads="1"/>
          </p:cNvSpPr>
          <p:nvPr/>
        </p:nvSpPr>
        <p:spPr bwMode="auto">
          <a:xfrm>
            <a:off x="2597150" y="3048000"/>
            <a:ext cx="171450" cy="131763"/>
          </a:xfrm>
          <a:prstGeom prst="rect">
            <a:avLst/>
          </a:prstGeom>
          <a:solidFill>
            <a:schemeClr val="bg1"/>
          </a:solidFill>
          <a:ln>
            <a:noFill/>
          </a:ln>
          <a:effectLst/>
        </p:spPr>
        <p:txBody>
          <a:bodyPr wrap="none" anchor="ctr"/>
          <a:lstStyle/>
          <a:p>
            <a:endParaRPr lang="zh-CN" altLang="en-US"/>
          </a:p>
        </p:txBody>
      </p:sp>
      <p:pic>
        <p:nvPicPr>
          <p:cNvPr id="8" name="Picture 7" descr="Capture.PNG"/>
          <p:cNvPicPr>
            <a:picLocks noChangeAspect="1"/>
          </p:cNvPicPr>
          <p:nvPr/>
        </p:nvPicPr>
        <p:blipFill>
          <a:blip r:embed="rId2" cstate="print"/>
          <a:stretch>
            <a:fillRect/>
          </a:stretch>
        </p:blipFill>
        <p:spPr>
          <a:xfrm>
            <a:off x="0" y="2037280"/>
            <a:ext cx="5638800" cy="3080107"/>
          </a:xfrm>
          <a:prstGeom prst="rect">
            <a:avLst/>
          </a:prstGeom>
        </p:spPr>
      </p:pic>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0ABB9498-2F2B-4707-948A-2CA7A91B781C}"/>
                  </a:ext>
                </a:extLst>
              </p:cNvPr>
              <p:cNvSpPr txBox="1"/>
              <p:nvPr/>
            </p:nvSpPr>
            <p:spPr>
              <a:xfrm>
                <a:off x="6012712" y="2870896"/>
                <a:ext cx="2354940" cy="2648802"/>
              </a:xfrm>
              <a:prstGeom prst="rect">
                <a:avLst/>
              </a:prstGeom>
              <a:noFill/>
            </p:spPr>
            <p:txBody>
              <a:bodyPr wrap="none" lIns="0" tIns="0" rIns="0" bIns="0" rtlCol="0">
                <a:spAutoFit/>
              </a:bodyPr>
              <a:lstStyle/>
              <a:p>
                <a:r>
                  <a:rPr lang="en-US" altLang="zh-CN" dirty="0"/>
                  <a:t>Apply KCL at node -,</a:t>
                </a:r>
              </a:p>
              <a:p>
                <a:endParaRPr lang="en-US" altLang="zh-CN" i="1" dirty="0">
                  <a:latin typeface="Cambria Math" panose="02040503050406030204" pitchFamily="18" charset="0"/>
                </a:endParaRPr>
              </a:p>
              <a:p>
                <a:r>
                  <a:rPr lang="en-US" altLang="zh-CN" dirty="0"/>
                  <a:t>we have </a:t>
                </a:r>
              </a:p>
              <a:p>
                <a:endParaRPr lang="en-US" altLang="zh-CN"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f>
                        <m:fPr>
                          <m:ctrlPr>
                            <a:rPr lang="en-US" altLang="zh-CN" i="1" smtClean="0">
                              <a:latin typeface="Cambria Math" panose="02040503050406030204" pitchFamily="18" charset="0"/>
                            </a:rPr>
                          </m:ctrlPr>
                        </m:fPr>
                        <m:num>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0</m:t>
                              </m:r>
                            </m:sub>
                          </m:sSub>
                        </m:num>
                        <m:den>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𝑅</m:t>
                              </m:r>
                            </m:e>
                            <m:sub>
                              <m:r>
                                <a:rPr lang="en-US" altLang="zh-CN" b="0" i="1" smtClean="0">
                                  <a:latin typeface="Cambria Math" panose="02040503050406030204" pitchFamily="18" charset="0"/>
                                </a:rPr>
                                <m:t>𝑓</m:t>
                              </m:r>
                            </m:sub>
                          </m:sSub>
                        </m:den>
                      </m:f>
                      <m:r>
                        <a:rPr lang="en-US" altLang="zh-CN" b="0" i="1" smtClean="0">
                          <a:latin typeface="Cambria Math" panose="02040503050406030204" pitchFamily="18" charset="0"/>
                        </a:rPr>
                        <m:t>=−</m:t>
                      </m:r>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b="0" i="1" smtClean="0">
                                  <a:latin typeface="Cambria Math" panose="02040503050406030204" pitchFamily="18" charset="0"/>
                                </a:rPr>
                                <m:t>𝑠</m:t>
                              </m:r>
                            </m:sub>
                          </m:sSub>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b="0" i="1" smtClean="0">
                                  <a:latin typeface="Cambria Math" panose="02040503050406030204" pitchFamily="18" charset="0"/>
                                </a:rPr>
                                <m:t>𝑠</m:t>
                              </m:r>
                            </m:sub>
                          </m:sSub>
                        </m:den>
                      </m:f>
                    </m:oMath>
                  </m:oMathPara>
                </a14:m>
                <a:endParaRPr lang="en-US" altLang="zh-CN" dirty="0"/>
              </a:p>
              <a:p>
                <a:endParaRPr lang="en-US" altLang="zh-CN" dirty="0"/>
              </a:p>
              <a:p>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0</m:t>
                        </m:r>
                      </m:sub>
                    </m:sSub>
                    <m:r>
                      <a:rPr lang="en-US" altLang="zh-CN" i="1">
                        <a:latin typeface="Cambria Math" panose="02040503050406030204" pitchFamily="18" charset="0"/>
                      </a:rPr>
                      <m:t>=−</m:t>
                    </m:r>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𝑓</m:t>
                            </m:r>
                          </m:sub>
                        </m:sSub>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𝑠</m:t>
                            </m:r>
                          </m:sub>
                        </m:sSub>
                      </m:den>
                    </m:f>
                  </m:oMath>
                </a14:m>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𝑠</m:t>
                        </m:r>
                      </m:sub>
                    </m:sSub>
                  </m:oMath>
                </a14:m>
                <a:endParaRPr lang="en-US" altLang="zh-CN" dirty="0"/>
              </a:p>
            </p:txBody>
          </p:sp>
        </mc:Choice>
        <mc:Fallback xmlns="">
          <p:sp>
            <p:nvSpPr>
              <p:cNvPr id="2" name="文本框 1">
                <a:extLst>
                  <a:ext uri="{FF2B5EF4-FFF2-40B4-BE49-F238E27FC236}">
                    <a16:creationId xmlns:a16="http://schemas.microsoft.com/office/drawing/2014/main" id="{0ABB9498-2F2B-4707-948A-2CA7A91B781C}"/>
                  </a:ext>
                </a:extLst>
              </p:cNvPr>
              <p:cNvSpPr txBox="1">
                <a:spLocks noRot="1" noChangeAspect="1" noMove="1" noResize="1" noEditPoints="1" noAdjustHandles="1" noChangeArrowheads="1" noChangeShapeType="1" noTextEdit="1"/>
              </p:cNvSpPr>
              <p:nvPr/>
            </p:nvSpPr>
            <p:spPr>
              <a:xfrm>
                <a:off x="6012712" y="2870896"/>
                <a:ext cx="2354940" cy="2648802"/>
              </a:xfrm>
              <a:prstGeom prst="rect">
                <a:avLst/>
              </a:prstGeom>
              <a:blipFill>
                <a:blip r:embed="rId3"/>
                <a:stretch>
                  <a:fillRect l="-6460" t="-2765" r="-568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63264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2"/>
          <p:cNvSpPr>
            <a:spLocks noGrp="1" noChangeArrowheads="1"/>
          </p:cNvSpPr>
          <p:nvPr>
            <p:ph type="title"/>
          </p:nvPr>
        </p:nvSpPr>
        <p:spPr>
          <a:xfrm>
            <a:off x="381000" y="838200"/>
            <a:ext cx="4164410" cy="523220"/>
          </a:xfrm>
          <a:noFill/>
          <a:ln/>
        </p:spPr>
        <p:txBody>
          <a:bodyPr wrap="none">
            <a:spAutoFit/>
          </a:bodyPr>
          <a:lstStyle/>
          <a:p>
            <a:r>
              <a:rPr lang="en-US" altLang="zh-CN" dirty="0">
                <a:ea typeface="宋体" panose="02010600030101010101" pitchFamily="2" charset="-122"/>
              </a:rPr>
              <a:t>Non-inverting Amplifier</a:t>
            </a:r>
          </a:p>
        </p:txBody>
      </p:sp>
      <p:sp>
        <p:nvSpPr>
          <p:cNvPr id="28" name="Rectangle 16"/>
          <p:cNvSpPr>
            <a:spLocks noChangeArrowheads="1"/>
          </p:cNvSpPr>
          <p:nvPr/>
        </p:nvSpPr>
        <p:spPr bwMode="auto">
          <a:xfrm>
            <a:off x="1301750" y="2809618"/>
            <a:ext cx="171450" cy="131763"/>
          </a:xfrm>
          <a:prstGeom prst="rect">
            <a:avLst/>
          </a:prstGeom>
          <a:solidFill>
            <a:schemeClr val="bg1"/>
          </a:solidFill>
          <a:ln>
            <a:noFill/>
          </a:ln>
          <a:effectLst/>
        </p:spPr>
        <p:txBody>
          <a:bodyPr wrap="none" anchor="ctr"/>
          <a:lstStyle/>
          <a:p>
            <a:endParaRPr lang="zh-CN" altLang="en-US"/>
          </a:p>
        </p:txBody>
      </p:sp>
      <p:pic>
        <p:nvPicPr>
          <p:cNvPr id="2" name="图片 1">
            <a:extLst>
              <a:ext uri="{FF2B5EF4-FFF2-40B4-BE49-F238E27FC236}">
                <a16:creationId xmlns:a16="http://schemas.microsoft.com/office/drawing/2014/main" id="{68FB71B7-0238-41B9-84E9-6B3A55EE6BA2}"/>
              </a:ext>
            </a:extLst>
          </p:cNvPr>
          <p:cNvPicPr>
            <a:picLocks noChangeAspect="1"/>
          </p:cNvPicPr>
          <p:nvPr/>
        </p:nvPicPr>
        <p:blipFill>
          <a:blip r:embed="rId2"/>
          <a:stretch>
            <a:fillRect/>
          </a:stretch>
        </p:blipFill>
        <p:spPr>
          <a:xfrm>
            <a:off x="0" y="1590418"/>
            <a:ext cx="6049219" cy="3677163"/>
          </a:xfrm>
          <a:prstGeom prst="rect">
            <a:avLst/>
          </a:prstGeom>
        </p:spPr>
      </p:pic>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8B385DF8-933E-4225-A992-4E6E4B0B1DD9}"/>
                  </a:ext>
                </a:extLst>
              </p:cNvPr>
              <p:cNvSpPr txBox="1"/>
              <p:nvPr/>
            </p:nvSpPr>
            <p:spPr>
              <a:xfrm>
                <a:off x="6400800" y="2209800"/>
                <a:ext cx="2354940" cy="2648802"/>
              </a:xfrm>
              <a:prstGeom prst="rect">
                <a:avLst/>
              </a:prstGeom>
              <a:noFill/>
            </p:spPr>
            <p:txBody>
              <a:bodyPr wrap="none" lIns="0" tIns="0" rIns="0" bIns="0" rtlCol="0">
                <a:spAutoFit/>
              </a:bodyPr>
              <a:lstStyle/>
              <a:p>
                <a:r>
                  <a:rPr lang="en-US" altLang="zh-CN" dirty="0"/>
                  <a:t>Apply KCL at node -,</a:t>
                </a:r>
              </a:p>
              <a:p>
                <a:endParaRPr lang="en-US" altLang="zh-CN" i="1" dirty="0">
                  <a:latin typeface="Cambria Math" panose="02040503050406030204" pitchFamily="18" charset="0"/>
                </a:endParaRPr>
              </a:p>
              <a:p>
                <a:r>
                  <a:rPr lang="en-US" altLang="zh-CN" dirty="0"/>
                  <a:t>we have </a:t>
                </a:r>
              </a:p>
              <a:p>
                <a:endParaRPr lang="en-US" altLang="zh-CN"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f>
                        <m:fPr>
                          <m:ctrlPr>
                            <a:rPr lang="en-US" altLang="zh-CN" i="1" smtClean="0">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b="0" i="1" smtClean="0">
                                  <a:latin typeface="Cambria Math" panose="02040503050406030204" pitchFamily="18" charset="0"/>
                                </a:rPr>
                                <m:t>𝑠</m:t>
                              </m:r>
                            </m:sub>
                          </m:sSub>
                          <m:r>
                            <a:rPr lang="en-US" altLang="zh-CN" b="0"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0</m:t>
                              </m:r>
                            </m:sub>
                          </m:sSub>
                        </m:num>
                        <m:den>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𝑅</m:t>
                              </m:r>
                            </m:e>
                            <m:sub>
                              <m:r>
                                <a:rPr lang="en-US" altLang="zh-CN" b="0" i="1" smtClean="0">
                                  <a:latin typeface="Cambria Math" panose="02040503050406030204" pitchFamily="18" charset="0"/>
                                </a:rPr>
                                <m:t>𝑓</m:t>
                              </m:r>
                            </m:sub>
                          </m:sSub>
                        </m:den>
                      </m:f>
                      <m:r>
                        <a:rPr lang="en-US" altLang="zh-CN" b="0" i="1" smtClean="0">
                          <a:latin typeface="Cambria Math" panose="02040503050406030204" pitchFamily="18" charset="0"/>
                        </a:rPr>
                        <m:t>+</m:t>
                      </m:r>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b="0" i="1" smtClean="0">
                                  <a:latin typeface="Cambria Math" panose="02040503050406030204" pitchFamily="18" charset="0"/>
                                </a:rPr>
                                <m:t>𝑠</m:t>
                              </m:r>
                            </m:sub>
                          </m:sSub>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b="0" i="1" smtClean="0">
                                  <a:latin typeface="Cambria Math" panose="02040503050406030204" pitchFamily="18" charset="0"/>
                                </a:rPr>
                                <m:t>𝑠</m:t>
                              </m:r>
                            </m:sub>
                          </m:sSub>
                        </m:den>
                      </m:f>
                      <m:r>
                        <a:rPr lang="en-US" altLang="zh-CN" b="0" i="1" smtClean="0">
                          <a:latin typeface="Cambria Math" panose="02040503050406030204" pitchFamily="18" charset="0"/>
                        </a:rPr>
                        <m:t>=0</m:t>
                      </m:r>
                    </m:oMath>
                  </m:oMathPara>
                </a14:m>
                <a:endParaRPr lang="en-US" altLang="zh-CN" dirty="0"/>
              </a:p>
              <a:p>
                <a:endParaRPr lang="en-US" altLang="zh-CN" dirty="0"/>
              </a:p>
              <a:p>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0</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𝑠</m:t>
                        </m:r>
                      </m:sub>
                    </m:sSub>
                    <m:r>
                      <a:rPr lang="en-US" altLang="zh-CN" b="0" i="1" smtClean="0">
                        <a:latin typeface="Cambria Math" panose="02040503050406030204" pitchFamily="18" charset="0"/>
                      </a:rPr>
                      <m:t>(1+</m:t>
                    </m:r>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𝑓</m:t>
                            </m:r>
                          </m:sub>
                        </m:sSub>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𝑠</m:t>
                            </m:r>
                          </m:sub>
                        </m:sSub>
                      </m:den>
                    </m:f>
                  </m:oMath>
                </a14:m>
                <a:r>
                  <a:rPr lang="en-US" altLang="zh-CN" dirty="0"/>
                  <a:t>)</a:t>
                </a:r>
              </a:p>
            </p:txBody>
          </p:sp>
        </mc:Choice>
        <mc:Fallback xmlns="">
          <p:sp>
            <p:nvSpPr>
              <p:cNvPr id="6" name="文本框 5">
                <a:extLst>
                  <a:ext uri="{FF2B5EF4-FFF2-40B4-BE49-F238E27FC236}">
                    <a16:creationId xmlns:a16="http://schemas.microsoft.com/office/drawing/2014/main" id="{8B385DF8-933E-4225-A992-4E6E4B0B1DD9}"/>
                  </a:ext>
                </a:extLst>
              </p:cNvPr>
              <p:cNvSpPr txBox="1">
                <a:spLocks noRot="1" noChangeAspect="1" noMove="1" noResize="1" noEditPoints="1" noAdjustHandles="1" noChangeArrowheads="1" noChangeShapeType="1" noTextEdit="1"/>
              </p:cNvSpPr>
              <p:nvPr/>
            </p:nvSpPr>
            <p:spPr>
              <a:xfrm>
                <a:off x="6400800" y="2209800"/>
                <a:ext cx="2354940" cy="2648802"/>
              </a:xfrm>
              <a:prstGeom prst="rect">
                <a:avLst/>
              </a:prstGeom>
              <a:blipFill>
                <a:blip r:embed="rId3"/>
                <a:stretch>
                  <a:fillRect l="-6477" t="-2765" r="-5699" b="-92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ACF22E6B-73B2-41EE-AC1C-3CA7200B062E}"/>
                  </a:ext>
                </a:extLst>
              </p:cNvPr>
              <p:cNvSpPr txBox="1"/>
              <p:nvPr/>
            </p:nvSpPr>
            <p:spPr>
              <a:xfrm>
                <a:off x="775724" y="5496579"/>
                <a:ext cx="7539372" cy="424732"/>
              </a:xfrm>
              <a:prstGeom prst="rect">
                <a:avLst/>
              </a:prstGeom>
              <a:noFill/>
            </p:spPr>
            <p:txBody>
              <a:bodyPr wrap="none" rtlCol="0">
                <a:spAutoFit/>
              </a:bodyPr>
              <a:lstStyle/>
              <a:p>
                <a:r>
                  <a:rPr lang="en-US" altLang="zh-CN" dirty="0"/>
                  <a:t>When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𝑓</m:t>
                        </m:r>
                      </m:sub>
                    </m:sSub>
                    <m:r>
                      <a:rPr lang="en-US" altLang="zh-CN" b="0" i="1" smtClean="0">
                        <a:latin typeface="Cambria Math" panose="02040503050406030204" pitchFamily="18" charset="0"/>
                      </a:rPr>
                      <m:t>=0</m:t>
                    </m:r>
                  </m:oMath>
                </a14:m>
                <a:r>
                  <a:rPr lang="zh-CN" altLang="en-US" dirty="0"/>
                  <a:t> </a:t>
                </a:r>
                <a:r>
                  <a:rPr lang="en-US" altLang="zh-CN" dirty="0"/>
                  <a:t>and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𝑠</m:t>
                        </m:r>
                      </m:sub>
                    </m:sSub>
                    <m:r>
                      <a:rPr lang="en-US" altLang="zh-CN" b="0"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m:t>
                    </m:r>
                  </m:oMath>
                </a14:m>
                <a:r>
                  <a:rPr lang="en-US" altLang="zh-CN" dirty="0"/>
                  <a:t>, we get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0</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𝑠</m:t>
                        </m:r>
                      </m:sub>
                    </m:sSub>
                  </m:oMath>
                </a14:m>
                <a:r>
                  <a:rPr lang="en-US" altLang="zh-CN" dirty="0"/>
                  <a:t>, i.e. a voltage follower.  </a:t>
                </a:r>
                <a:endParaRPr lang="zh-CN" altLang="en-US" dirty="0"/>
              </a:p>
            </p:txBody>
          </p:sp>
        </mc:Choice>
        <mc:Fallback xmlns="">
          <p:sp>
            <p:nvSpPr>
              <p:cNvPr id="4" name="文本框 3">
                <a:extLst>
                  <a:ext uri="{FF2B5EF4-FFF2-40B4-BE49-F238E27FC236}">
                    <a16:creationId xmlns:a16="http://schemas.microsoft.com/office/drawing/2014/main" id="{ACF22E6B-73B2-41EE-AC1C-3CA7200B062E}"/>
                  </a:ext>
                </a:extLst>
              </p:cNvPr>
              <p:cNvSpPr txBox="1">
                <a:spLocks noRot="1" noChangeAspect="1" noMove="1" noResize="1" noEditPoints="1" noAdjustHandles="1" noChangeArrowheads="1" noChangeShapeType="1" noTextEdit="1"/>
              </p:cNvSpPr>
              <p:nvPr/>
            </p:nvSpPr>
            <p:spPr>
              <a:xfrm>
                <a:off x="775724" y="5496579"/>
                <a:ext cx="7539372" cy="424732"/>
              </a:xfrm>
              <a:prstGeom prst="rect">
                <a:avLst/>
              </a:prstGeom>
              <a:blipFill>
                <a:blip r:embed="rId4"/>
                <a:stretch>
                  <a:fillRect l="-808" t="-8696" r="-728" b="-2029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89943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228600" y="707023"/>
            <a:ext cx="5181600" cy="533400"/>
          </a:xfrm>
        </p:spPr>
        <p:txBody>
          <a:bodyPr/>
          <a:lstStyle/>
          <a:p>
            <a:r>
              <a:rPr lang="en-US" altLang="zh-CN" sz="2800" dirty="0">
                <a:ea typeface="宋体" panose="02010600030101010101" pitchFamily="2" charset="-122"/>
              </a:rPr>
              <a:t>Application: Voltage Follower</a:t>
            </a:r>
          </a:p>
        </p:txBody>
      </p:sp>
      <p:pic>
        <p:nvPicPr>
          <p:cNvPr id="2" name="图片 1">
            <a:extLst>
              <a:ext uri="{FF2B5EF4-FFF2-40B4-BE49-F238E27FC236}">
                <a16:creationId xmlns:a16="http://schemas.microsoft.com/office/drawing/2014/main" id="{5AEC4104-35FC-4DFB-B901-79650CC09478}"/>
              </a:ext>
            </a:extLst>
          </p:cNvPr>
          <p:cNvPicPr>
            <a:picLocks noChangeAspect="1"/>
          </p:cNvPicPr>
          <p:nvPr/>
        </p:nvPicPr>
        <p:blipFill>
          <a:blip r:embed="rId3"/>
          <a:stretch>
            <a:fillRect/>
          </a:stretch>
        </p:blipFill>
        <p:spPr>
          <a:xfrm>
            <a:off x="308264" y="1905000"/>
            <a:ext cx="4129547" cy="2157404"/>
          </a:xfrm>
          <a:prstGeom prst="rect">
            <a:avLst/>
          </a:prstGeom>
        </p:spPr>
      </p:pic>
      <p:grpSp>
        <p:nvGrpSpPr>
          <p:cNvPr id="3" name="组合 2">
            <a:extLst>
              <a:ext uri="{FF2B5EF4-FFF2-40B4-BE49-F238E27FC236}">
                <a16:creationId xmlns:a16="http://schemas.microsoft.com/office/drawing/2014/main" id="{B4178BFC-0CF3-4DFE-B504-13D2731468DA}"/>
              </a:ext>
            </a:extLst>
          </p:cNvPr>
          <p:cNvGrpSpPr/>
          <p:nvPr/>
        </p:nvGrpSpPr>
        <p:grpSpPr>
          <a:xfrm>
            <a:off x="4984816" y="1747432"/>
            <a:ext cx="5797484" cy="2314972"/>
            <a:chOff x="5013566" y="1214032"/>
            <a:chExt cx="5797484" cy="2314972"/>
          </a:xfrm>
        </p:grpSpPr>
        <p:pic>
          <p:nvPicPr>
            <p:cNvPr id="41" name="Picture 12" descr="Capture.PNG">
              <a:extLst>
                <a:ext uri="{FF2B5EF4-FFF2-40B4-BE49-F238E27FC236}">
                  <a16:creationId xmlns:a16="http://schemas.microsoft.com/office/drawing/2014/main" id="{BCD730EB-1497-47A7-97C9-0BB464EEFE52}"/>
                </a:ext>
              </a:extLst>
            </p:cNvPr>
            <p:cNvPicPr>
              <a:picLocks noChangeAspect="1"/>
            </p:cNvPicPr>
            <p:nvPr/>
          </p:nvPicPr>
          <p:blipFill>
            <a:blip r:embed="rId4" cstate="print"/>
            <a:stretch>
              <a:fillRect/>
            </a:stretch>
          </p:blipFill>
          <p:spPr>
            <a:xfrm>
              <a:off x="5013566" y="1957637"/>
              <a:ext cx="3853986" cy="1571367"/>
            </a:xfrm>
            <a:prstGeom prst="rect">
              <a:avLst/>
            </a:prstGeom>
          </p:spPr>
        </p:pic>
        <p:sp>
          <p:nvSpPr>
            <p:cNvPr id="42" name="Rectangle 2">
              <a:extLst>
                <a:ext uri="{FF2B5EF4-FFF2-40B4-BE49-F238E27FC236}">
                  <a16:creationId xmlns:a16="http://schemas.microsoft.com/office/drawing/2014/main" id="{F8F7032C-9120-4BB1-8F6B-1890A1CE1C27}"/>
                </a:ext>
              </a:extLst>
            </p:cNvPr>
            <p:cNvSpPr txBox="1">
              <a:spLocks noChangeArrowheads="1"/>
            </p:cNvSpPr>
            <p:nvPr/>
          </p:nvSpPr>
          <p:spPr bwMode="auto">
            <a:xfrm>
              <a:off x="5629450" y="1214032"/>
              <a:ext cx="5181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2800" b="1" kern="1200">
                  <a:solidFill>
                    <a:srgbClr val="FF0000"/>
                  </a:solidFill>
                  <a:latin typeface="Arial" panose="020B0604020202020204" pitchFamily="34" charset="0"/>
                  <a:ea typeface="+mj-ea"/>
                  <a:cs typeface="Arial" panose="020B0604020202020204" pitchFamily="34" charset="0"/>
                </a:defRPr>
              </a:lvl1pPr>
              <a:lvl2pPr algn="l" rtl="0" eaLnBrk="1" fontAlgn="base" hangingPunct="1">
                <a:spcBef>
                  <a:spcPct val="0"/>
                </a:spcBef>
                <a:spcAft>
                  <a:spcPct val="0"/>
                </a:spcAft>
                <a:defRPr sz="2800" b="1">
                  <a:solidFill>
                    <a:srgbClr val="FF0000"/>
                  </a:solidFill>
                  <a:latin typeface="Arial" panose="020B0604020202020204" pitchFamily="34" charset="0"/>
                  <a:ea typeface="汉仪中圆简"/>
                  <a:cs typeface="Arial" panose="020B0604020202020204" pitchFamily="34" charset="0"/>
                </a:defRPr>
              </a:lvl2pPr>
              <a:lvl3pPr algn="l" rtl="0" eaLnBrk="1" fontAlgn="base" hangingPunct="1">
                <a:spcBef>
                  <a:spcPct val="0"/>
                </a:spcBef>
                <a:spcAft>
                  <a:spcPct val="0"/>
                </a:spcAft>
                <a:defRPr sz="2800" b="1">
                  <a:solidFill>
                    <a:srgbClr val="FF0000"/>
                  </a:solidFill>
                  <a:latin typeface="Arial" panose="020B0604020202020204" pitchFamily="34" charset="0"/>
                  <a:ea typeface="汉仪中圆简"/>
                  <a:cs typeface="Arial" panose="020B0604020202020204" pitchFamily="34" charset="0"/>
                </a:defRPr>
              </a:lvl3pPr>
              <a:lvl4pPr algn="l" rtl="0" eaLnBrk="1" fontAlgn="base" hangingPunct="1">
                <a:spcBef>
                  <a:spcPct val="0"/>
                </a:spcBef>
                <a:spcAft>
                  <a:spcPct val="0"/>
                </a:spcAft>
                <a:defRPr sz="2800" b="1">
                  <a:solidFill>
                    <a:srgbClr val="FF0000"/>
                  </a:solidFill>
                  <a:latin typeface="Arial" panose="020B0604020202020204" pitchFamily="34" charset="0"/>
                  <a:ea typeface="汉仪中圆简"/>
                  <a:cs typeface="Arial" panose="020B0604020202020204" pitchFamily="34" charset="0"/>
                </a:defRPr>
              </a:lvl4pPr>
              <a:lvl5pPr algn="l" rtl="0" eaLnBrk="1" fontAlgn="base" hangingPunct="1">
                <a:spcBef>
                  <a:spcPct val="0"/>
                </a:spcBef>
                <a:spcAft>
                  <a:spcPct val="0"/>
                </a:spcAft>
                <a:defRPr sz="2800" b="1">
                  <a:solidFill>
                    <a:srgbClr val="FF0000"/>
                  </a:solidFill>
                  <a:latin typeface="Arial" panose="020B0604020202020204" pitchFamily="34" charset="0"/>
                  <a:ea typeface="汉仪中圆简"/>
                  <a:cs typeface="Arial" panose="020B0604020202020204" pitchFamily="34" charset="0"/>
                </a:defRPr>
              </a:lvl5pPr>
              <a:lvl6pPr marL="457200" algn="l" rtl="0" eaLnBrk="1" fontAlgn="base" hangingPunct="1">
                <a:spcBef>
                  <a:spcPct val="0"/>
                </a:spcBef>
                <a:spcAft>
                  <a:spcPct val="0"/>
                </a:spcAft>
                <a:defRPr sz="4400">
                  <a:solidFill>
                    <a:srgbClr val="C00000"/>
                  </a:solidFill>
                  <a:latin typeface="Cambria" pitchFamily="18" charset="0"/>
                  <a:ea typeface="汉仪中圆简"/>
                  <a:cs typeface="汉仪中圆简"/>
                </a:defRPr>
              </a:lvl6pPr>
              <a:lvl7pPr marL="914400" algn="l" rtl="0" eaLnBrk="1" fontAlgn="base" hangingPunct="1">
                <a:spcBef>
                  <a:spcPct val="0"/>
                </a:spcBef>
                <a:spcAft>
                  <a:spcPct val="0"/>
                </a:spcAft>
                <a:defRPr sz="4400">
                  <a:solidFill>
                    <a:srgbClr val="C00000"/>
                  </a:solidFill>
                  <a:latin typeface="Cambria" pitchFamily="18" charset="0"/>
                  <a:ea typeface="汉仪中圆简"/>
                  <a:cs typeface="汉仪中圆简"/>
                </a:defRPr>
              </a:lvl7pPr>
              <a:lvl8pPr marL="1371600" algn="l" rtl="0" eaLnBrk="1" fontAlgn="base" hangingPunct="1">
                <a:spcBef>
                  <a:spcPct val="0"/>
                </a:spcBef>
                <a:spcAft>
                  <a:spcPct val="0"/>
                </a:spcAft>
                <a:defRPr sz="4400">
                  <a:solidFill>
                    <a:srgbClr val="C00000"/>
                  </a:solidFill>
                  <a:latin typeface="Cambria" pitchFamily="18" charset="0"/>
                  <a:ea typeface="汉仪中圆简"/>
                  <a:cs typeface="汉仪中圆简"/>
                </a:defRPr>
              </a:lvl8pPr>
              <a:lvl9pPr marL="1828800" algn="l" rtl="0" eaLnBrk="1" fontAlgn="base" hangingPunct="1">
                <a:spcBef>
                  <a:spcPct val="0"/>
                </a:spcBef>
                <a:spcAft>
                  <a:spcPct val="0"/>
                </a:spcAft>
                <a:defRPr sz="4400">
                  <a:solidFill>
                    <a:srgbClr val="C00000"/>
                  </a:solidFill>
                  <a:latin typeface="Cambria" pitchFamily="18" charset="0"/>
                  <a:ea typeface="汉仪中圆简"/>
                  <a:cs typeface="汉仪中圆简"/>
                </a:defRPr>
              </a:lvl9pPr>
            </a:lstStyle>
            <a:p>
              <a:r>
                <a:rPr lang="en-US" altLang="zh-CN" sz="2400" b="0" dirty="0">
                  <a:solidFill>
                    <a:schemeClr val="tx1"/>
                  </a:solidFill>
                  <a:ea typeface="宋体" panose="02010600030101010101" pitchFamily="2" charset="-122"/>
                </a:rPr>
                <a:t>Direct connection</a:t>
              </a:r>
            </a:p>
          </p:txBody>
        </p:sp>
      </p:gr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E9F0772E-CDBF-45B5-BE20-2AA0A1B0703D}"/>
                  </a:ext>
                </a:extLst>
              </p:cNvPr>
              <p:cNvSpPr txBox="1"/>
              <p:nvPr/>
            </p:nvSpPr>
            <p:spPr>
              <a:xfrm>
                <a:off x="489016" y="4465371"/>
                <a:ext cx="4495800" cy="1938992"/>
              </a:xfrm>
              <a:prstGeom prst="rect">
                <a:avLst/>
              </a:prstGeom>
              <a:noFill/>
            </p:spPr>
            <p:txBody>
              <a:bodyPr wrap="square" rtlCol="0">
                <a:spAutoFit/>
              </a:bodyPr>
              <a:lstStyle/>
              <a:p>
                <a:r>
                  <a:rPr lang="en-US" altLang="zh-CN" dirty="0"/>
                  <a:t>Equivalent Thevenin circuit: </a:t>
                </a:r>
              </a:p>
              <a:p>
                <a:endParaRPr lang="en-US" altLang="zh-CN" dirty="0"/>
              </a:p>
              <a:p>
                <a:r>
                  <a:rPr lang="en-US" altLang="zh-CN" dirty="0"/>
                  <a:t>Input side: </a:t>
                </a:r>
                <a:r>
                  <a:rPr lang="en-US" altLang="zh-CN" dirty="0" err="1"/>
                  <a:t>V</a:t>
                </a:r>
                <a:r>
                  <a:rPr lang="en-US" altLang="zh-CN" baseline="-25000" dirty="0" err="1"/>
                  <a:t>Th</a:t>
                </a:r>
                <a:r>
                  <a:rPr lang="en-US" altLang="zh-CN" dirty="0"/>
                  <a:t>=V</a:t>
                </a:r>
                <a:r>
                  <a:rPr lang="en-US" altLang="zh-CN" baseline="-25000" dirty="0"/>
                  <a:t>s</a:t>
                </a:r>
                <a:r>
                  <a:rPr lang="en-US" altLang="zh-CN" dirty="0"/>
                  <a:t>; </a:t>
                </a:r>
                <a:r>
                  <a:rPr lang="en-US" altLang="zh-CN" dirty="0" err="1"/>
                  <a:t>R</a:t>
                </a:r>
                <a:r>
                  <a:rPr lang="en-US" altLang="zh-CN" baseline="-25000" dirty="0" err="1"/>
                  <a:t>Th</a:t>
                </a:r>
                <a:r>
                  <a:rPr lang="en-US" altLang="zh-CN" dirty="0"/>
                  <a:t> </a:t>
                </a:r>
                <a14:m>
                  <m:oMath xmlns:m="http://schemas.openxmlformats.org/officeDocument/2006/math">
                    <m:r>
                      <a:rPr lang="en-US" altLang="zh-CN" i="1" dirty="0">
                        <a:latin typeface="Cambria Math" panose="02040503050406030204" pitchFamily="18" charset="0"/>
                        <a:ea typeface="Cambria Math" panose="02040503050406030204" pitchFamily="18" charset="0"/>
                      </a:rPr>
                      <m:t>≈</m:t>
                    </m:r>
                  </m:oMath>
                </a14:m>
                <a:r>
                  <a:rPr lang="en-US" altLang="zh-CN" dirty="0"/>
                  <a:t> R</a:t>
                </a:r>
                <a:r>
                  <a:rPr lang="en-US" altLang="zh-CN" baseline="-25000" dirty="0"/>
                  <a:t>s</a:t>
                </a:r>
                <a:r>
                  <a:rPr lang="en-US" altLang="zh-CN" dirty="0"/>
                  <a:t>, load </a:t>
                </a:r>
                <a14:m>
                  <m:oMath xmlns:m="http://schemas.openxmlformats.org/officeDocument/2006/math">
                    <m:r>
                      <a:rPr lang="en-US" altLang="zh-CN" i="1" dirty="0" smtClean="0">
                        <a:latin typeface="Cambria Math" panose="02040503050406030204" pitchFamily="18" charset="0"/>
                        <a:ea typeface="Cambria Math" panose="02040503050406030204" pitchFamily="18" charset="0"/>
                      </a:rPr>
                      <m:t>∞</m:t>
                    </m:r>
                  </m:oMath>
                </a14:m>
                <a:r>
                  <a:rPr lang="en-US" altLang="zh-CN" dirty="0"/>
                  <a:t> </a:t>
                </a:r>
              </a:p>
              <a:p>
                <a:endParaRPr lang="en-US" altLang="zh-CN" dirty="0"/>
              </a:p>
              <a:p>
                <a:r>
                  <a:rPr lang="en-US" altLang="zh-CN" dirty="0"/>
                  <a:t>Output side: </a:t>
                </a:r>
                <a:r>
                  <a:rPr lang="en-US" altLang="zh-CN" dirty="0" err="1"/>
                  <a:t>V</a:t>
                </a:r>
                <a:r>
                  <a:rPr lang="en-US" altLang="zh-CN" baseline="-25000" dirty="0" err="1"/>
                  <a:t>Th</a:t>
                </a:r>
                <a:r>
                  <a:rPr lang="en-US" altLang="zh-CN" dirty="0"/>
                  <a:t>=V</a:t>
                </a:r>
                <a:r>
                  <a:rPr lang="en-US" altLang="zh-CN" baseline="-25000" dirty="0"/>
                  <a:t>s</a:t>
                </a:r>
                <a:r>
                  <a:rPr lang="en-US" altLang="zh-CN" dirty="0"/>
                  <a:t>; </a:t>
                </a:r>
                <a:r>
                  <a:rPr lang="en-US" altLang="zh-CN" dirty="0" err="1"/>
                  <a:t>R</a:t>
                </a:r>
                <a:r>
                  <a:rPr lang="en-US" altLang="zh-CN" baseline="-25000" dirty="0" err="1"/>
                  <a:t>Th</a:t>
                </a:r>
                <a:r>
                  <a:rPr lang="en-US" altLang="zh-CN" dirty="0"/>
                  <a:t> </a:t>
                </a:r>
                <a14:m>
                  <m:oMath xmlns:m="http://schemas.openxmlformats.org/officeDocument/2006/math">
                    <m:r>
                      <a:rPr lang="en-US" altLang="zh-CN" i="1" dirty="0">
                        <a:latin typeface="Cambria Math" panose="02040503050406030204" pitchFamily="18" charset="0"/>
                        <a:ea typeface="Cambria Math" panose="02040503050406030204" pitchFamily="18" charset="0"/>
                      </a:rPr>
                      <m:t>≈</m:t>
                    </m:r>
                  </m:oMath>
                </a14:m>
                <a:r>
                  <a:rPr lang="en-US" altLang="zh-CN" dirty="0"/>
                  <a:t> 0, load R</a:t>
                </a:r>
                <a:r>
                  <a:rPr lang="en-US" altLang="zh-CN" baseline="-25000" dirty="0"/>
                  <a:t>L</a:t>
                </a:r>
                <a:r>
                  <a:rPr lang="en-US" altLang="zh-CN" dirty="0"/>
                  <a:t>  </a:t>
                </a:r>
              </a:p>
              <a:p>
                <a:endParaRPr lang="zh-CN" altLang="en-US" dirty="0"/>
              </a:p>
            </p:txBody>
          </p:sp>
        </mc:Choice>
        <mc:Fallback xmlns="">
          <p:sp>
            <p:nvSpPr>
              <p:cNvPr id="7" name="文本框 6">
                <a:extLst>
                  <a:ext uri="{FF2B5EF4-FFF2-40B4-BE49-F238E27FC236}">
                    <a16:creationId xmlns:a16="http://schemas.microsoft.com/office/drawing/2014/main" id="{E9F0772E-CDBF-45B5-BE20-2AA0A1B0703D}"/>
                  </a:ext>
                </a:extLst>
              </p:cNvPr>
              <p:cNvSpPr txBox="1">
                <a:spLocks noRot="1" noChangeAspect="1" noMove="1" noResize="1" noEditPoints="1" noAdjustHandles="1" noChangeArrowheads="1" noChangeShapeType="1" noTextEdit="1"/>
              </p:cNvSpPr>
              <p:nvPr/>
            </p:nvSpPr>
            <p:spPr>
              <a:xfrm>
                <a:off x="489016" y="4465371"/>
                <a:ext cx="4495800" cy="1938992"/>
              </a:xfrm>
              <a:prstGeom prst="rect">
                <a:avLst/>
              </a:prstGeom>
              <a:blipFill>
                <a:blip r:embed="rId5"/>
                <a:stretch>
                  <a:fillRect l="-1355" t="-157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82724C93-CE86-4B40-ADEE-97B088CD1D18}"/>
                  </a:ext>
                </a:extLst>
              </p:cNvPr>
              <p:cNvSpPr txBox="1"/>
              <p:nvPr/>
            </p:nvSpPr>
            <p:spPr>
              <a:xfrm>
                <a:off x="5401490" y="4726981"/>
                <a:ext cx="3339739" cy="707886"/>
              </a:xfrm>
              <a:prstGeom prst="rect">
                <a:avLst/>
              </a:prstGeom>
              <a:noFill/>
            </p:spPr>
            <p:txBody>
              <a:bodyPr wrap="square" rtlCol="0">
                <a:spAutoFit/>
              </a:bodyPr>
              <a:lstStyle/>
              <a:p>
                <a:r>
                  <a:rPr lang="en-US" altLang="zh-CN" dirty="0"/>
                  <a:t>Equivalent Thevenin circuit: </a:t>
                </a:r>
                <a:r>
                  <a:rPr lang="en-US" altLang="zh-CN" dirty="0" err="1"/>
                  <a:t>V</a:t>
                </a:r>
                <a:r>
                  <a:rPr lang="en-US" altLang="zh-CN" baseline="-25000" dirty="0" err="1"/>
                  <a:t>Th</a:t>
                </a:r>
                <a:r>
                  <a:rPr lang="en-US" altLang="zh-CN" dirty="0"/>
                  <a:t>=V</a:t>
                </a:r>
                <a:r>
                  <a:rPr lang="en-US" altLang="zh-CN" baseline="-25000" dirty="0"/>
                  <a:t>s</a:t>
                </a:r>
                <a:r>
                  <a:rPr lang="en-US" altLang="zh-CN" dirty="0"/>
                  <a:t>; </a:t>
                </a:r>
                <a:r>
                  <a:rPr lang="en-US" altLang="zh-CN" dirty="0" err="1"/>
                  <a:t>R</a:t>
                </a:r>
                <a:r>
                  <a:rPr lang="en-US" altLang="zh-CN" baseline="-25000" dirty="0" err="1"/>
                  <a:t>Th</a:t>
                </a:r>
                <a:r>
                  <a:rPr lang="en-US" altLang="zh-CN" dirty="0"/>
                  <a:t> </a:t>
                </a:r>
                <a14:m>
                  <m:oMath xmlns:m="http://schemas.openxmlformats.org/officeDocument/2006/math">
                    <m:r>
                      <a:rPr lang="en-US" altLang="zh-CN" b="0" i="1" dirty="0" smtClean="0">
                        <a:latin typeface="Cambria Math" panose="02040503050406030204" pitchFamily="18" charset="0"/>
                        <a:ea typeface="Cambria Math" panose="02040503050406030204" pitchFamily="18" charset="0"/>
                      </a:rPr>
                      <m:t>=</m:t>
                    </m:r>
                  </m:oMath>
                </a14:m>
                <a:r>
                  <a:rPr lang="en-US" altLang="zh-CN" dirty="0"/>
                  <a:t> R</a:t>
                </a:r>
                <a:r>
                  <a:rPr lang="en-US" altLang="zh-CN" baseline="-25000" dirty="0"/>
                  <a:t>s</a:t>
                </a:r>
                <a:r>
                  <a:rPr lang="en-US" altLang="zh-CN" dirty="0"/>
                  <a:t>, load R</a:t>
                </a:r>
                <a:r>
                  <a:rPr lang="en-US" altLang="zh-CN" baseline="-25000" dirty="0"/>
                  <a:t>L</a:t>
                </a:r>
                <a:endParaRPr lang="zh-CN" altLang="en-US" baseline="-25000" dirty="0"/>
              </a:p>
            </p:txBody>
          </p:sp>
        </mc:Choice>
        <mc:Fallback xmlns="">
          <p:sp>
            <p:nvSpPr>
              <p:cNvPr id="12" name="文本框 11">
                <a:extLst>
                  <a:ext uri="{FF2B5EF4-FFF2-40B4-BE49-F238E27FC236}">
                    <a16:creationId xmlns:a16="http://schemas.microsoft.com/office/drawing/2014/main" id="{82724C93-CE86-4B40-ADEE-97B088CD1D18}"/>
                  </a:ext>
                </a:extLst>
              </p:cNvPr>
              <p:cNvSpPr txBox="1">
                <a:spLocks noRot="1" noChangeAspect="1" noMove="1" noResize="1" noEditPoints="1" noAdjustHandles="1" noChangeArrowheads="1" noChangeShapeType="1" noTextEdit="1"/>
              </p:cNvSpPr>
              <p:nvPr/>
            </p:nvSpPr>
            <p:spPr>
              <a:xfrm>
                <a:off x="5401490" y="4726981"/>
                <a:ext cx="3339739" cy="707886"/>
              </a:xfrm>
              <a:prstGeom prst="rect">
                <a:avLst/>
              </a:prstGeom>
              <a:blipFill>
                <a:blip r:embed="rId6"/>
                <a:stretch>
                  <a:fillRect l="-1825" t="-3419" r="-2372" b="-14530"/>
                </a:stretch>
              </a:blipFill>
            </p:spPr>
            <p:txBody>
              <a:bodyPr/>
              <a:lstStyle/>
              <a:p>
                <a:r>
                  <a:rPr lang="zh-CN" altLang="en-US">
                    <a:noFill/>
                  </a:rPr>
                  <a:t> </a:t>
                </a:r>
              </a:p>
            </p:txBody>
          </p:sp>
        </mc:Fallback>
      </mc:AlternateContent>
      <p:sp>
        <p:nvSpPr>
          <p:cNvPr id="13" name="Rectangle 2">
            <a:extLst>
              <a:ext uri="{FF2B5EF4-FFF2-40B4-BE49-F238E27FC236}">
                <a16:creationId xmlns:a16="http://schemas.microsoft.com/office/drawing/2014/main" id="{545F9C49-23C5-4414-BCB3-B40122BB1BCB}"/>
              </a:ext>
            </a:extLst>
          </p:cNvPr>
          <p:cNvSpPr txBox="1">
            <a:spLocks noChangeArrowheads="1"/>
          </p:cNvSpPr>
          <p:nvPr/>
        </p:nvSpPr>
        <p:spPr bwMode="auto">
          <a:xfrm>
            <a:off x="1143000" y="1747432"/>
            <a:ext cx="5181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2800" b="1" kern="1200">
                <a:solidFill>
                  <a:srgbClr val="FF0000"/>
                </a:solidFill>
                <a:latin typeface="Arial" panose="020B0604020202020204" pitchFamily="34" charset="0"/>
                <a:ea typeface="+mj-ea"/>
                <a:cs typeface="Arial" panose="020B0604020202020204" pitchFamily="34" charset="0"/>
              </a:defRPr>
            </a:lvl1pPr>
            <a:lvl2pPr algn="l" rtl="0" eaLnBrk="1" fontAlgn="base" hangingPunct="1">
              <a:spcBef>
                <a:spcPct val="0"/>
              </a:spcBef>
              <a:spcAft>
                <a:spcPct val="0"/>
              </a:spcAft>
              <a:defRPr sz="2800" b="1">
                <a:solidFill>
                  <a:srgbClr val="FF0000"/>
                </a:solidFill>
                <a:latin typeface="Arial" panose="020B0604020202020204" pitchFamily="34" charset="0"/>
                <a:ea typeface="汉仪中圆简"/>
                <a:cs typeface="Arial" panose="020B0604020202020204" pitchFamily="34" charset="0"/>
              </a:defRPr>
            </a:lvl2pPr>
            <a:lvl3pPr algn="l" rtl="0" eaLnBrk="1" fontAlgn="base" hangingPunct="1">
              <a:spcBef>
                <a:spcPct val="0"/>
              </a:spcBef>
              <a:spcAft>
                <a:spcPct val="0"/>
              </a:spcAft>
              <a:defRPr sz="2800" b="1">
                <a:solidFill>
                  <a:srgbClr val="FF0000"/>
                </a:solidFill>
                <a:latin typeface="Arial" panose="020B0604020202020204" pitchFamily="34" charset="0"/>
                <a:ea typeface="汉仪中圆简"/>
                <a:cs typeface="Arial" panose="020B0604020202020204" pitchFamily="34" charset="0"/>
              </a:defRPr>
            </a:lvl3pPr>
            <a:lvl4pPr algn="l" rtl="0" eaLnBrk="1" fontAlgn="base" hangingPunct="1">
              <a:spcBef>
                <a:spcPct val="0"/>
              </a:spcBef>
              <a:spcAft>
                <a:spcPct val="0"/>
              </a:spcAft>
              <a:defRPr sz="2800" b="1">
                <a:solidFill>
                  <a:srgbClr val="FF0000"/>
                </a:solidFill>
                <a:latin typeface="Arial" panose="020B0604020202020204" pitchFamily="34" charset="0"/>
                <a:ea typeface="汉仪中圆简"/>
                <a:cs typeface="Arial" panose="020B0604020202020204" pitchFamily="34" charset="0"/>
              </a:defRPr>
            </a:lvl4pPr>
            <a:lvl5pPr algn="l" rtl="0" eaLnBrk="1" fontAlgn="base" hangingPunct="1">
              <a:spcBef>
                <a:spcPct val="0"/>
              </a:spcBef>
              <a:spcAft>
                <a:spcPct val="0"/>
              </a:spcAft>
              <a:defRPr sz="2800" b="1">
                <a:solidFill>
                  <a:srgbClr val="FF0000"/>
                </a:solidFill>
                <a:latin typeface="Arial" panose="020B0604020202020204" pitchFamily="34" charset="0"/>
                <a:ea typeface="汉仪中圆简"/>
                <a:cs typeface="Arial" panose="020B0604020202020204" pitchFamily="34" charset="0"/>
              </a:defRPr>
            </a:lvl5pPr>
            <a:lvl6pPr marL="457200" algn="l" rtl="0" eaLnBrk="1" fontAlgn="base" hangingPunct="1">
              <a:spcBef>
                <a:spcPct val="0"/>
              </a:spcBef>
              <a:spcAft>
                <a:spcPct val="0"/>
              </a:spcAft>
              <a:defRPr sz="4400">
                <a:solidFill>
                  <a:srgbClr val="C00000"/>
                </a:solidFill>
                <a:latin typeface="Cambria" pitchFamily="18" charset="0"/>
                <a:ea typeface="汉仪中圆简"/>
                <a:cs typeface="汉仪中圆简"/>
              </a:defRPr>
            </a:lvl6pPr>
            <a:lvl7pPr marL="914400" algn="l" rtl="0" eaLnBrk="1" fontAlgn="base" hangingPunct="1">
              <a:spcBef>
                <a:spcPct val="0"/>
              </a:spcBef>
              <a:spcAft>
                <a:spcPct val="0"/>
              </a:spcAft>
              <a:defRPr sz="4400">
                <a:solidFill>
                  <a:srgbClr val="C00000"/>
                </a:solidFill>
                <a:latin typeface="Cambria" pitchFamily="18" charset="0"/>
                <a:ea typeface="汉仪中圆简"/>
                <a:cs typeface="汉仪中圆简"/>
              </a:defRPr>
            </a:lvl7pPr>
            <a:lvl8pPr marL="1371600" algn="l" rtl="0" eaLnBrk="1" fontAlgn="base" hangingPunct="1">
              <a:spcBef>
                <a:spcPct val="0"/>
              </a:spcBef>
              <a:spcAft>
                <a:spcPct val="0"/>
              </a:spcAft>
              <a:defRPr sz="4400">
                <a:solidFill>
                  <a:srgbClr val="C00000"/>
                </a:solidFill>
                <a:latin typeface="Cambria" pitchFamily="18" charset="0"/>
                <a:ea typeface="汉仪中圆简"/>
                <a:cs typeface="汉仪中圆简"/>
              </a:defRPr>
            </a:lvl8pPr>
            <a:lvl9pPr marL="1828800" algn="l" rtl="0" eaLnBrk="1" fontAlgn="base" hangingPunct="1">
              <a:spcBef>
                <a:spcPct val="0"/>
              </a:spcBef>
              <a:spcAft>
                <a:spcPct val="0"/>
              </a:spcAft>
              <a:defRPr sz="4400">
                <a:solidFill>
                  <a:srgbClr val="C00000"/>
                </a:solidFill>
                <a:latin typeface="Cambria" pitchFamily="18" charset="0"/>
                <a:ea typeface="汉仪中圆简"/>
                <a:cs typeface="汉仪中圆简"/>
              </a:defRPr>
            </a:lvl9pPr>
          </a:lstStyle>
          <a:p>
            <a:r>
              <a:rPr lang="en-US" altLang="zh-CN" sz="2400" b="0" dirty="0">
                <a:solidFill>
                  <a:schemeClr val="tx1"/>
                </a:solidFill>
                <a:ea typeface="宋体" panose="02010600030101010101" pitchFamily="2" charset="-122"/>
              </a:rPr>
              <a:t>Voltage follower</a:t>
            </a:r>
          </a:p>
        </p:txBody>
      </p:sp>
    </p:spTree>
    <p:extLst>
      <p:ext uri="{BB962C8B-B14F-4D97-AF65-F5344CB8AC3E}">
        <p14:creationId xmlns:p14="http://schemas.microsoft.com/office/powerpoint/2010/main" val="514482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1000" fill="hold"/>
                                        <p:tgtEl>
                                          <p:spTgt spid="3"/>
                                        </p:tgtEl>
                                        <p:attrNameLst>
                                          <p:attrName>ppt_w</p:attrName>
                                        </p:attrNameLst>
                                      </p:cBhvr>
                                      <p:tavLst>
                                        <p:tav tm="0">
                                          <p:val>
                                            <p:fltVal val="0"/>
                                          </p:val>
                                        </p:tav>
                                        <p:tav tm="100000">
                                          <p:val>
                                            <p:strVal val="#ppt_w"/>
                                          </p:val>
                                        </p:tav>
                                      </p:tavLst>
                                    </p:anim>
                                    <p:anim calcmode="lin" valueType="num">
                                      <p:cBhvr>
                                        <p:cTn id="14" dur="1000" fill="hold"/>
                                        <p:tgtEl>
                                          <p:spTgt spid="3"/>
                                        </p:tgtEl>
                                        <p:attrNameLst>
                                          <p:attrName>ppt_h</p:attrName>
                                        </p:attrNameLst>
                                      </p:cBhvr>
                                      <p:tavLst>
                                        <p:tav tm="0">
                                          <p:val>
                                            <p:fltVal val="0"/>
                                          </p:val>
                                        </p:tav>
                                        <p:tav tm="100000">
                                          <p:val>
                                            <p:strVal val="#ppt_h"/>
                                          </p:val>
                                        </p:tav>
                                      </p:tavLst>
                                    </p:anim>
                                    <p:anim calcmode="lin" valueType="num">
                                      <p:cBhvr>
                                        <p:cTn id="15" dur="1000" fill="hold"/>
                                        <p:tgtEl>
                                          <p:spTgt spid="3"/>
                                        </p:tgtEl>
                                        <p:attrNameLst>
                                          <p:attrName>style.rotation</p:attrName>
                                        </p:attrNameLst>
                                      </p:cBhvr>
                                      <p:tavLst>
                                        <p:tav tm="0">
                                          <p:val>
                                            <p:fltVal val="90"/>
                                          </p:val>
                                        </p:tav>
                                        <p:tav tm="100000">
                                          <p:val>
                                            <p:fltVal val="0"/>
                                          </p:val>
                                        </p:tav>
                                      </p:tavLst>
                                    </p:anim>
                                    <p:animEffect transition="in" filter="fade">
                                      <p:cBhvr>
                                        <p:cTn id="16" dur="10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533400"/>
            <a:ext cx="8229600" cy="838200"/>
          </a:xfrm>
        </p:spPr>
        <p:txBody>
          <a:bodyPr/>
          <a:lstStyle/>
          <a:p>
            <a:r>
              <a:rPr lang="en-US" altLang="zh-CN" dirty="0"/>
              <a:t>Practice 1</a:t>
            </a:r>
            <a:endParaRPr lang="zh-CN" altLang="en-US" dirty="0"/>
          </a:p>
        </p:txBody>
      </p:sp>
      <mc:AlternateContent xmlns:mc="http://schemas.openxmlformats.org/markup-compatibility/2006" xmlns:a14="http://schemas.microsoft.com/office/drawing/2010/main">
        <mc:Choice Requires="a14">
          <p:sp>
            <p:nvSpPr>
              <p:cNvPr id="7" name="Content Placeholder 2"/>
              <p:cNvSpPr txBox="1">
                <a:spLocks/>
              </p:cNvSpPr>
              <p:nvPr/>
            </p:nvSpPr>
            <p:spPr>
              <a:xfrm>
                <a:off x="457200" y="1422400"/>
                <a:ext cx="8077200" cy="4597400"/>
              </a:xfrm>
              <a:prstGeom prst="rect">
                <a:avLst/>
              </a:prstGeom>
            </p:spPr>
            <p:txBody>
              <a:bodyPr/>
              <a:lstStyle>
                <a:lvl1pPr marL="225425" indent="-225425" algn="l" rtl="0" eaLnBrk="1" fontAlgn="base" hangingPunct="1">
                  <a:spcBef>
                    <a:spcPct val="20000"/>
                  </a:spcBef>
                  <a:spcAft>
                    <a:spcPct val="0"/>
                  </a:spcAft>
                  <a:buClr>
                    <a:srgbClr val="C00000"/>
                  </a:buClr>
                  <a:buSzPct val="100000"/>
                  <a:buFont typeface="Cambria" panose="02040503050406030204" pitchFamily="18" charset="0"/>
                  <a:buChar char="•"/>
                  <a:defRPr kumimoji="1" sz="2400" kern="1200">
                    <a:solidFill>
                      <a:schemeClr val="tx1"/>
                    </a:solidFill>
                    <a:latin typeface="Arial"/>
                    <a:ea typeface="+mn-ea"/>
                    <a:cs typeface="Arial"/>
                  </a:defRPr>
                </a:lvl1pPr>
                <a:lvl2pPr marL="569913" indent="-225425" algn="l" rtl="0" eaLnBrk="1" fontAlgn="base" hangingPunct="1">
                  <a:spcBef>
                    <a:spcPct val="20000"/>
                  </a:spcBef>
                  <a:spcAft>
                    <a:spcPct val="0"/>
                  </a:spcAft>
                  <a:buClr>
                    <a:srgbClr val="C00000"/>
                  </a:buClr>
                  <a:buSzPct val="100000"/>
                  <a:buFont typeface="Wingdings" panose="05000000000000000000" pitchFamily="2" charset="2"/>
                  <a:buChar char="§"/>
                  <a:defRPr kumimoji="1" sz="2200" kern="1200">
                    <a:solidFill>
                      <a:schemeClr val="tx1"/>
                    </a:solidFill>
                    <a:latin typeface="+mn-lt"/>
                    <a:ea typeface="+mn-ea"/>
                    <a:cs typeface="汉仪中圆简"/>
                  </a:defRPr>
                </a:lvl2pPr>
                <a:lvl3pPr marL="742950" indent="-171450" algn="l" rtl="0" eaLnBrk="1" fontAlgn="base" hangingPunct="1">
                  <a:spcBef>
                    <a:spcPct val="20000"/>
                  </a:spcBef>
                  <a:spcAft>
                    <a:spcPct val="0"/>
                  </a:spcAft>
                  <a:buClr>
                    <a:srgbClr val="C00000"/>
                  </a:buClr>
                  <a:buSzPct val="100000"/>
                  <a:buFont typeface="华文中宋" panose="02010600040101010101" pitchFamily="2" charset="-122"/>
                  <a:buChar char="–"/>
                  <a:defRPr kumimoji="1" sz="2000" kern="1200">
                    <a:solidFill>
                      <a:schemeClr val="tx1"/>
                    </a:solidFill>
                    <a:latin typeface="+mn-lt"/>
                    <a:ea typeface="+mn-ea"/>
                    <a:cs typeface="汉仪中圆简"/>
                  </a:defRPr>
                </a:lvl3pPr>
                <a:lvl4pPr marL="1258888" indent="-171450" algn="l" rtl="0" eaLnBrk="1" fontAlgn="base" hangingPunct="1">
                  <a:spcBef>
                    <a:spcPct val="20000"/>
                  </a:spcBef>
                  <a:spcAft>
                    <a:spcPct val="0"/>
                  </a:spcAft>
                  <a:buClr>
                    <a:srgbClr val="C00000"/>
                  </a:buClr>
                  <a:buFont typeface="Arial" panose="020B0604020202020204" pitchFamily="34" charset="0"/>
                  <a:buChar char="•"/>
                  <a:defRPr kumimoji="1" kern="1200">
                    <a:solidFill>
                      <a:schemeClr val="tx1"/>
                    </a:solidFill>
                    <a:latin typeface="+mn-lt"/>
                    <a:ea typeface="+mn-ea"/>
                    <a:cs typeface="汉仪中圆简"/>
                  </a:defRPr>
                </a:lvl4pPr>
                <a:lvl5pPr marL="1603375" indent="-225425" algn="l" rtl="0" eaLnBrk="1" fontAlgn="base" hangingPunct="1">
                  <a:spcBef>
                    <a:spcPct val="20000"/>
                  </a:spcBef>
                  <a:spcAft>
                    <a:spcPct val="0"/>
                  </a:spcAft>
                  <a:buClr>
                    <a:srgbClr val="C00000"/>
                  </a:buClr>
                  <a:buFont typeface="Arial" panose="020B0604020202020204" pitchFamily="34" charset="0"/>
                  <a:buChar char="•"/>
                  <a:defRPr kumimoji="1" sz="1600" kern="1200">
                    <a:solidFill>
                      <a:schemeClr val="tx1"/>
                    </a:solidFill>
                    <a:latin typeface="+mn-lt"/>
                    <a:ea typeface="+mn-ea"/>
                    <a:cs typeface="汉仪中圆简"/>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zh-CN" sz="2200" dirty="0">
                    <a:ea typeface="宋体" panose="02010600030101010101" pitchFamily="2" charset="-122"/>
                  </a:rPr>
                  <a:t>Determine </a:t>
                </a:r>
                <a14:m>
                  <m:oMath xmlns:m="http://schemas.openxmlformats.org/officeDocument/2006/math">
                    <m:sSub>
                      <m:sSubPr>
                        <m:ctrlPr>
                          <a:rPr lang="en-US" altLang="zh-CN" sz="2200" i="1" smtClean="0">
                            <a:latin typeface="Cambria Math" panose="02040503050406030204" pitchFamily="18" charset="0"/>
                            <a:ea typeface="宋体" panose="02010600030101010101" pitchFamily="2" charset="-122"/>
                          </a:rPr>
                        </m:ctrlPr>
                      </m:sSubPr>
                      <m:e>
                        <m:r>
                          <a:rPr lang="en-US" altLang="zh-CN" sz="2200" b="0" i="1" smtClean="0">
                            <a:latin typeface="Cambria Math" panose="02040503050406030204" pitchFamily="18" charset="0"/>
                            <a:ea typeface="宋体" panose="02010600030101010101" pitchFamily="2" charset="-122"/>
                          </a:rPr>
                          <m:t>𝑣</m:t>
                        </m:r>
                      </m:e>
                      <m:sub>
                        <m:r>
                          <a:rPr lang="en-US" altLang="zh-CN" sz="2200" b="0" i="1" smtClean="0">
                            <a:latin typeface="Cambria Math" panose="02040503050406030204" pitchFamily="18" charset="0"/>
                            <a:ea typeface="宋体" panose="02010600030101010101" pitchFamily="2" charset="-122"/>
                          </a:rPr>
                          <m:t>𝑜</m:t>
                        </m:r>
                      </m:sub>
                    </m:sSub>
                  </m:oMath>
                </a14:m>
                <a:r>
                  <a:rPr lang="en-US" altLang="zh-CN" dirty="0">
                    <a:ea typeface="宋体" panose="02010600030101010101" pitchFamily="2" charset="-122"/>
                  </a:rPr>
                  <a:t> in the circuit shown below</a:t>
                </a:r>
              </a:p>
            </p:txBody>
          </p:sp>
        </mc:Choice>
        <mc:Fallback xmlns="">
          <p:sp>
            <p:nvSpPr>
              <p:cNvPr id="3" name="Content Placeholder 2"/>
              <p:cNvSpPr txBox="1">
                <a:spLocks noRot="1" noChangeAspect="1" noMove="1" noResize="1" noEditPoints="1" noAdjustHandles="1" noChangeArrowheads="1" noChangeShapeType="1" noTextEdit="1"/>
              </p:cNvSpPr>
              <p:nvPr/>
            </p:nvSpPr>
            <p:spPr>
              <a:xfrm>
                <a:off x="457200" y="1422400"/>
                <a:ext cx="8077200" cy="4597400"/>
              </a:xfrm>
              <a:prstGeom prst="rect">
                <a:avLst/>
              </a:prstGeom>
              <a:blipFill rotWithShape="0">
                <a:blip r:embed="rId2"/>
                <a:stretch>
                  <a:fillRect l="-906" t="-927"/>
                </a:stretch>
              </a:blipFill>
            </p:spPr>
            <p:txBody>
              <a:bodyPr/>
              <a:lstStyle/>
              <a:p>
                <a:r>
                  <a:rPr lang="zh-CN" altLang="en-US">
                    <a:noFill/>
                  </a:rPr>
                  <a:t> </a:t>
                </a:r>
              </a:p>
            </p:txBody>
          </p:sp>
        </mc:Fallback>
      </mc:AlternateContent>
      <p:pic>
        <p:nvPicPr>
          <p:cNvPr id="8" name="Picture 2" descr="ale80571_05_014.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2286000"/>
            <a:ext cx="3581400" cy="2685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AE81F76B-FEC8-49DC-8DE3-A8E990489D6D}"/>
              </a:ext>
            </a:extLst>
          </p:cNvPr>
          <p:cNvSpPr/>
          <p:nvPr/>
        </p:nvSpPr>
        <p:spPr>
          <a:xfrm>
            <a:off x="2483929" y="5670490"/>
            <a:ext cx="4176143" cy="400110"/>
          </a:xfrm>
          <a:prstGeom prst="rect">
            <a:avLst/>
          </a:prstGeom>
        </p:spPr>
        <p:txBody>
          <a:bodyPr wrap="none">
            <a:spAutoFit/>
          </a:bodyPr>
          <a:lstStyle/>
          <a:p>
            <a:pPr algn="just">
              <a:spcAft>
                <a:spcPts val="0"/>
              </a:spcAft>
            </a:pPr>
            <a:r>
              <a:rPr lang="en-US" altLang="zh-CN" kern="100" dirty="0">
                <a:latin typeface="等线" panose="02010600030101010101" pitchFamily="2" charset="-122"/>
                <a:ea typeface="等线" panose="02010600030101010101" pitchFamily="2" charset="-122"/>
                <a:cs typeface="Times New Roman" panose="02020603050405020304" pitchFamily="18" charset="0"/>
              </a:rPr>
              <a:t>Answer: (V</a:t>
            </a:r>
            <a:r>
              <a:rPr lang="en-US" altLang="zh-CN" kern="100" baseline="-25000" dirty="0">
                <a:latin typeface="等线" panose="02010600030101010101" pitchFamily="2" charset="-122"/>
                <a:ea typeface="等线" panose="02010600030101010101" pitchFamily="2" charset="-122"/>
                <a:cs typeface="Times New Roman" panose="02020603050405020304" pitchFamily="18" charset="0"/>
              </a:rPr>
              <a:t>0</a:t>
            </a:r>
            <a:r>
              <a:rPr lang="en-US" altLang="zh-CN" kern="100" dirty="0">
                <a:latin typeface="等线" panose="02010600030101010101" pitchFamily="2" charset="-122"/>
                <a:ea typeface="等线" panose="02010600030101010101" pitchFamily="2" charset="-122"/>
                <a:cs typeface="Times New Roman" panose="02020603050405020304" pitchFamily="18" charset="0"/>
              </a:rPr>
              <a:t>-2)/40=-4/20; V</a:t>
            </a:r>
            <a:r>
              <a:rPr lang="en-US" altLang="zh-CN" kern="100" baseline="-25000" dirty="0">
                <a:latin typeface="等线" panose="02010600030101010101" pitchFamily="2" charset="-122"/>
                <a:ea typeface="等线" panose="02010600030101010101" pitchFamily="2" charset="-122"/>
                <a:cs typeface="Times New Roman" panose="02020603050405020304" pitchFamily="18" charset="0"/>
              </a:rPr>
              <a:t>0</a:t>
            </a:r>
            <a:r>
              <a:rPr lang="en-US" altLang="zh-CN" kern="100" dirty="0">
                <a:latin typeface="等线" panose="02010600030101010101" pitchFamily="2" charset="-122"/>
                <a:ea typeface="等线" panose="02010600030101010101" pitchFamily="2" charset="-122"/>
                <a:cs typeface="Times New Roman" panose="02020603050405020304" pitchFamily="18" charset="0"/>
              </a:rPr>
              <a:t> = -6 V;</a:t>
            </a:r>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037339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533400"/>
            <a:ext cx="8229600" cy="838200"/>
          </a:xfrm>
        </p:spPr>
        <p:txBody>
          <a:bodyPr/>
          <a:lstStyle/>
          <a:p>
            <a:r>
              <a:rPr lang="en-US" dirty="0"/>
              <a:t>Practice 2</a:t>
            </a:r>
            <a:endParaRPr lang="en-US" dirty="0">
              <a:solidFill>
                <a:srgbClr val="FF0000"/>
              </a:solidFill>
            </a:endParaRPr>
          </a:p>
        </p:txBody>
      </p:sp>
      <p:pic>
        <p:nvPicPr>
          <p:cNvPr id="5" name="Picture 4"/>
          <p:cNvPicPr>
            <a:picLocks noChangeAspect="1"/>
          </p:cNvPicPr>
          <p:nvPr/>
        </p:nvPicPr>
        <p:blipFill>
          <a:blip r:embed="rId2"/>
          <a:stretch>
            <a:fillRect/>
          </a:stretch>
        </p:blipFill>
        <p:spPr>
          <a:xfrm>
            <a:off x="1143000" y="1996289"/>
            <a:ext cx="5486400" cy="2865422"/>
          </a:xfrm>
          <a:prstGeom prst="rect">
            <a:avLst/>
          </a:prstGeom>
        </p:spPr>
      </p:pic>
      <mc:AlternateContent xmlns:mc="http://schemas.openxmlformats.org/markup-compatibility/2006" xmlns:a14="http://schemas.microsoft.com/office/drawing/2010/main">
        <mc:Choice Requires="a14">
          <p:sp>
            <p:nvSpPr>
              <p:cNvPr id="31" name="Content Placeholder 2">
                <a:extLst>
                  <a:ext uri="{FF2B5EF4-FFF2-40B4-BE49-F238E27FC236}">
                    <a16:creationId xmlns:a16="http://schemas.microsoft.com/office/drawing/2014/main" id="{32875187-E372-4981-B808-28DCB88553D2}"/>
                  </a:ext>
                </a:extLst>
              </p:cNvPr>
              <p:cNvSpPr txBox="1">
                <a:spLocks/>
              </p:cNvSpPr>
              <p:nvPr/>
            </p:nvSpPr>
            <p:spPr>
              <a:xfrm>
                <a:off x="457200" y="1422400"/>
                <a:ext cx="8077200" cy="4597400"/>
              </a:xfrm>
              <a:prstGeom prst="rect">
                <a:avLst/>
              </a:prstGeom>
            </p:spPr>
            <p:txBody>
              <a:bodyPr/>
              <a:lstStyle>
                <a:lvl1pPr marL="225425" indent="-225425" algn="l" rtl="0" eaLnBrk="1" fontAlgn="base" hangingPunct="1">
                  <a:spcBef>
                    <a:spcPct val="20000"/>
                  </a:spcBef>
                  <a:spcAft>
                    <a:spcPct val="0"/>
                  </a:spcAft>
                  <a:buClr>
                    <a:srgbClr val="C00000"/>
                  </a:buClr>
                  <a:buSzPct val="100000"/>
                  <a:buFont typeface="Cambria" panose="02040503050406030204" pitchFamily="18" charset="0"/>
                  <a:buChar char="•"/>
                  <a:defRPr kumimoji="1" sz="2400" kern="1200">
                    <a:solidFill>
                      <a:schemeClr val="tx1"/>
                    </a:solidFill>
                    <a:latin typeface="Arial"/>
                    <a:ea typeface="+mn-ea"/>
                    <a:cs typeface="Arial"/>
                  </a:defRPr>
                </a:lvl1pPr>
                <a:lvl2pPr marL="569913" indent="-225425" algn="l" rtl="0" eaLnBrk="1" fontAlgn="base" hangingPunct="1">
                  <a:spcBef>
                    <a:spcPct val="20000"/>
                  </a:spcBef>
                  <a:spcAft>
                    <a:spcPct val="0"/>
                  </a:spcAft>
                  <a:buClr>
                    <a:srgbClr val="C00000"/>
                  </a:buClr>
                  <a:buSzPct val="100000"/>
                  <a:buFont typeface="Wingdings" panose="05000000000000000000" pitchFamily="2" charset="2"/>
                  <a:buChar char="§"/>
                  <a:defRPr kumimoji="1" sz="2200" kern="1200">
                    <a:solidFill>
                      <a:schemeClr val="tx1"/>
                    </a:solidFill>
                    <a:latin typeface="+mn-lt"/>
                    <a:ea typeface="+mn-ea"/>
                    <a:cs typeface="汉仪中圆简"/>
                  </a:defRPr>
                </a:lvl2pPr>
                <a:lvl3pPr marL="742950" indent="-171450" algn="l" rtl="0" eaLnBrk="1" fontAlgn="base" hangingPunct="1">
                  <a:spcBef>
                    <a:spcPct val="20000"/>
                  </a:spcBef>
                  <a:spcAft>
                    <a:spcPct val="0"/>
                  </a:spcAft>
                  <a:buClr>
                    <a:srgbClr val="C00000"/>
                  </a:buClr>
                  <a:buSzPct val="100000"/>
                  <a:buFont typeface="华文中宋" panose="02010600040101010101" pitchFamily="2" charset="-122"/>
                  <a:buChar char="–"/>
                  <a:defRPr kumimoji="1" sz="2000" kern="1200">
                    <a:solidFill>
                      <a:schemeClr val="tx1"/>
                    </a:solidFill>
                    <a:latin typeface="+mn-lt"/>
                    <a:ea typeface="+mn-ea"/>
                    <a:cs typeface="汉仪中圆简"/>
                  </a:defRPr>
                </a:lvl3pPr>
                <a:lvl4pPr marL="1258888" indent="-171450" algn="l" rtl="0" eaLnBrk="1" fontAlgn="base" hangingPunct="1">
                  <a:spcBef>
                    <a:spcPct val="20000"/>
                  </a:spcBef>
                  <a:spcAft>
                    <a:spcPct val="0"/>
                  </a:spcAft>
                  <a:buClr>
                    <a:srgbClr val="C00000"/>
                  </a:buClr>
                  <a:buFont typeface="Arial" panose="020B0604020202020204" pitchFamily="34" charset="0"/>
                  <a:buChar char="•"/>
                  <a:defRPr kumimoji="1" kern="1200">
                    <a:solidFill>
                      <a:schemeClr val="tx1"/>
                    </a:solidFill>
                    <a:latin typeface="+mn-lt"/>
                    <a:ea typeface="+mn-ea"/>
                    <a:cs typeface="汉仪中圆简"/>
                  </a:defRPr>
                </a:lvl4pPr>
                <a:lvl5pPr marL="1603375" indent="-225425" algn="l" rtl="0" eaLnBrk="1" fontAlgn="base" hangingPunct="1">
                  <a:spcBef>
                    <a:spcPct val="20000"/>
                  </a:spcBef>
                  <a:spcAft>
                    <a:spcPct val="0"/>
                  </a:spcAft>
                  <a:buClr>
                    <a:srgbClr val="C00000"/>
                  </a:buClr>
                  <a:buFont typeface="Arial" panose="020B0604020202020204" pitchFamily="34" charset="0"/>
                  <a:buChar char="•"/>
                  <a:defRPr kumimoji="1" sz="1600" kern="1200">
                    <a:solidFill>
                      <a:schemeClr val="tx1"/>
                    </a:solidFill>
                    <a:latin typeface="+mn-lt"/>
                    <a:ea typeface="+mn-ea"/>
                    <a:cs typeface="汉仪中圆简"/>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zh-CN" sz="2200" dirty="0">
                    <a:ea typeface="宋体" panose="02010600030101010101" pitchFamily="2" charset="-122"/>
                  </a:rPr>
                  <a:t>Determine </a:t>
                </a:r>
                <a14:m>
                  <m:oMath xmlns:m="http://schemas.openxmlformats.org/officeDocument/2006/math">
                    <m:sSub>
                      <m:sSubPr>
                        <m:ctrlPr>
                          <a:rPr lang="en-US" altLang="zh-CN" sz="2200" i="1" smtClean="0">
                            <a:latin typeface="Cambria Math" panose="02040503050406030204" pitchFamily="18" charset="0"/>
                            <a:ea typeface="宋体" panose="02010600030101010101" pitchFamily="2" charset="-122"/>
                          </a:rPr>
                        </m:ctrlPr>
                      </m:sSubPr>
                      <m:e>
                        <m:r>
                          <a:rPr lang="en-US" altLang="zh-CN" sz="2200" b="0" i="1" smtClean="0">
                            <a:latin typeface="Cambria Math" panose="02040503050406030204" pitchFamily="18" charset="0"/>
                            <a:ea typeface="宋体" panose="02010600030101010101" pitchFamily="2" charset="-122"/>
                          </a:rPr>
                          <m:t>𝑣</m:t>
                        </m:r>
                      </m:e>
                      <m:sub>
                        <m:r>
                          <a:rPr lang="en-US" altLang="zh-CN" sz="2200" b="0" i="1" smtClean="0">
                            <a:latin typeface="Cambria Math" panose="02040503050406030204" pitchFamily="18" charset="0"/>
                            <a:ea typeface="宋体" panose="02010600030101010101" pitchFamily="2" charset="-122"/>
                          </a:rPr>
                          <m:t>𝑜</m:t>
                        </m:r>
                      </m:sub>
                    </m:sSub>
                  </m:oMath>
                </a14:m>
                <a:r>
                  <a:rPr lang="en-US" altLang="zh-CN" dirty="0">
                    <a:ea typeface="宋体" panose="02010600030101010101" pitchFamily="2" charset="-122"/>
                  </a:rPr>
                  <a:t> in the circuit shown below.</a:t>
                </a:r>
              </a:p>
            </p:txBody>
          </p:sp>
        </mc:Choice>
        <mc:Fallback xmlns="">
          <p:sp>
            <p:nvSpPr>
              <p:cNvPr id="31" name="Content Placeholder 2">
                <a:extLst>
                  <a:ext uri="{FF2B5EF4-FFF2-40B4-BE49-F238E27FC236}">
                    <a16:creationId xmlns:a16="http://schemas.microsoft.com/office/drawing/2014/main" id="{32875187-E372-4981-B808-28DCB88553D2}"/>
                  </a:ext>
                </a:extLst>
              </p:cNvPr>
              <p:cNvSpPr txBox="1">
                <a:spLocks noRot="1" noChangeAspect="1" noMove="1" noResize="1" noEditPoints="1" noAdjustHandles="1" noChangeArrowheads="1" noChangeShapeType="1" noTextEdit="1"/>
              </p:cNvSpPr>
              <p:nvPr/>
            </p:nvSpPr>
            <p:spPr>
              <a:xfrm>
                <a:off x="457200" y="1422400"/>
                <a:ext cx="8077200" cy="4597400"/>
              </a:xfrm>
              <a:prstGeom prst="rect">
                <a:avLst/>
              </a:prstGeom>
              <a:blipFill>
                <a:blip r:embed="rId3"/>
                <a:stretch>
                  <a:fillRect l="-906" t="-927"/>
                </a:stretch>
              </a:blipFill>
            </p:spPr>
            <p:txBody>
              <a:bodyPr/>
              <a:lstStyle/>
              <a:p>
                <a:r>
                  <a:rPr lang="zh-CN" altLang="en-US">
                    <a:noFill/>
                  </a:rPr>
                  <a:t> </a:t>
                </a:r>
              </a:p>
            </p:txBody>
          </p:sp>
        </mc:Fallback>
      </mc:AlternateContent>
      <p:sp>
        <p:nvSpPr>
          <p:cNvPr id="3" name="矩形 2">
            <a:extLst>
              <a:ext uri="{FF2B5EF4-FFF2-40B4-BE49-F238E27FC236}">
                <a16:creationId xmlns:a16="http://schemas.microsoft.com/office/drawing/2014/main" id="{784D132F-FEAA-4321-B8C6-4069CBECC5D3}"/>
              </a:ext>
            </a:extLst>
          </p:cNvPr>
          <p:cNvSpPr/>
          <p:nvPr/>
        </p:nvSpPr>
        <p:spPr>
          <a:xfrm>
            <a:off x="1197643" y="5235545"/>
            <a:ext cx="2688557" cy="400110"/>
          </a:xfrm>
          <a:prstGeom prst="rect">
            <a:avLst/>
          </a:prstGeom>
        </p:spPr>
        <p:txBody>
          <a:bodyPr wrap="none">
            <a:spAutoFit/>
          </a:bodyPr>
          <a:lstStyle/>
          <a:p>
            <a:pPr algn="just">
              <a:spcAft>
                <a:spcPts val="0"/>
              </a:spcAft>
            </a:pPr>
            <a:r>
              <a:rPr lang="en-US" altLang="zh-CN" kern="100" dirty="0">
                <a:latin typeface="等线" panose="02010600030101010101" pitchFamily="2" charset="-122"/>
                <a:ea typeface="等线" panose="02010600030101010101" pitchFamily="2" charset="-122"/>
                <a:cs typeface="Times New Roman" panose="02020603050405020304" pitchFamily="18" charset="0"/>
              </a:rPr>
              <a:t>V</a:t>
            </a:r>
            <a:r>
              <a:rPr lang="en-US" altLang="zh-CN" kern="100" baseline="-25000" dirty="0">
                <a:latin typeface="等线" panose="02010600030101010101" pitchFamily="2" charset="-122"/>
                <a:ea typeface="等线" panose="02010600030101010101" pitchFamily="2" charset="-122"/>
                <a:cs typeface="Times New Roman" panose="02020603050405020304" pitchFamily="18" charset="0"/>
              </a:rPr>
              <a:t>0</a:t>
            </a:r>
            <a:r>
              <a:rPr lang="en-US" altLang="zh-CN" kern="100" dirty="0">
                <a:latin typeface="等线" panose="02010600030101010101" pitchFamily="2" charset="-122"/>
                <a:ea typeface="等线" panose="02010600030101010101" pitchFamily="2" charset="-122"/>
                <a:cs typeface="Times New Roman" panose="02020603050405020304" pitchFamily="18" charset="0"/>
              </a:rPr>
              <a:t>/R</a:t>
            </a:r>
            <a:r>
              <a:rPr lang="en-US" altLang="zh-CN" kern="100" baseline="-25000" dirty="0">
                <a:latin typeface="等线" panose="02010600030101010101" pitchFamily="2" charset="-122"/>
                <a:ea typeface="等线" panose="02010600030101010101" pitchFamily="2" charset="-122"/>
                <a:cs typeface="Times New Roman" panose="02020603050405020304" pitchFamily="18" charset="0"/>
              </a:rPr>
              <a:t>f</a:t>
            </a:r>
            <a:r>
              <a:rPr lang="en-US" altLang="zh-CN" kern="100" dirty="0">
                <a:latin typeface="等线" panose="02010600030101010101" pitchFamily="2" charset="-122"/>
                <a:ea typeface="等线" panose="02010600030101010101" pitchFamily="2" charset="-122"/>
                <a:cs typeface="Times New Roman" panose="02020603050405020304" pitchFamily="18" charset="0"/>
              </a:rPr>
              <a:t>=-[(i</a:t>
            </a:r>
            <a:r>
              <a:rPr lang="en-US" altLang="zh-CN" kern="100" baseline="-25000" dirty="0">
                <a:latin typeface="等线" panose="02010600030101010101" pitchFamily="2" charset="-122"/>
                <a:ea typeface="等线" panose="02010600030101010101" pitchFamily="2" charset="-122"/>
                <a:cs typeface="Times New Roman" panose="02020603050405020304" pitchFamily="18" charset="0"/>
              </a:rPr>
              <a:t>s</a:t>
            </a:r>
            <a:r>
              <a:rPr lang="en-US" altLang="zh-CN" kern="100" dirty="0">
                <a:latin typeface="等线" panose="02010600030101010101" pitchFamily="2" charset="-122"/>
                <a:ea typeface="等线" panose="02010600030101010101" pitchFamily="2" charset="-122"/>
                <a:cs typeface="Times New Roman" panose="02020603050405020304" pitchFamily="18" charset="0"/>
              </a:rPr>
              <a:t>*R</a:t>
            </a:r>
            <a:r>
              <a:rPr lang="en-US" altLang="zh-CN" kern="100" baseline="-25000" dirty="0">
                <a:latin typeface="等线" panose="02010600030101010101" pitchFamily="2" charset="-122"/>
                <a:ea typeface="等线" panose="02010600030101010101" pitchFamily="2" charset="-122"/>
                <a:cs typeface="Times New Roman" panose="02020603050405020304" pitchFamily="18" charset="0"/>
              </a:rPr>
              <a:t>2</a:t>
            </a:r>
            <a:r>
              <a:rPr lang="en-US" altLang="zh-CN" kern="100" dirty="0">
                <a:latin typeface="等线" panose="02010600030101010101" pitchFamily="2" charset="-122"/>
                <a:ea typeface="等线" panose="02010600030101010101" pitchFamily="2" charset="-122"/>
                <a:cs typeface="Times New Roman" panose="02020603050405020304" pitchFamily="18" charset="0"/>
              </a:rPr>
              <a:t>)/(R</a:t>
            </a:r>
            <a:r>
              <a:rPr lang="en-US" altLang="zh-CN" kern="100" baseline="-25000" dirty="0">
                <a:latin typeface="等线" panose="02010600030101010101" pitchFamily="2" charset="-122"/>
                <a:ea typeface="等线" panose="02010600030101010101" pitchFamily="2" charset="-122"/>
                <a:cs typeface="Times New Roman" panose="02020603050405020304" pitchFamily="18" charset="0"/>
              </a:rPr>
              <a:t>1</a:t>
            </a:r>
            <a:r>
              <a:rPr lang="en-US" altLang="zh-CN" kern="100" dirty="0">
                <a:latin typeface="等线" panose="02010600030101010101" pitchFamily="2" charset="-122"/>
                <a:ea typeface="等线" panose="02010600030101010101" pitchFamily="2" charset="-122"/>
                <a:cs typeface="Times New Roman" panose="02020603050405020304" pitchFamily="18" charset="0"/>
              </a:rPr>
              <a:t>+R</a:t>
            </a:r>
            <a:r>
              <a:rPr lang="en-US" altLang="zh-CN" kern="100" baseline="-25000" dirty="0">
                <a:latin typeface="等线" panose="02010600030101010101" pitchFamily="2" charset="-122"/>
                <a:ea typeface="等线" panose="02010600030101010101" pitchFamily="2" charset="-122"/>
                <a:cs typeface="Times New Roman" panose="02020603050405020304" pitchFamily="18" charset="0"/>
              </a:rPr>
              <a:t>2</a:t>
            </a:r>
            <a:r>
              <a:rPr lang="en-US" altLang="zh-CN" kern="100" dirty="0">
                <a:latin typeface="等线" panose="02010600030101010101" pitchFamily="2" charset="-122"/>
                <a:ea typeface="等线" panose="02010600030101010101" pitchFamily="2" charset="-122"/>
                <a:cs typeface="Times New Roman" panose="02020603050405020304" pitchFamily="18" charset="0"/>
              </a:rPr>
              <a:t>)]</a:t>
            </a:r>
            <a:endParaRPr lang="zh-CN" altLang="zh-CN" kern="100" dirty="0">
              <a:latin typeface="等线" panose="02010600030101010101" pitchFamily="2" charset="-122"/>
              <a:ea typeface="等线" panose="02010600030101010101" pitchFamily="2" charset="-122"/>
              <a:cs typeface="Times New Roman" panose="02020603050405020304" pitchFamily="18" charset="0"/>
            </a:endParaRPr>
          </a:p>
        </p:txBody>
      </p:sp>
      <p:sp>
        <p:nvSpPr>
          <p:cNvPr id="6" name="文本框 5">
            <a:extLst>
              <a:ext uri="{FF2B5EF4-FFF2-40B4-BE49-F238E27FC236}">
                <a16:creationId xmlns:a16="http://schemas.microsoft.com/office/drawing/2014/main" id="{5C20E516-E981-4B23-9FD5-0A524EA2CDD5}"/>
              </a:ext>
            </a:extLst>
          </p:cNvPr>
          <p:cNvSpPr txBox="1"/>
          <p:nvPr/>
        </p:nvSpPr>
        <p:spPr>
          <a:xfrm>
            <a:off x="4238728" y="5259418"/>
            <a:ext cx="3775393" cy="1015663"/>
          </a:xfrm>
          <a:prstGeom prst="rect">
            <a:avLst/>
          </a:prstGeom>
          <a:noFill/>
        </p:spPr>
        <p:txBody>
          <a:bodyPr wrap="none" rtlCol="0">
            <a:spAutoFit/>
          </a:bodyPr>
          <a:lstStyle/>
          <a:p>
            <a:r>
              <a:rPr lang="zh-CN" altLang="en-US" dirty="0"/>
              <a:t>右边</a:t>
            </a:r>
            <a:r>
              <a:rPr lang="en-US" altLang="zh-CN" dirty="0"/>
              <a:t>[..]</a:t>
            </a:r>
            <a:r>
              <a:rPr lang="zh-CN" altLang="en-US" dirty="0"/>
              <a:t>内可理解为：</a:t>
            </a:r>
            <a:endParaRPr lang="en-US" altLang="zh-CN" dirty="0"/>
          </a:p>
          <a:p>
            <a:r>
              <a:rPr lang="zh-CN" altLang="en-US" dirty="0"/>
              <a:t>并联电路分流或 </a:t>
            </a:r>
            <a:endParaRPr lang="en-US" altLang="zh-CN" dirty="0"/>
          </a:p>
          <a:p>
            <a:r>
              <a:rPr lang="zh-CN" altLang="en-US" dirty="0"/>
              <a:t>电源等效变换后串联电路的电流</a:t>
            </a:r>
          </a:p>
        </p:txBody>
      </p:sp>
    </p:spTree>
    <p:extLst>
      <p:ext uri="{BB962C8B-B14F-4D97-AF65-F5344CB8AC3E}">
        <p14:creationId xmlns:p14="http://schemas.microsoft.com/office/powerpoint/2010/main" val="4235011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itle 1"/>
          <p:cNvSpPr>
            <a:spLocks noGrp="1"/>
          </p:cNvSpPr>
          <p:nvPr>
            <p:ph type="title"/>
          </p:nvPr>
        </p:nvSpPr>
        <p:spPr/>
        <p:txBody>
          <a:bodyPr/>
          <a:lstStyle/>
          <a:p>
            <a:r>
              <a:rPr lang="en-US" altLang="zh-CN" dirty="0">
                <a:ea typeface="宋体" panose="02010600030101010101" pitchFamily="2" charset="-122"/>
              </a:rPr>
              <a:t>Summing Amplifier</a:t>
            </a:r>
          </a:p>
        </p:txBody>
      </p:sp>
      <p:sp>
        <p:nvSpPr>
          <p:cNvPr id="6148" name="Content Placeholder 2"/>
          <p:cNvSpPr>
            <a:spLocks noGrp="1"/>
          </p:cNvSpPr>
          <p:nvPr>
            <p:ph idx="1"/>
          </p:nvPr>
        </p:nvSpPr>
        <p:spPr>
          <a:xfrm>
            <a:off x="457200" y="1447800"/>
            <a:ext cx="8001000" cy="4525963"/>
          </a:xfrm>
        </p:spPr>
        <p:txBody>
          <a:bodyPr/>
          <a:lstStyle/>
          <a:p>
            <a:r>
              <a:rPr lang="en-US" altLang="zh-CN" sz="2400" dirty="0">
                <a:ea typeface="宋体" panose="02010600030101010101" pitchFamily="2" charset="-122"/>
              </a:rPr>
              <a:t>Aside from </a:t>
            </a:r>
            <a:r>
              <a:rPr lang="en-US" altLang="zh-CN" sz="2400" u="sng" dirty="0">
                <a:ea typeface="宋体" panose="02010600030101010101" pitchFamily="2" charset="-122"/>
              </a:rPr>
              <a:t>amplification</a:t>
            </a:r>
            <a:r>
              <a:rPr lang="en-US" altLang="zh-CN" sz="2400" dirty="0">
                <a:ea typeface="宋体" panose="02010600030101010101" pitchFamily="2" charset="-122"/>
              </a:rPr>
              <a:t>, the op-amp can be made to do </a:t>
            </a:r>
            <a:r>
              <a:rPr lang="en-US" altLang="zh-CN" sz="2400" u="sng" dirty="0">
                <a:ea typeface="宋体" panose="02010600030101010101" pitchFamily="2" charset="-122"/>
              </a:rPr>
              <a:t>addition</a:t>
            </a:r>
            <a:r>
              <a:rPr lang="en-US" altLang="zh-CN" sz="2400" dirty="0">
                <a:ea typeface="宋体" panose="02010600030101010101" pitchFamily="2" charset="-122"/>
              </a:rPr>
              <a:t> readily.</a:t>
            </a:r>
          </a:p>
        </p:txBody>
      </p:sp>
      <p:pic>
        <p:nvPicPr>
          <p:cNvPr id="6150" name="Picture 5" descr="C:\Users\Joel\Documents\Teaching\McGraw Hill\Fundamentals of Electric Circuits 5e\figures\Ch05\Color Labeled\ale80571_05_021.jpg"/>
          <p:cNvPicPr>
            <a:picLocks noChangeAspect="1" noChangeArrowheads="1"/>
          </p:cNvPicPr>
          <p:nvPr/>
        </p:nvPicPr>
        <p:blipFill rotWithShape="1">
          <a:blip r:embed="rId3">
            <a:extLst>
              <a:ext uri="{28A0092B-C50C-407E-A947-70E740481C1C}">
                <a14:useLocalDpi xmlns:a14="http://schemas.microsoft.com/office/drawing/2010/main" val="0"/>
              </a:ext>
            </a:extLst>
          </a:blip>
          <a:srcRect t="5550"/>
          <a:stretch/>
        </p:blipFill>
        <p:spPr bwMode="auto">
          <a:xfrm>
            <a:off x="524386" y="2657962"/>
            <a:ext cx="3787842" cy="2593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a:extLst>
              <a:ext uri="{FF2B5EF4-FFF2-40B4-BE49-F238E27FC236}">
                <a16:creationId xmlns:a16="http://schemas.microsoft.com/office/drawing/2014/main" id="{F33A9D6B-92FD-4B09-9CA1-D6C4F5A6C8BB}"/>
              </a:ext>
            </a:extLst>
          </p:cNvPr>
          <p:cNvPicPr>
            <a:picLocks noChangeAspect="1"/>
          </p:cNvPicPr>
          <p:nvPr/>
        </p:nvPicPr>
        <p:blipFill>
          <a:blip r:embed="rId4"/>
          <a:stretch>
            <a:fillRect/>
          </a:stretch>
        </p:blipFill>
        <p:spPr>
          <a:xfrm>
            <a:off x="5521725" y="3429000"/>
            <a:ext cx="2915693" cy="137655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Practice</a:t>
            </a:r>
            <a:endParaRPr lang="zh-CN" alt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422400"/>
                <a:ext cx="8229600" cy="3683000"/>
              </a:xfrm>
            </p:spPr>
            <p:txBody>
              <a:bodyPr/>
              <a:lstStyle/>
              <a:p>
                <a:r>
                  <a:rPr lang="en-US" altLang="zh-CN" dirty="0"/>
                  <a:t>Find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𝑜</m:t>
                        </m:r>
                      </m:sub>
                    </m:sSub>
                  </m:oMath>
                </a14:m>
                <a:r>
                  <a:rPr lang="zh-CN" altLang="en-US" dirty="0"/>
                  <a:t> </a:t>
                </a:r>
                <a:r>
                  <a:rPr lang="en-US" altLang="zh-CN" dirty="0"/>
                  <a:t>and </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𝑖</m:t>
                        </m:r>
                      </m:e>
                      <m:sub>
                        <m:r>
                          <a:rPr lang="en-US" altLang="zh-CN" i="1">
                            <a:latin typeface="Cambria Math" panose="02040503050406030204" pitchFamily="18" charset="0"/>
                          </a:rPr>
                          <m:t>𝑜</m:t>
                        </m:r>
                      </m:sub>
                    </m:sSub>
                  </m:oMath>
                </a14:m>
                <a:r>
                  <a:rPr lang="zh-CN" altLang="en-US" dirty="0"/>
                  <a:t> </a:t>
                </a:r>
                <a:r>
                  <a:rPr lang="en-US" altLang="zh-CN" dirty="0"/>
                  <a:t>in the circuit shown below</a:t>
                </a:r>
                <a:endParaRPr lang="zh-CN" alt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422400"/>
                <a:ext cx="8229600" cy="3683000"/>
              </a:xfrm>
              <a:blipFill>
                <a:blip r:embed="rId2"/>
                <a:stretch>
                  <a:fillRect l="-370" t="-1157"/>
                </a:stretch>
              </a:blipFill>
            </p:spPr>
            <p:txBody>
              <a:bodyPr/>
              <a:lstStyle/>
              <a:p>
                <a:r>
                  <a:rPr lang="zh-CN" altLang="en-US">
                    <a:noFill/>
                  </a:rPr>
                  <a:t> </a:t>
                </a:r>
              </a:p>
            </p:txBody>
          </p:sp>
        </mc:Fallback>
      </mc:AlternateContent>
      <p:pic>
        <p:nvPicPr>
          <p:cNvPr id="5" name="Picture 2" descr="ale80571_05_022.jpg"/>
          <p:cNvPicPr>
            <a:picLocks noChangeAspect="1"/>
          </p:cNvPicPr>
          <p:nvPr/>
        </p:nvPicPr>
        <p:blipFill rotWithShape="1">
          <a:blip r:embed="rId3">
            <a:extLst>
              <a:ext uri="{28A0092B-C50C-407E-A947-70E740481C1C}">
                <a14:useLocalDpi xmlns:a14="http://schemas.microsoft.com/office/drawing/2010/main" val="0"/>
              </a:ext>
            </a:extLst>
          </a:blip>
          <a:srcRect t="5075"/>
          <a:stretch/>
        </p:blipFill>
        <p:spPr bwMode="auto">
          <a:xfrm>
            <a:off x="990600" y="2057400"/>
            <a:ext cx="5059363" cy="2850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D11DEEB2-88C6-45A3-B23F-FD627C926687}"/>
                  </a:ext>
                </a:extLst>
              </p:cNvPr>
              <p:cNvSpPr txBox="1"/>
              <p:nvPr/>
            </p:nvSpPr>
            <p:spPr>
              <a:xfrm>
                <a:off x="1295400" y="4908329"/>
                <a:ext cx="2881430" cy="2424895"/>
              </a:xfrm>
              <a:prstGeom prst="rect">
                <a:avLst/>
              </a:prstGeom>
              <a:noFill/>
            </p:spPr>
            <p:txBody>
              <a:bodyPr wrap="none" lIns="0" tIns="0" rIns="0" bIns="0" rtlCol="0">
                <a:spAutoFit/>
              </a:bodyPr>
              <a:lstStyle/>
              <a:p>
                <a:pPr/>
                <a14:m>
                  <m:oMathPara xmlns:m="http://schemas.openxmlformats.org/officeDocument/2006/math">
                    <m:oMathParaPr>
                      <m:jc m:val="left"/>
                    </m:oMathParaPr>
                    <m:oMath xmlns:m="http://schemas.openxmlformats.org/officeDocument/2006/math">
                      <m:f>
                        <m:fPr>
                          <m:ctrlPr>
                            <a:rPr lang="en-US" altLang="zh-CN" i="1" smtClean="0">
                              <a:latin typeface="Cambria Math" panose="02040503050406030204" pitchFamily="18" charset="0"/>
                            </a:rPr>
                          </m:ctrlPr>
                        </m:fPr>
                        <m:num>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0</m:t>
                              </m:r>
                            </m:sub>
                          </m:sSub>
                        </m:num>
                        <m:den>
                          <m:r>
                            <a:rPr lang="en-US" altLang="zh-CN" b="0" i="1" smtClean="0">
                              <a:latin typeface="Cambria Math" panose="02040503050406030204" pitchFamily="18" charset="0"/>
                            </a:rPr>
                            <m:t>10 </m:t>
                          </m:r>
                          <m:r>
                            <m:rPr>
                              <m:sty m:val="p"/>
                            </m:rPr>
                            <a:rPr lang="en-US" altLang="zh-CN" b="0" i="0" smtClean="0">
                              <a:latin typeface="Cambria Math" panose="02040503050406030204" pitchFamily="18" charset="0"/>
                            </a:rPr>
                            <m:t>K</m:t>
                          </m:r>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2</m:t>
                          </m:r>
                        </m:num>
                        <m:den>
                          <m:r>
                            <a:rPr lang="en-US" altLang="zh-CN" b="0" i="1" smtClean="0">
                              <a:latin typeface="Cambria Math" panose="02040503050406030204" pitchFamily="18" charset="0"/>
                            </a:rPr>
                            <m:t>5 </m:t>
                          </m:r>
                          <m:r>
                            <m:rPr>
                              <m:sty m:val="p"/>
                            </m:rPr>
                            <a:rPr lang="en-US" altLang="zh-CN" b="0" i="0" smtClean="0">
                              <a:latin typeface="Cambria Math" panose="02040503050406030204" pitchFamily="18" charset="0"/>
                            </a:rPr>
                            <m:t>K</m:t>
                          </m:r>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2.5 </m:t>
                          </m:r>
                          <m:r>
                            <m:rPr>
                              <m:sty m:val="p"/>
                            </m:rPr>
                            <a:rPr lang="en-US" altLang="zh-CN" b="0" i="0" smtClean="0">
                              <a:latin typeface="Cambria Math" panose="02040503050406030204" pitchFamily="18" charset="0"/>
                            </a:rPr>
                            <m:t>K</m:t>
                          </m:r>
                        </m:den>
                      </m:f>
                      <m:r>
                        <a:rPr lang="en-US" altLang="zh-CN" b="0" i="1" smtClean="0">
                          <a:latin typeface="Cambria Math" panose="02040503050406030204" pitchFamily="18" charset="0"/>
                        </a:rPr>
                        <m:t>=0</m:t>
                      </m:r>
                    </m:oMath>
                  </m:oMathPara>
                </a14:m>
                <a:endParaRPr lang="en-US" altLang="zh-CN" b="0" dirty="0"/>
              </a:p>
              <a:p>
                <a:endParaRPr lang="en-US" altLang="zh-CN" b="0" dirty="0"/>
              </a:p>
              <a:p>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0</m:t>
                        </m:r>
                      </m:sub>
                    </m:sSub>
                    <m:r>
                      <a:rPr lang="en-US" altLang="zh-CN" b="0" i="1" smtClean="0">
                        <a:latin typeface="Cambria Math" panose="02040503050406030204" pitchFamily="18" charset="0"/>
                      </a:rPr>
                      <m:t>=−8</m:t>
                    </m:r>
                  </m:oMath>
                </a14:m>
                <a:r>
                  <a:rPr lang="zh-CN" altLang="en-US" dirty="0"/>
                  <a:t> </a:t>
                </a:r>
                <a:r>
                  <a:rPr lang="en-US" altLang="zh-CN" dirty="0"/>
                  <a:t>V</a:t>
                </a:r>
              </a:p>
              <a:p>
                <a:endParaRPr lang="en-US" altLang="zh-CN" dirty="0"/>
              </a:p>
              <a:p>
                <a:pPr/>
                <a14:m>
                  <m:oMathPara xmlns:m="http://schemas.openxmlformats.org/officeDocument/2006/math">
                    <m:oMathParaPr>
                      <m:jc m:val="left"/>
                    </m:oMathParaPr>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𝑖</m:t>
                          </m:r>
                        </m:e>
                        <m:sub>
                          <m:r>
                            <a:rPr lang="en-US" altLang="zh-CN" i="1">
                              <a:latin typeface="Cambria Math" panose="02040503050406030204" pitchFamily="18" charset="0"/>
                            </a:rPr>
                            <m:t>0</m:t>
                          </m:r>
                        </m:sub>
                      </m:sSub>
                      <m:r>
                        <a:rPr lang="en-US" altLang="zh-CN" i="1">
                          <a:latin typeface="Cambria Math" panose="02040503050406030204" pitchFamily="18" charset="0"/>
                        </a:rPr>
                        <m:t>=−</m:t>
                      </m:r>
                      <m:r>
                        <a:rPr lang="en-US" altLang="zh-CN" b="0" i="1" smtClean="0">
                          <a:latin typeface="Cambria Math" panose="02040503050406030204" pitchFamily="18" charset="0"/>
                        </a:rPr>
                        <m:t>4−0.8=−4.8 </m:t>
                      </m:r>
                      <m:r>
                        <m:rPr>
                          <m:sty m:val="p"/>
                        </m:rPr>
                        <a:rPr lang="en-US" altLang="zh-CN" b="0" i="0" smtClean="0">
                          <a:latin typeface="Cambria Math" panose="02040503050406030204" pitchFamily="18" charset="0"/>
                        </a:rPr>
                        <m:t>mA</m:t>
                      </m:r>
                    </m:oMath>
                  </m:oMathPara>
                </a14:m>
                <a:endParaRPr lang="en-US" altLang="zh-CN" dirty="0"/>
              </a:p>
              <a:p>
                <a:endParaRPr lang="en-US" altLang="zh-CN" dirty="0"/>
              </a:p>
              <a:p>
                <a:endParaRPr lang="zh-CN" altLang="en-US" dirty="0"/>
              </a:p>
            </p:txBody>
          </p:sp>
        </mc:Choice>
        <mc:Fallback xmlns="">
          <p:sp>
            <p:nvSpPr>
              <p:cNvPr id="4" name="文本框 3">
                <a:extLst>
                  <a:ext uri="{FF2B5EF4-FFF2-40B4-BE49-F238E27FC236}">
                    <a16:creationId xmlns:a16="http://schemas.microsoft.com/office/drawing/2014/main" id="{D11DEEB2-88C6-45A3-B23F-FD627C926687}"/>
                  </a:ext>
                </a:extLst>
              </p:cNvPr>
              <p:cNvSpPr txBox="1">
                <a:spLocks noRot="1" noChangeAspect="1" noMove="1" noResize="1" noEditPoints="1" noAdjustHandles="1" noChangeArrowheads="1" noChangeShapeType="1" noTextEdit="1"/>
              </p:cNvSpPr>
              <p:nvPr/>
            </p:nvSpPr>
            <p:spPr>
              <a:xfrm>
                <a:off x="1295400" y="4908329"/>
                <a:ext cx="2881430" cy="2424895"/>
              </a:xfrm>
              <a:prstGeom prst="rect">
                <a:avLst/>
              </a:prstGeom>
              <a:blipFill>
                <a:blip r:embed="rId4"/>
                <a:stretch>
                  <a:fillRect l="-317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9025150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627E9498-679B-4D99-9FA9-867A9078C985}"/>
              </a:ext>
            </a:extLst>
          </p:cNvPr>
          <p:cNvPicPr>
            <a:picLocks noChangeAspect="1"/>
          </p:cNvPicPr>
          <p:nvPr/>
        </p:nvPicPr>
        <p:blipFill rotWithShape="1">
          <a:blip r:embed="rId3"/>
          <a:srcRect t="1677"/>
          <a:stretch/>
        </p:blipFill>
        <p:spPr>
          <a:xfrm>
            <a:off x="304800" y="2128134"/>
            <a:ext cx="4114800" cy="3005990"/>
          </a:xfrm>
          <a:prstGeom prst="rect">
            <a:avLst/>
          </a:prstGeom>
        </p:spPr>
      </p:pic>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E0C9D583-4E2A-4B6C-8680-E9E737B37081}"/>
                  </a:ext>
                </a:extLst>
              </p:cNvPr>
              <p:cNvSpPr/>
              <p:nvPr/>
            </p:nvSpPr>
            <p:spPr>
              <a:xfrm>
                <a:off x="381000" y="914400"/>
                <a:ext cx="8382000" cy="1015663"/>
              </a:xfrm>
              <a:prstGeom prst="rect">
                <a:avLst/>
              </a:prstGeom>
            </p:spPr>
            <p:txBody>
              <a:bodyPr wrap="square">
                <a:spAutoFit/>
              </a:bodyPr>
              <a:lstStyle/>
              <a:p>
                <a:r>
                  <a:rPr lang="en-US" altLang="zh-CN" b="1" dirty="0">
                    <a:solidFill>
                      <a:srgbClr val="FF0000"/>
                    </a:solidFill>
                    <a:ea typeface="宋体" panose="02010600030101010101" pitchFamily="2" charset="-122"/>
                  </a:rPr>
                  <a:t>Exercise</a:t>
                </a:r>
                <a:r>
                  <a:rPr lang="en-US" altLang="zh-CN" dirty="0">
                    <a:ea typeface="宋体" panose="02010600030101010101" pitchFamily="2" charset="-122"/>
                  </a:rPr>
                  <a:t>: find the relationship between </a:t>
                </a:r>
                <a14:m>
                  <m:oMath xmlns:m="http://schemas.openxmlformats.org/officeDocument/2006/math">
                    <m:sSub>
                      <m:sSubPr>
                        <m:ctrlPr>
                          <a:rPr lang="en-US" altLang="zh-CN" i="1" smtClean="0">
                            <a:latin typeface="Cambria Math" panose="02040503050406030204" pitchFamily="18" charset="0"/>
                            <a:ea typeface="宋体" panose="02010600030101010101" pitchFamily="2" charset="-122"/>
                          </a:rPr>
                        </m:ctrlPr>
                      </m:sSubPr>
                      <m:e>
                        <m:r>
                          <a:rPr lang="en-US" altLang="zh-CN" b="0" i="1" smtClean="0">
                            <a:latin typeface="Cambria Math" panose="02040503050406030204" pitchFamily="18" charset="0"/>
                            <a:ea typeface="宋体" panose="02010600030101010101" pitchFamily="2" charset="-122"/>
                          </a:rPr>
                          <m:t>𝑣</m:t>
                        </m:r>
                      </m:e>
                      <m:sub>
                        <m:r>
                          <a:rPr lang="en-US" altLang="zh-CN" b="0" i="1" smtClean="0">
                            <a:latin typeface="Cambria Math" panose="02040503050406030204" pitchFamily="18" charset="0"/>
                            <a:ea typeface="宋体" panose="02010600030101010101" pitchFamily="2" charset="-122"/>
                          </a:rPr>
                          <m:t>0</m:t>
                        </m:r>
                      </m:sub>
                    </m:sSub>
                  </m:oMath>
                </a14:m>
                <a:r>
                  <a:rPr lang="en-US" altLang="zh-CN" dirty="0">
                    <a:ea typeface="宋体" panose="02010600030101010101" pitchFamily="2" charset="-122"/>
                  </a:rPr>
                  <a:t> and input voltages </a:t>
                </a:r>
                <a14:m>
                  <m:oMath xmlns:m="http://schemas.openxmlformats.org/officeDocument/2006/math">
                    <m:sSub>
                      <m:sSubPr>
                        <m:ctrlPr>
                          <a:rPr lang="en-US" altLang="zh-CN" i="1">
                            <a:latin typeface="Cambria Math" panose="02040503050406030204" pitchFamily="18" charset="0"/>
                            <a:ea typeface="宋体" panose="02010600030101010101" pitchFamily="2" charset="-122"/>
                          </a:rPr>
                        </m:ctrlPr>
                      </m:sSubPr>
                      <m:e>
                        <m:r>
                          <a:rPr lang="en-US" altLang="zh-CN" i="1">
                            <a:latin typeface="Cambria Math" panose="02040503050406030204" pitchFamily="18" charset="0"/>
                            <a:ea typeface="宋体" panose="02010600030101010101" pitchFamily="2" charset="-122"/>
                          </a:rPr>
                          <m:t>𝑣</m:t>
                        </m:r>
                      </m:e>
                      <m:sub>
                        <m:r>
                          <a:rPr lang="en-US" altLang="zh-CN" b="0" i="1" smtClean="0">
                            <a:latin typeface="Cambria Math" panose="02040503050406030204" pitchFamily="18" charset="0"/>
                            <a:ea typeface="宋体" panose="02010600030101010101" pitchFamily="2" charset="-122"/>
                          </a:rPr>
                          <m:t>1</m:t>
                        </m:r>
                      </m:sub>
                    </m:sSub>
                  </m:oMath>
                </a14:m>
                <a:r>
                  <a:rPr lang="en-US" altLang="zh-CN" dirty="0">
                    <a:ea typeface="宋体" panose="02010600030101010101" pitchFamily="2" charset="-122"/>
                  </a:rPr>
                  <a:t>, </a:t>
                </a:r>
                <a14:m>
                  <m:oMath xmlns:m="http://schemas.openxmlformats.org/officeDocument/2006/math">
                    <m:sSub>
                      <m:sSubPr>
                        <m:ctrlPr>
                          <a:rPr lang="en-US" altLang="zh-CN" i="1">
                            <a:latin typeface="Cambria Math" panose="02040503050406030204" pitchFamily="18" charset="0"/>
                            <a:ea typeface="宋体" panose="02010600030101010101" pitchFamily="2" charset="-122"/>
                          </a:rPr>
                        </m:ctrlPr>
                      </m:sSubPr>
                      <m:e>
                        <m:r>
                          <a:rPr lang="en-US" altLang="zh-CN" i="1">
                            <a:latin typeface="Cambria Math" panose="02040503050406030204" pitchFamily="18" charset="0"/>
                            <a:ea typeface="宋体" panose="02010600030101010101" pitchFamily="2" charset="-122"/>
                          </a:rPr>
                          <m:t>𝑣</m:t>
                        </m:r>
                      </m:e>
                      <m:sub>
                        <m:r>
                          <a:rPr lang="en-US" altLang="zh-CN" b="0" i="1" smtClean="0">
                            <a:latin typeface="Cambria Math" panose="02040503050406030204" pitchFamily="18" charset="0"/>
                            <a:ea typeface="宋体" panose="02010600030101010101" pitchFamily="2" charset="-122"/>
                          </a:rPr>
                          <m:t>2</m:t>
                        </m:r>
                      </m:sub>
                    </m:sSub>
                  </m:oMath>
                </a14:m>
                <a:r>
                  <a:rPr lang="en-US" altLang="zh-CN" dirty="0">
                    <a:ea typeface="宋体" panose="02010600030101010101" pitchFamily="2" charset="-122"/>
                  </a:rPr>
                  <a:t>, and </a:t>
                </a:r>
                <a14:m>
                  <m:oMath xmlns:m="http://schemas.openxmlformats.org/officeDocument/2006/math">
                    <m:sSub>
                      <m:sSubPr>
                        <m:ctrlPr>
                          <a:rPr lang="en-US" altLang="zh-CN" i="1">
                            <a:latin typeface="Cambria Math" panose="02040503050406030204" pitchFamily="18" charset="0"/>
                            <a:ea typeface="宋体" panose="02010600030101010101" pitchFamily="2" charset="-122"/>
                          </a:rPr>
                        </m:ctrlPr>
                      </m:sSubPr>
                      <m:e>
                        <m:r>
                          <a:rPr lang="en-US" altLang="zh-CN" i="1">
                            <a:latin typeface="Cambria Math" panose="02040503050406030204" pitchFamily="18" charset="0"/>
                            <a:ea typeface="宋体" panose="02010600030101010101" pitchFamily="2" charset="-122"/>
                          </a:rPr>
                          <m:t>𝑣</m:t>
                        </m:r>
                      </m:e>
                      <m:sub>
                        <m:r>
                          <a:rPr lang="en-US" altLang="zh-CN" b="0" i="1" smtClean="0">
                            <a:latin typeface="Cambria Math" panose="02040503050406030204" pitchFamily="18" charset="0"/>
                            <a:ea typeface="宋体" panose="02010600030101010101" pitchFamily="2" charset="-122"/>
                          </a:rPr>
                          <m:t>3</m:t>
                        </m:r>
                      </m:sub>
                    </m:sSub>
                  </m:oMath>
                </a14:m>
                <a:r>
                  <a:rPr lang="en-US" altLang="zh-CN" dirty="0">
                    <a:ea typeface="宋体" panose="02010600030101010101" pitchFamily="2" charset="-122"/>
                  </a:rPr>
                  <a:t>.  What is the disadvantage of such a summing amplifier compared to the one in the previous slide?</a:t>
                </a:r>
              </a:p>
            </p:txBody>
          </p:sp>
        </mc:Choice>
        <mc:Fallback xmlns="">
          <p:sp>
            <p:nvSpPr>
              <p:cNvPr id="4" name="矩形 3">
                <a:extLst>
                  <a:ext uri="{FF2B5EF4-FFF2-40B4-BE49-F238E27FC236}">
                    <a16:creationId xmlns:a16="http://schemas.microsoft.com/office/drawing/2014/main" id="{E0C9D583-4E2A-4B6C-8680-E9E737B37081}"/>
                  </a:ext>
                </a:extLst>
              </p:cNvPr>
              <p:cNvSpPr>
                <a:spLocks noRot="1" noChangeAspect="1" noMove="1" noResize="1" noEditPoints="1" noAdjustHandles="1" noChangeArrowheads="1" noChangeShapeType="1" noTextEdit="1"/>
              </p:cNvSpPr>
              <p:nvPr/>
            </p:nvSpPr>
            <p:spPr>
              <a:xfrm>
                <a:off x="381000" y="914400"/>
                <a:ext cx="8382000" cy="1015663"/>
              </a:xfrm>
              <a:prstGeom prst="rect">
                <a:avLst/>
              </a:prstGeom>
              <a:blipFill>
                <a:blip r:embed="rId4"/>
                <a:stretch>
                  <a:fillRect l="-800" t="-2395" r="-1018" b="-10180"/>
                </a:stretch>
              </a:blipFill>
            </p:spPr>
            <p:txBody>
              <a:bodyPr/>
              <a:lstStyle/>
              <a:p>
                <a:r>
                  <a:rPr lang="zh-CN" altLang="en-US">
                    <a:noFill/>
                  </a:rPr>
                  <a:t> </a:t>
                </a:r>
              </a:p>
            </p:txBody>
          </p:sp>
        </mc:Fallback>
      </mc:AlternateContent>
      <p:pic>
        <p:nvPicPr>
          <p:cNvPr id="5" name="Picture 5" descr="C:\Users\Joel\Documents\Teaching\McGraw Hill\Fundamentals of Electric Circuits 5e\figures\Ch05\Color Labeled\ale80571_05_021.jpg">
            <a:extLst>
              <a:ext uri="{FF2B5EF4-FFF2-40B4-BE49-F238E27FC236}">
                <a16:creationId xmlns:a16="http://schemas.microsoft.com/office/drawing/2014/main" id="{142C7FD0-1E82-462F-992E-30AD191F5C6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5550"/>
          <a:stretch/>
        </p:blipFill>
        <p:spPr bwMode="auto">
          <a:xfrm>
            <a:off x="5058284" y="2317001"/>
            <a:ext cx="3933315" cy="2693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88958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E61F1056-46AE-4801-AFF2-016D2C35A389}"/>
                  </a:ext>
                </a:extLst>
              </p:cNvPr>
              <p:cNvSpPr/>
              <p:nvPr/>
            </p:nvSpPr>
            <p:spPr>
              <a:xfrm>
                <a:off x="574964" y="1143000"/>
                <a:ext cx="8534400" cy="3132204"/>
              </a:xfrm>
              <a:prstGeom prst="rect">
                <a:avLst/>
              </a:prstGeom>
            </p:spPr>
            <p:txBody>
              <a:bodyPr wrap="square">
                <a:spAutoFit/>
              </a:bodyPr>
              <a:lstStyle/>
              <a:p>
                <a:r>
                  <a:rPr lang="en-US" altLang="zh-CN" sz="2400" b="1" dirty="0">
                    <a:solidFill>
                      <a:srgbClr val="FF0000"/>
                    </a:solidFill>
                    <a:latin typeface="Cambria Math" panose="02040503050406030204" pitchFamily="18" charset="0"/>
                  </a:rPr>
                  <a:t>Answer:</a:t>
                </a:r>
              </a:p>
              <a:p>
                <a:r>
                  <a:rPr lang="en-US" altLang="zh-CN" i="1" dirty="0">
                    <a:latin typeface="Cambria Math" panose="02040503050406030204" pitchFamily="18" charset="0"/>
                  </a:rPr>
                  <a:t> </a:t>
                </a:r>
              </a:p>
              <a:p>
                <a:pPr/>
                <a14:m>
                  <m:oMathPara xmlns:m="http://schemas.openxmlformats.org/officeDocument/2006/math">
                    <m:oMathParaPr>
                      <m:jc m:val="left"/>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i="1">
                              <a:latin typeface="Cambria Math" panose="02040503050406030204" pitchFamily="18" charset="0"/>
                            </a:rPr>
                            <m:t>0</m:t>
                          </m:r>
                        </m:sub>
                      </m:sSub>
                      <m:r>
                        <a:rPr lang="en-US" altLang="zh-CN" i="1">
                          <a:latin typeface="Cambria Math" panose="02040503050406030204" pitchFamily="18" charset="0"/>
                        </a:rPr>
                        <m:t>=</m:t>
                      </m:r>
                      <m:f>
                        <m:fPr>
                          <m:ctrlPr>
                            <a:rPr lang="en-US" altLang="zh-CN" i="1">
                              <a:latin typeface="Cambria Math" panose="02040503050406030204" pitchFamily="18" charset="0"/>
                            </a:rPr>
                          </m:ctrlPr>
                        </m:fPr>
                        <m:num>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i="1">
                                      <a:latin typeface="Cambria Math" panose="02040503050406030204" pitchFamily="18" charset="0"/>
                                    </a:rPr>
                                    <m:t>1</m:t>
                                  </m:r>
                                </m:sub>
                              </m:sSub>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1</m:t>
                                  </m:r>
                                </m:sub>
                              </m:sSub>
                            </m:den>
                          </m:f>
                          <m:r>
                            <a:rPr lang="en-US" altLang="zh-CN" i="1">
                              <a:latin typeface="Cambria Math" panose="02040503050406030204" pitchFamily="18" charset="0"/>
                            </a:rPr>
                            <m:t>+</m:t>
                          </m:r>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i="1">
                                      <a:latin typeface="Cambria Math" panose="02040503050406030204" pitchFamily="18" charset="0"/>
                                    </a:rPr>
                                    <m:t>2</m:t>
                                  </m:r>
                                </m:sub>
                              </m:sSub>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2</m:t>
                                  </m:r>
                                </m:sub>
                              </m:sSub>
                            </m:den>
                          </m:f>
                          <m:r>
                            <a:rPr lang="en-US" altLang="zh-CN" i="1">
                              <a:latin typeface="Cambria Math" panose="02040503050406030204" pitchFamily="18" charset="0"/>
                            </a:rPr>
                            <m:t>+</m:t>
                          </m:r>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i="1">
                                      <a:latin typeface="Cambria Math" panose="02040503050406030204" pitchFamily="18" charset="0"/>
                                    </a:rPr>
                                    <m:t>3</m:t>
                                  </m:r>
                                </m:sub>
                              </m:sSub>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3</m:t>
                                  </m:r>
                                </m:sub>
                              </m:sSub>
                            </m:den>
                          </m:f>
                        </m:num>
                        <m:den>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1</m:t>
                                  </m:r>
                                </m:sub>
                              </m:sSub>
                            </m:den>
                          </m:f>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2</m:t>
                                  </m:r>
                                </m:sub>
                              </m:sSub>
                            </m:den>
                          </m:f>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3</m:t>
                                  </m:r>
                                </m:sub>
                              </m:sSub>
                            </m:den>
                          </m:f>
                        </m:den>
                      </m:f>
                      <m:r>
                        <a:rPr lang="en-US" altLang="zh-CN" i="1">
                          <a:latin typeface="Cambria Math" panose="02040503050406030204" pitchFamily="18" charset="0"/>
                        </a:rPr>
                        <m:t>=</m:t>
                      </m:r>
                      <m:d>
                        <m:dPr>
                          <m:ctrlPr>
                            <a:rPr lang="en-US" altLang="zh-CN" i="1">
                              <a:latin typeface="Cambria Math" panose="02040503050406030204" pitchFamily="18" charset="0"/>
                            </a:rPr>
                          </m:ctrlPr>
                        </m:dPr>
                        <m:e>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i="1">
                                      <a:latin typeface="Cambria Math" panose="02040503050406030204" pitchFamily="18" charset="0"/>
                                    </a:rPr>
                                    <m:t>1</m:t>
                                  </m:r>
                                </m:sub>
                              </m:sSub>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1</m:t>
                                  </m:r>
                                </m:sub>
                              </m:sSub>
                            </m:den>
                          </m:f>
                          <m:r>
                            <a:rPr lang="en-US" altLang="zh-CN" i="1">
                              <a:latin typeface="Cambria Math" panose="02040503050406030204" pitchFamily="18" charset="0"/>
                            </a:rPr>
                            <m:t>+</m:t>
                          </m:r>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i="1">
                                      <a:latin typeface="Cambria Math" panose="02040503050406030204" pitchFamily="18" charset="0"/>
                                    </a:rPr>
                                    <m:t>2</m:t>
                                  </m:r>
                                </m:sub>
                              </m:sSub>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2</m:t>
                                  </m:r>
                                </m:sub>
                              </m:sSub>
                            </m:den>
                          </m:f>
                          <m:r>
                            <a:rPr lang="en-US" altLang="zh-CN" i="1">
                              <a:latin typeface="Cambria Math" panose="02040503050406030204" pitchFamily="18" charset="0"/>
                            </a:rPr>
                            <m:t>+</m:t>
                          </m:r>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i="1">
                                      <a:latin typeface="Cambria Math" panose="02040503050406030204" pitchFamily="18" charset="0"/>
                                    </a:rPr>
                                    <m:t>3</m:t>
                                  </m:r>
                                </m:sub>
                              </m:sSub>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3</m:t>
                                  </m:r>
                                </m:sub>
                              </m:sSub>
                            </m:den>
                          </m:f>
                        </m:e>
                      </m:d>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1</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2</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3</m:t>
                          </m:r>
                        </m:sub>
                      </m:sSub>
                      <m:r>
                        <a:rPr lang="en-US" altLang="zh-CN" i="1">
                          <a:latin typeface="Cambria Math" panose="02040503050406030204" pitchFamily="18" charset="0"/>
                        </a:rPr>
                        <m:t>)</m:t>
                      </m:r>
                    </m:oMath>
                  </m:oMathPara>
                </a14:m>
                <a:endParaRPr lang="en-US" altLang="zh-CN" dirty="0"/>
              </a:p>
              <a:p>
                <a:r>
                  <a:rPr lang="en-US" altLang="zh-CN" dirty="0"/>
                  <a:t>However, the current into each terminal is affected by the voltages at the other input terminals, which is not desirable and should be avoided. Remember: for non-ideal voltage source, the output voltage varies with output current.</a:t>
                </a:r>
              </a:p>
            </p:txBody>
          </p:sp>
        </mc:Choice>
        <mc:Fallback xmlns="">
          <p:sp>
            <p:nvSpPr>
              <p:cNvPr id="2" name="矩形 1">
                <a:extLst>
                  <a:ext uri="{FF2B5EF4-FFF2-40B4-BE49-F238E27FC236}">
                    <a16:creationId xmlns:a16="http://schemas.microsoft.com/office/drawing/2014/main" id="{E61F1056-46AE-4801-AFF2-016D2C35A389}"/>
                  </a:ext>
                </a:extLst>
              </p:cNvPr>
              <p:cNvSpPr>
                <a:spLocks noRot="1" noChangeAspect="1" noMove="1" noResize="1" noEditPoints="1" noAdjustHandles="1" noChangeArrowheads="1" noChangeShapeType="1" noTextEdit="1"/>
              </p:cNvSpPr>
              <p:nvPr/>
            </p:nvSpPr>
            <p:spPr>
              <a:xfrm>
                <a:off x="574964" y="1143000"/>
                <a:ext cx="8534400" cy="3132204"/>
              </a:xfrm>
              <a:prstGeom prst="rect">
                <a:avLst/>
              </a:prstGeom>
              <a:blipFill>
                <a:blip r:embed="rId3"/>
                <a:stretch>
                  <a:fillRect l="-1071" t="-1559" b="-253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250820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7602" name="Rectangle 2"/>
          <p:cNvSpPr>
            <a:spLocks noGrp="1" noChangeArrowheads="1"/>
          </p:cNvSpPr>
          <p:nvPr>
            <p:ph type="title"/>
          </p:nvPr>
        </p:nvSpPr>
        <p:spPr>
          <a:xfrm>
            <a:off x="304800" y="609600"/>
            <a:ext cx="8266113" cy="609600"/>
          </a:xfrm>
          <a:ln/>
        </p:spPr>
        <p:txBody>
          <a:bodyPr/>
          <a:lstStyle/>
          <a:p>
            <a:r>
              <a:rPr lang="en-US" altLang="zh-CN" dirty="0">
                <a:ea typeface="宋体" panose="02010600030101010101" pitchFamily="2" charset="-122"/>
              </a:rPr>
              <a:t>Ideal Op-Amp Analysis</a:t>
            </a:r>
          </a:p>
        </p:txBody>
      </p:sp>
      <mc:AlternateContent xmlns:mc="http://schemas.openxmlformats.org/markup-compatibility/2006" xmlns:a14="http://schemas.microsoft.com/office/drawing/2010/main">
        <mc:Choice Requires="a14">
          <p:sp>
            <p:nvSpPr>
              <p:cNvPr id="537603" name="Text Box 3"/>
              <p:cNvSpPr txBox="1">
                <a:spLocks noChangeArrowheads="1"/>
              </p:cNvSpPr>
              <p:nvPr/>
            </p:nvSpPr>
            <p:spPr bwMode="auto">
              <a:xfrm>
                <a:off x="550862" y="2447442"/>
                <a:ext cx="8223250" cy="70788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nchor="ctr">
                <a:spAutoFit/>
              </a:bodyPr>
              <a:lstStyle>
                <a:lvl1pPr>
                  <a:defRPr sz="2400">
                    <a:solidFill>
                      <a:schemeClr val="tx1"/>
                    </a:solidFill>
                    <a:latin typeface="Times New Roman" panose="02020603050405020304" pitchFamily="18" charset="0"/>
                  </a:defRPr>
                </a:lvl1pPr>
                <a:lvl2pPr marL="738188" indent="-280988">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eaLnBrk="0" fontAlgn="base" hangingPunct="0">
                  <a:spcBef>
                    <a:spcPct val="0"/>
                  </a:spcBef>
                  <a:spcAft>
                    <a:spcPct val="0"/>
                  </a:spcAft>
                  <a:defRPr sz="2400">
                    <a:solidFill>
                      <a:schemeClr val="tx1"/>
                    </a:solidFill>
                    <a:latin typeface="Times New Roman" panose="02020603050405020304" pitchFamily="18" charset="0"/>
                  </a:defRPr>
                </a:lvl6pPr>
                <a:lvl7pPr eaLnBrk="0" fontAlgn="base" hangingPunct="0">
                  <a:spcBef>
                    <a:spcPct val="0"/>
                  </a:spcBef>
                  <a:spcAft>
                    <a:spcPct val="0"/>
                  </a:spcAft>
                  <a:defRPr sz="2400">
                    <a:solidFill>
                      <a:schemeClr val="tx1"/>
                    </a:solidFill>
                    <a:latin typeface="Times New Roman" panose="02020603050405020304" pitchFamily="18" charset="0"/>
                  </a:defRPr>
                </a:lvl7pPr>
                <a:lvl8pPr eaLnBrk="0" fontAlgn="base" hangingPunct="0">
                  <a:spcBef>
                    <a:spcPct val="0"/>
                  </a:spcBef>
                  <a:spcAft>
                    <a:spcPct val="0"/>
                  </a:spcAft>
                  <a:defRPr sz="2400">
                    <a:solidFill>
                      <a:schemeClr val="tx1"/>
                    </a:solidFill>
                    <a:latin typeface="Times New Roman" panose="02020603050405020304" pitchFamily="18" charset="0"/>
                  </a:defRPr>
                </a:lvl8pPr>
                <a:lvl9pPr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spcAft>
                    <a:spcPct val="25000"/>
                  </a:spcAft>
                </a:pPr>
                <a:r>
                  <a:rPr lang="en-US" altLang="zh-CN" sz="2000" dirty="0">
                    <a:latin typeface="Arial" panose="020B0604020202020204" pitchFamily="34" charset="0"/>
                    <a:ea typeface="宋体" panose="02010600030101010101" pitchFamily="2" charset="-122"/>
                  </a:rPr>
                  <a:t>Property 1: Gain is infinite </a:t>
                </a:r>
                <a14:m>
                  <m:oMath xmlns:m="http://schemas.openxmlformats.org/officeDocument/2006/math">
                    <m:r>
                      <a:rPr lang="zh-CN" altLang="en-US" sz="2000" i="1" dirty="0">
                        <a:latin typeface="Cambria Math" panose="02040503050406030204" pitchFamily="18" charset="0"/>
                      </a:rPr>
                      <m:t>⟹</m:t>
                    </m:r>
                  </m:oMath>
                </a14:m>
                <a:r>
                  <a:rPr lang="en-US" altLang="zh-CN" sz="2000" dirty="0">
                    <a:latin typeface="Arial" panose="020B0604020202020204" pitchFamily="34" charset="0"/>
                    <a:ea typeface="宋体" panose="02010600030101010101" pitchFamily="2" charset="-122"/>
                  </a:rPr>
                  <a:t> The </a:t>
                </a:r>
                <a:r>
                  <a:rPr lang="en-US" altLang="zh-CN" sz="2000" dirty="0">
                    <a:solidFill>
                      <a:schemeClr val="accent2"/>
                    </a:solidFill>
                    <a:latin typeface="Arial" panose="020B0604020202020204" pitchFamily="34" charset="0"/>
                    <a:ea typeface="宋体" panose="02010600030101010101" pitchFamily="2" charset="-122"/>
                  </a:rPr>
                  <a:t>potential</a:t>
                </a:r>
                <a:r>
                  <a:rPr lang="en-US" altLang="zh-CN" sz="2000" dirty="0">
                    <a:latin typeface="Arial" panose="020B0604020202020204" pitchFamily="34" charset="0"/>
                    <a:ea typeface="宋体" panose="02010600030101010101" pitchFamily="2" charset="-122"/>
                  </a:rPr>
                  <a:t> between the op-amp input terminals, </a:t>
                </a:r>
                <a:r>
                  <a:rPr lang="en-US" altLang="zh-CN" sz="2000" i="1" dirty="0">
                    <a:latin typeface="Arial" panose="020B0604020202020204" pitchFamily="34" charset="0"/>
                    <a:ea typeface="宋体" panose="02010600030101010101" pitchFamily="2" charset="-122"/>
                  </a:rPr>
                  <a:t>v</a:t>
                </a:r>
                <a:r>
                  <a:rPr lang="en-US" altLang="zh-CN" sz="2000" baseline="-25000" dirty="0">
                    <a:latin typeface="Arial" panose="020B0604020202020204" pitchFamily="34" charset="0"/>
                    <a:ea typeface="宋体" panose="02010600030101010101" pitchFamily="2" charset="-122"/>
                  </a:rPr>
                  <a:t>(+)</a:t>
                </a:r>
                <a:r>
                  <a:rPr lang="en-US" altLang="zh-CN" sz="2000" dirty="0">
                    <a:latin typeface="Arial" panose="020B0604020202020204" pitchFamily="34" charset="0"/>
                    <a:ea typeface="宋体" panose="02010600030101010101" pitchFamily="2" charset="-122"/>
                  </a:rPr>
                  <a:t> – </a:t>
                </a:r>
                <a:r>
                  <a:rPr lang="en-US" altLang="zh-CN" sz="2000" i="1" dirty="0">
                    <a:latin typeface="Arial" panose="020B0604020202020204" pitchFamily="34" charset="0"/>
                    <a:ea typeface="宋体" panose="02010600030101010101" pitchFamily="2" charset="-122"/>
                  </a:rPr>
                  <a:t>v</a:t>
                </a:r>
                <a:r>
                  <a:rPr lang="en-US" altLang="zh-CN" sz="2000" baseline="-25000" dirty="0">
                    <a:latin typeface="Arial" panose="020B0604020202020204" pitchFamily="34" charset="0"/>
                    <a:ea typeface="宋体" panose="02010600030101010101" pitchFamily="2" charset="-122"/>
                  </a:rPr>
                  <a:t>(-)</a:t>
                </a:r>
                <a:r>
                  <a:rPr lang="en-US" altLang="zh-CN" sz="2000" dirty="0">
                    <a:latin typeface="Arial" panose="020B0604020202020204" pitchFamily="34" charset="0"/>
                    <a:ea typeface="宋体" panose="02010600030101010101" pitchFamily="2" charset="-122"/>
                  </a:rPr>
                  <a:t>, equals </a:t>
                </a:r>
                <a:r>
                  <a:rPr lang="en-US" altLang="zh-CN" sz="2000" dirty="0">
                    <a:solidFill>
                      <a:schemeClr val="accent2"/>
                    </a:solidFill>
                    <a:latin typeface="Arial" panose="020B0604020202020204" pitchFamily="34" charset="0"/>
                    <a:ea typeface="宋体" panose="02010600030101010101" pitchFamily="2" charset="-122"/>
                  </a:rPr>
                  <a:t>zero</a:t>
                </a:r>
                <a:r>
                  <a:rPr lang="en-US" altLang="zh-CN" sz="2000" dirty="0">
                    <a:latin typeface="Arial" panose="020B0604020202020204" pitchFamily="34" charset="0"/>
                    <a:ea typeface="宋体" panose="02010600030101010101" pitchFamily="2" charset="-122"/>
                  </a:rPr>
                  <a:t>.</a:t>
                </a:r>
                <a:endParaRPr lang="en-US" altLang="zh-CN" dirty="0">
                  <a:ea typeface="宋体" panose="02010600030101010101" pitchFamily="2" charset="-122"/>
                </a:endParaRPr>
              </a:p>
            </p:txBody>
          </p:sp>
        </mc:Choice>
        <mc:Fallback xmlns="">
          <p:sp>
            <p:nvSpPr>
              <p:cNvPr id="537603" name="Text Box 3"/>
              <p:cNvSpPr txBox="1">
                <a:spLocks noRot="1" noChangeAspect="1" noMove="1" noResize="1" noEditPoints="1" noAdjustHandles="1" noChangeArrowheads="1" noChangeShapeType="1" noTextEdit="1"/>
              </p:cNvSpPr>
              <p:nvPr/>
            </p:nvSpPr>
            <p:spPr bwMode="auto">
              <a:xfrm>
                <a:off x="550862" y="2447442"/>
                <a:ext cx="8223250" cy="707886"/>
              </a:xfrm>
              <a:prstGeom prst="rect">
                <a:avLst/>
              </a:prstGeom>
              <a:blipFill>
                <a:blip r:embed="rId2"/>
                <a:stretch>
                  <a:fillRect l="-741" t="-2564" b="-1453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grpSp>
        <p:nvGrpSpPr>
          <p:cNvPr id="537604" name="Group 4"/>
          <p:cNvGrpSpPr>
            <a:grpSpLocks/>
          </p:cNvGrpSpPr>
          <p:nvPr/>
        </p:nvGrpSpPr>
        <p:grpSpPr bwMode="auto">
          <a:xfrm>
            <a:off x="3048000" y="4383570"/>
            <a:ext cx="3268663" cy="1438275"/>
            <a:chOff x="336" y="1056"/>
            <a:chExt cx="2059" cy="906"/>
          </a:xfrm>
        </p:grpSpPr>
        <p:sp>
          <p:nvSpPr>
            <p:cNvPr id="537605" name="Rectangle 5"/>
            <p:cNvSpPr>
              <a:spLocks noChangeArrowheads="1"/>
            </p:cNvSpPr>
            <p:nvPr/>
          </p:nvSpPr>
          <p:spPr bwMode="auto">
            <a:xfrm>
              <a:off x="1631" y="1062"/>
              <a:ext cx="15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zh-CN" sz="2000">
                  <a:solidFill>
                    <a:srgbClr val="000000"/>
                  </a:solidFill>
                  <a:latin typeface="Times" panose="02020603050405020304" pitchFamily="18" charset="0"/>
                  <a:ea typeface="宋体" panose="02010600030101010101" pitchFamily="2" charset="-122"/>
                </a:rPr>
                <a:t>R</a:t>
              </a:r>
              <a:r>
                <a:rPr lang="en-US" altLang="zh-CN" sz="2000" baseline="-25000">
                  <a:solidFill>
                    <a:srgbClr val="000000"/>
                  </a:solidFill>
                  <a:latin typeface="Times" panose="02020603050405020304" pitchFamily="18" charset="0"/>
                  <a:ea typeface="宋体" panose="02010600030101010101" pitchFamily="2" charset="-122"/>
                </a:rPr>
                <a:t>2</a:t>
              </a:r>
              <a:endParaRPr lang="en-US" altLang="zh-CN" sz="2000">
                <a:latin typeface="Arial" panose="020B0604020202020204" pitchFamily="34" charset="0"/>
                <a:ea typeface="宋体" panose="02010600030101010101" pitchFamily="2" charset="-122"/>
              </a:endParaRPr>
            </a:p>
          </p:txBody>
        </p:sp>
        <p:sp>
          <p:nvSpPr>
            <p:cNvPr id="537606" name="Rectangle 6"/>
            <p:cNvSpPr>
              <a:spLocks noChangeArrowheads="1"/>
            </p:cNvSpPr>
            <p:nvPr/>
          </p:nvSpPr>
          <p:spPr bwMode="auto">
            <a:xfrm>
              <a:off x="1012" y="1056"/>
              <a:ext cx="15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zh-CN" sz="2000">
                  <a:solidFill>
                    <a:srgbClr val="000000"/>
                  </a:solidFill>
                  <a:latin typeface="Times" panose="02020603050405020304" pitchFamily="18" charset="0"/>
                  <a:ea typeface="宋体" panose="02010600030101010101" pitchFamily="2" charset="-122"/>
                </a:rPr>
                <a:t>R</a:t>
              </a:r>
              <a:r>
                <a:rPr lang="en-US" altLang="zh-CN" sz="2000" baseline="-25000">
                  <a:solidFill>
                    <a:srgbClr val="000000"/>
                  </a:solidFill>
                  <a:latin typeface="Times" panose="02020603050405020304" pitchFamily="18" charset="0"/>
                  <a:ea typeface="宋体" panose="02010600030101010101" pitchFamily="2" charset="-122"/>
                </a:rPr>
                <a:t>1</a:t>
              </a:r>
              <a:endParaRPr lang="en-US" altLang="zh-CN" sz="2000">
                <a:latin typeface="Arial" panose="020B0604020202020204" pitchFamily="34" charset="0"/>
                <a:ea typeface="宋体" panose="02010600030101010101" pitchFamily="2" charset="-122"/>
              </a:endParaRPr>
            </a:p>
          </p:txBody>
        </p:sp>
        <p:grpSp>
          <p:nvGrpSpPr>
            <p:cNvPr id="537607" name="Group 7"/>
            <p:cNvGrpSpPr>
              <a:grpSpLocks/>
            </p:cNvGrpSpPr>
            <p:nvPr/>
          </p:nvGrpSpPr>
          <p:grpSpPr bwMode="auto">
            <a:xfrm>
              <a:off x="1450" y="1559"/>
              <a:ext cx="384" cy="403"/>
              <a:chOff x="2018" y="3608"/>
              <a:chExt cx="384" cy="403"/>
            </a:xfrm>
          </p:grpSpPr>
          <p:sp>
            <p:nvSpPr>
              <p:cNvPr id="537608" name="AutoShape 8"/>
              <p:cNvSpPr>
                <a:spLocks noChangeArrowheads="1"/>
              </p:cNvSpPr>
              <p:nvPr/>
            </p:nvSpPr>
            <p:spPr bwMode="auto">
              <a:xfrm rot="5400000">
                <a:off x="2018" y="3627"/>
                <a:ext cx="384" cy="384"/>
              </a:xfrm>
              <a:prstGeom prst="triangle">
                <a:avLst>
                  <a:gd name="adj" fmla="val 50000"/>
                </a:avLst>
              </a:prstGeom>
              <a:solidFill>
                <a:srgbClr val="FF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7609" name="Rectangle 9"/>
              <p:cNvSpPr>
                <a:spLocks noChangeArrowheads="1"/>
              </p:cNvSpPr>
              <p:nvPr/>
            </p:nvSpPr>
            <p:spPr bwMode="auto">
              <a:xfrm>
                <a:off x="2049" y="3608"/>
                <a:ext cx="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zh-CN" sz="2200">
                    <a:solidFill>
                      <a:srgbClr val="000000"/>
                    </a:solidFill>
                    <a:latin typeface="Symbol" panose="05050102010706020507" pitchFamily="18" charset="2"/>
                    <a:ea typeface="宋体" panose="02010600030101010101" pitchFamily="2" charset="-122"/>
                  </a:rPr>
                  <a:t>-</a:t>
                </a:r>
                <a:endParaRPr lang="en-US" altLang="zh-CN" sz="2000">
                  <a:latin typeface="Arial" panose="020B0604020202020204" pitchFamily="34" charset="0"/>
                  <a:ea typeface="宋体" panose="02010600030101010101" pitchFamily="2" charset="-122"/>
                </a:endParaRPr>
              </a:p>
            </p:txBody>
          </p:sp>
          <p:sp>
            <p:nvSpPr>
              <p:cNvPr id="537610" name="Rectangle 10"/>
              <p:cNvSpPr>
                <a:spLocks noChangeArrowheads="1"/>
              </p:cNvSpPr>
              <p:nvPr/>
            </p:nvSpPr>
            <p:spPr bwMode="auto">
              <a:xfrm>
                <a:off x="2049" y="3791"/>
                <a:ext cx="99"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zh-CN" sz="2200">
                    <a:solidFill>
                      <a:srgbClr val="000000"/>
                    </a:solidFill>
                    <a:latin typeface="Times" panose="02020603050405020304" pitchFamily="18" charset="0"/>
                    <a:ea typeface="宋体" panose="02010600030101010101" pitchFamily="2" charset="-122"/>
                  </a:rPr>
                  <a:t>+</a:t>
                </a:r>
                <a:endParaRPr lang="en-US" altLang="zh-CN" sz="2000">
                  <a:latin typeface="Arial" panose="020B0604020202020204" pitchFamily="34" charset="0"/>
                  <a:ea typeface="宋体" panose="02010600030101010101" pitchFamily="2" charset="-122"/>
                </a:endParaRPr>
              </a:p>
            </p:txBody>
          </p:sp>
        </p:grpSp>
        <p:grpSp>
          <p:nvGrpSpPr>
            <p:cNvPr id="537611" name="Group 11"/>
            <p:cNvGrpSpPr>
              <a:grpSpLocks noChangeAspect="1"/>
            </p:cNvGrpSpPr>
            <p:nvPr/>
          </p:nvGrpSpPr>
          <p:grpSpPr bwMode="auto">
            <a:xfrm rot="-5400000">
              <a:off x="870" y="1007"/>
              <a:ext cx="98" cy="621"/>
              <a:chOff x="1939" y="2585"/>
              <a:chExt cx="131" cy="794"/>
            </a:xfrm>
          </p:grpSpPr>
          <p:grpSp>
            <p:nvGrpSpPr>
              <p:cNvPr id="537612" name="Group 12"/>
              <p:cNvGrpSpPr>
                <a:grpSpLocks noChangeAspect="1"/>
              </p:cNvGrpSpPr>
              <p:nvPr/>
            </p:nvGrpSpPr>
            <p:grpSpPr bwMode="auto">
              <a:xfrm rot="5400000">
                <a:off x="1913" y="2916"/>
                <a:ext cx="184" cy="131"/>
                <a:chOff x="1777" y="2942"/>
                <a:chExt cx="345" cy="245"/>
              </a:xfrm>
            </p:grpSpPr>
            <p:sp>
              <p:nvSpPr>
                <p:cNvPr id="537613" name="Line 13"/>
                <p:cNvSpPr>
                  <a:spLocks noChangeAspect="1" noChangeShapeType="1"/>
                </p:cNvSpPr>
                <p:nvPr/>
              </p:nvSpPr>
              <p:spPr bwMode="auto">
                <a:xfrm rot="-5400000">
                  <a:off x="1724" y="2996"/>
                  <a:ext cx="158" cy="5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7614" name="Line 14"/>
                <p:cNvSpPr>
                  <a:spLocks noChangeAspect="1" noChangeShapeType="1"/>
                </p:cNvSpPr>
                <p:nvPr/>
              </p:nvSpPr>
              <p:spPr bwMode="auto">
                <a:xfrm rot="16200000" flipH="1">
                  <a:off x="1743" y="3027"/>
                  <a:ext cx="245" cy="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7615" name="Line 15"/>
                <p:cNvSpPr>
                  <a:spLocks noChangeAspect="1" noChangeShapeType="1"/>
                </p:cNvSpPr>
                <p:nvPr/>
              </p:nvSpPr>
              <p:spPr bwMode="auto">
                <a:xfrm rot="-5400000">
                  <a:off x="1815" y="3048"/>
                  <a:ext cx="227" cy="5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7616" name="Line 16"/>
                <p:cNvSpPr>
                  <a:spLocks noChangeAspect="1" noChangeShapeType="1"/>
                </p:cNvSpPr>
                <p:nvPr/>
              </p:nvSpPr>
              <p:spPr bwMode="auto">
                <a:xfrm rot="16200000" flipH="1">
                  <a:off x="1875" y="3039"/>
                  <a:ext cx="227" cy="7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7617" name="Line 17"/>
                <p:cNvSpPr>
                  <a:spLocks noChangeAspect="1" noChangeShapeType="1"/>
                </p:cNvSpPr>
                <p:nvPr/>
              </p:nvSpPr>
              <p:spPr bwMode="auto">
                <a:xfrm rot="-5400000">
                  <a:off x="1936" y="3048"/>
                  <a:ext cx="227" cy="5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7618" name="Line 18"/>
                <p:cNvSpPr>
                  <a:spLocks noChangeAspect="1" noChangeShapeType="1"/>
                </p:cNvSpPr>
                <p:nvPr/>
              </p:nvSpPr>
              <p:spPr bwMode="auto">
                <a:xfrm rot="16200000" flipH="1">
                  <a:off x="2028" y="3007"/>
                  <a:ext cx="141" cy="4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537619" name="Line 19"/>
              <p:cNvSpPr>
                <a:spLocks noChangeAspect="1" noChangeShapeType="1"/>
              </p:cNvSpPr>
              <p:nvPr/>
            </p:nvSpPr>
            <p:spPr bwMode="auto">
              <a:xfrm flipV="1">
                <a:off x="1993" y="2585"/>
                <a:ext cx="0" cy="30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7620" name="Line 20"/>
              <p:cNvSpPr>
                <a:spLocks noChangeAspect="1" noChangeShapeType="1"/>
              </p:cNvSpPr>
              <p:nvPr/>
            </p:nvSpPr>
            <p:spPr bwMode="auto">
              <a:xfrm flipV="1">
                <a:off x="1994" y="3074"/>
                <a:ext cx="0" cy="30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537621" name="Group 21"/>
            <p:cNvGrpSpPr>
              <a:grpSpLocks noChangeAspect="1"/>
            </p:cNvGrpSpPr>
            <p:nvPr/>
          </p:nvGrpSpPr>
          <p:grpSpPr bwMode="auto">
            <a:xfrm rot="-5400000">
              <a:off x="1485" y="1009"/>
              <a:ext cx="98" cy="616"/>
              <a:chOff x="1939" y="2585"/>
              <a:chExt cx="131" cy="788"/>
            </a:xfrm>
          </p:grpSpPr>
          <p:grpSp>
            <p:nvGrpSpPr>
              <p:cNvPr id="537622" name="Group 22"/>
              <p:cNvGrpSpPr>
                <a:grpSpLocks noChangeAspect="1"/>
              </p:cNvGrpSpPr>
              <p:nvPr/>
            </p:nvGrpSpPr>
            <p:grpSpPr bwMode="auto">
              <a:xfrm rot="5400000">
                <a:off x="1913" y="2916"/>
                <a:ext cx="184" cy="131"/>
                <a:chOff x="1777" y="2942"/>
                <a:chExt cx="345" cy="245"/>
              </a:xfrm>
            </p:grpSpPr>
            <p:sp>
              <p:nvSpPr>
                <p:cNvPr id="537623" name="Line 23"/>
                <p:cNvSpPr>
                  <a:spLocks noChangeAspect="1" noChangeShapeType="1"/>
                </p:cNvSpPr>
                <p:nvPr/>
              </p:nvSpPr>
              <p:spPr bwMode="auto">
                <a:xfrm rot="-5400000">
                  <a:off x="1724" y="2996"/>
                  <a:ext cx="158" cy="5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7624" name="Line 24"/>
                <p:cNvSpPr>
                  <a:spLocks noChangeAspect="1" noChangeShapeType="1"/>
                </p:cNvSpPr>
                <p:nvPr/>
              </p:nvSpPr>
              <p:spPr bwMode="auto">
                <a:xfrm rot="16200000" flipH="1">
                  <a:off x="1743" y="3027"/>
                  <a:ext cx="245" cy="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7625" name="Line 25"/>
                <p:cNvSpPr>
                  <a:spLocks noChangeAspect="1" noChangeShapeType="1"/>
                </p:cNvSpPr>
                <p:nvPr/>
              </p:nvSpPr>
              <p:spPr bwMode="auto">
                <a:xfrm rot="-5400000">
                  <a:off x="1815" y="3048"/>
                  <a:ext cx="227" cy="5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7626" name="Line 26"/>
                <p:cNvSpPr>
                  <a:spLocks noChangeAspect="1" noChangeShapeType="1"/>
                </p:cNvSpPr>
                <p:nvPr/>
              </p:nvSpPr>
              <p:spPr bwMode="auto">
                <a:xfrm rot="16200000" flipH="1">
                  <a:off x="1875" y="3039"/>
                  <a:ext cx="227" cy="7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7627" name="Line 27"/>
                <p:cNvSpPr>
                  <a:spLocks noChangeAspect="1" noChangeShapeType="1"/>
                </p:cNvSpPr>
                <p:nvPr/>
              </p:nvSpPr>
              <p:spPr bwMode="auto">
                <a:xfrm rot="-5400000">
                  <a:off x="1936" y="3048"/>
                  <a:ext cx="227" cy="5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7628" name="Line 28"/>
                <p:cNvSpPr>
                  <a:spLocks noChangeAspect="1" noChangeShapeType="1"/>
                </p:cNvSpPr>
                <p:nvPr/>
              </p:nvSpPr>
              <p:spPr bwMode="auto">
                <a:xfrm rot="16200000" flipH="1">
                  <a:off x="2028" y="3007"/>
                  <a:ext cx="141" cy="4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537629" name="Line 29"/>
              <p:cNvSpPr>
                <a:spLocks noChangeAspect="1" noChangeShapeType="1"/>
              </p:cNvSpPr>
              <p:nvPr/>
            </p:nvSpPr>
            <p:spPr bwMode="auto">
              <a:xfrm flipV="1">
                <a:off x="1993" y="2585"/>
                <a:ext cx="0" cy="30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7630" name="Line 30"/>
              <p:cNvSpPr>
                <a:spLocks noChangeAspect="1" noChangeShapeType="1"/>
              </p:cNvSpPr>
              <p:nvPr/>
            </p:nvSpPr>
            <p:spPr bwMode="auto">
              <a:xfrm flipV="1">
                <a:off x="1988" y="3068"/>
                <a:ext cx="0" cy="30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537631" name="Line 31"/>
            <p:cNvSpPr>
              <a:spLocks noChangeShapeType="1"/>
            </p:cNvSpPr>
            <p:nvPr/>
          </p:nvSpPr>
          <p:spPr bwMode="auto">
            <a:xfrm flipV="1">
              <a:off x="1839" y="1325"/>
              <a:ext cx="0" cy="44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37632" name="Line 32"/>
            <p:cNvSpPr>
              <a:spLocks noChangeShapeType="1"/>
            </p:cNvSpPr>
            <p:nvPr/>
          </p:nvSpPr>
          <p:spPr bwMode="auto">
            <a:xfrm flipH="1">
              <a:off x="1247" y="1692"/>
              <a:ext cx="19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7633" name="Line 33"/>
            <p:cNvSpPr>
              <a:spLocks noChangeShapeType="1"/>
            </p:cNvSpPr>
            <p:nvPr/>
          </p:nvSpPr>
          <p:spPr bwMode="auto">
            <a:xfrm flipV="1">
              <a:off x="1247" y="1320"/>
              <a:ext cx="0" cy="38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nvGrpSpPr>
            <p:cNvPr id="537634" name="Group 34"/>
            <p:cNvGrpSpPr>
              <a:grpSpLocks/>
            </p:cNvGrpSpPr>
            <p:nvPr/>
          </p:nvGrpSpPr>
          <p:grpSpPr bwMode="auto">
            <a:xfrm>
              <a:off x="457" y="1329"/>
              <a:ext cx="308" cy="228"/>
              <a:chOff x="1673" y="2829"/>
              <a:chExt cx="308" cy="228"/>
            </a:xfrm>
          </p:grpSpPr>
          <p:sp>
            <p:nvSpPr>
              <p:cNvPr id="537635" name="Freeform 35"/>
              <p:cNvSpPr>
                <a:spLocks/>
              </p:cNvSpPr>
              <p:nvPr/>
            </p:nvSpPr>
            <p:spPr bwMode="auto">
              <a:xfrm>
                <a:off x="1867" y="3041"/>
                <a:ext cx="17" cy="16"/>
              </a:xfrm>
              <a:custGeom>
                <a:avLst/>
                <a:gdLst>
                  <a:gd name="T0" fmla="*/ 17 w 17"/>
                  <a:gd name="T1" fmla="*/ 16 h 16"/>
                  <a:gd name="T2" fmla="*/ 17 w 17"/>
                  <a:gd name="T3" fmla="*/ 0 h 16"/>
                  <a:gd name="T4" fmla="*/ 17 w 17"/>
                  <a:gd name="T5" fmla="*/ 0 h 16"/>
                  <a:gd name="T6" fmla="*/ 0 w 17"/>
                  <a:gd name="T7" fmla="*/ 0 h 16"/>
                  <a:gd name="T8" fmla="*/ 0 w 17"/>
                  <a:gd name="T9" fmla="*/ 16 h 16"/>
                  <a:gd name="T10" fmla="*/ 0 w 17"/>
                  <a:gd name="T11" fmla="*/ 16 h 16"/>
                  <a:gd name="T12" fmla="*/ 17 w 17"/>
                  <a:gd name="T13" fmla="*/ 16 h 16"/>
                  <a:gd name="T14" fmla="*/ 17 w 17"/>
                  <a:gd name="T15" fmla="*/ 16 h 16"/>
                  <a:gd name="T16" fmla="*/ 17 w 17"/>
                  <a:gd name="T17" fmla="*/ 1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6">
                    <a:moveTo>
                      <a:pt x="17" y="16"/>
                    </a:moveTo>
                    <a:lnTo>
                      <a:pt x="17" y="0"/>
                    </a:lnTo>
                    <a:lnTo>
                      <a:pt x="17" y="0"/>
                    </a:lnTo>
                    <a:lnTo>
                      <a:pt x="0" y="0"/>
                    </a:lnTo>
                    <a:lnTo>
                      <a:pt x="0" y="16"/>
                    </a:lnTo>
                    <a:lnTo>
                      <a:pt x="0" y="16"/>
                    </a:lnTo>
                    <a:lnTo>
                      <a:pt x="17" y="16"/>
                    </a:lnTo>
                    <a:lnTo>
                      <a:pt x="17" y="16"/>
                    </a:lnTo>
                    <a:lnTo>
                      <a:pt x="17" y="16"/>
                    </a:lnTo>
                    <a:close/>
                  </a:path>
                </a:pathLst>
              </a:cu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7636" name="Freeform 36"/>
              <p:cNvSpPr>
                <a:spLocks/>
              </p:cNvSpPr>
              <p:nvPr/>
            </p:nvSpPr>
            <p:spPr bwMode="auto">
              <a:xfrm>
                <a:off x="1770" y="3041"/>
                <a:ext cx="16" cy="16"/>
              </a:xfrm>
              <a:custGeom>
                <a:avLst/>
                <a:gdLst>
                  <a:gd name="T0" fmla="*/ 16 w 16"/>
                  <a:gd name="T1" fmla="*/ 16 h 16"/>
                  <a:gd name="T2" fmla="*/ 16 w 16"/>
                  <a:gd name="T3" fmla="*/ 0 h 16"/>
                  <a:gd name="T4" fmla="*/ 16 w 16"/>
                  <a:gd name="T5" fmla="*/ 0 h 16"/>
                  <a:gd name="T6" fmla="*/ 0 w 16"/>
                  <a:gd name="T7" fmla="*/ 0 h 16"/>
                  <a:gd name="T8" fmla="*/ 0 w 16"/>
                  <a:gd name="T9" fmla="*/ 16 h 16"/>
                  <a:gd name="T10" fmla="*/ 0 w 16"/>
                  <a:gd name="T11" fmla="*/ 16 h 16"/>
                  <a:gd name="T12" fmla="*/ 16 w 16"/>
                  <a:gd name="T13" fmla="*/ 16 h 16"/>
                  <a:gd name="T14" fmla="*/ 16 w 16"/>
                  <a:gd name="T15" fmla="*/ 16 h 16"/>
                  <a:gd name="T16" fmla="*/ 16 w 16"/>
                  <a:gd name="T17" fmla="*/ 1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6">
                    <a:moveTo>
                      <a:pt x="16" y="16"/>
                    </a:moveTo>
                    <a:lnTo>
                      <a:pt x="16" y="0"/>
                    </a:lnTo>
                    <a:lnTo>
                      <a:pt x="16" y="0"/>
                    </a:lnTo>
                    <a:lnTo>
                      <a:pt x="0" y="0"/>
                    </a:lnTo>
                    <a:lnTo>
                      <a:pt x="0" y="16"/>
                    </a:lnTo>
                    <a:lnTo>
                      <a:pt x="0" y="16"/>
                    </a:lnTo>
                    <a:lnTo>
                      <a:pt x="16" y="16"/>
                    </a:lnTo>
                    <a:lnTo>
                      <a:pt x="16" y="16"/>
                    </a:lnTo>
                    <a:lnTo>
                      <a:pt x="16" y="16"/>
                    </a:lnTo>
                    <a:close/>
                  </a:path>
                </a:pathLst>
              </a:cu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7637" name="Rectangle 37"/>
              <p:cNvSpPr>
                <a:spLocks noChangeArrowheads="1"/>
              </p:cNvSpPr>
              <p:nvPr/>
            </p:nvSpPr>
            <p:spPr bwMode="auto">
              <a:xfrm>
                <a:off x="1770" y="3041"/>
                <a:ext cx="97" cy="16"/>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37638" name="Freeform 38"/>
              <p:cNvSpPr>
                <a:spLocks/>
              </p:cNvSpPr>
              <p:nvPr/>
            </p:nvSpPr>
            <p:spPr bwMode="auto">
              <a:xfrm>
                <a:off x="1916" y="3008"/>
                <a:ext cx="16" cy="16"/>
              </a:xfrm>
              <a:custGeom>
                <a:avLst/>
                <a:gdLst>
                  <a:gd name="T0" fmla="*/ 16 w 16"/>
                  <a:gd name="T1" fmla="*/ 16 h 16"/>
                  <a:gd name="T2" fmla="*/ 16 w 16"/>
                  <a:gd name="T3" fmla="*/ 0 h 16"/>
                  <a:gd name="T4" fmla="*/ 16 w 16"/>
                  <a:gd name="T5" fmla="*/ 0 h 16"/>
                  <a:gd name="T6" fmla="*/ 0 w 16"/>
                  <a:gd name="T7" fmla="*/ 0 h 16"/>
                  <a:gd name="T8" fmla="*/ 0 w 16"/>
                  <a:gd name="T9" fmla="*/ 16 h 16"/>
                  <a:gd name="T10" fmla="*/ 0 w 16"/>
                  <a:gd name="T11" fmla="*/ 16 h 16"/>
                  <a:gd name="T12" fmla="*/ 16 w 16"/>
                  <a:gd name="T13" fmla="*/ 16 h 16"/>
                  <a:gd name="T14" fmla="*/ 16 w 16"/>
                  <a:gd name="T15" fmla="*/ 16 h 16"/>
                  <a:gd name="T16" fmla="*/ 16 w 16"/>
                  <a:gd name="T17" fmla="*/ 1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6">
                    <a:moveTo>
                      <a:pt x="16" y="16"/>
                    </a:moveTo>
                    <a:lnTo>
                      <a:pt x="16" y="0"/>
                    </a:lnTo>
                    <a:lnTo>
                      <a:pt x="16" y="0"/>
                    </a:lnTo>
                    <a:lnTo>
                      <a:pt x="0" y="0"/>
                    </a:lnTo>
                    <a:lnTo>
                      <a:pt x="0" y="16"/>
                    </a:lnTo>
                    <a:lnTo>
                      <a:pt x="0" y="16"/>
                    </a:lnTo>
                    <a:lnTo>
                      <a:pt x="16" y="16"/>
                    </a:lnTo>
                    <a:lnTo>
                      <a:pt x="16" y="16"/>
                    </a:lnTo>
                    <a:lnTo>
                      <a:pt x="16" y="16"/>
                    </a:lnTo>
                    <a:close/>
                  </a:path>
                </a:pathLst>
              </a:cu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7639" name="Freeform 39"/>
              <p:cNvSpPr>
                <a:spLocks/>
              </p:cNvSpPr>
              <p:nvPr/>
            </p:nvSpPr>
            <p:spPr bwMode="auto">
              <a:xfrm>
                <a:off x="1722" y="3008"/>
                <a:ext cx="16" cy="16"/>
              </a:xfrm>
              <a:custGeom>
                <a:avLst/>
                <a:gdLst>
                  <a:gd name="T0" fmla="*/ 16 w 16"/>
                  <a:gd name="T1" fmla="*/ 16 h 16"/>
                  <a:gd name="T2" fmla="*/ 16 w 16"/>
                  <a:gd name="T3" fmla="*/ 0 h 16"/>
                  <a:gd name="T4" fmla="*/ 16 w 16"/>
                  <a:gd name="T5" fmla="*/ 0 h 16"/>
                  <a:gd name="T6" fmla="*/ 0 w 16"/>
                  <a:gd name="T7" fmla="*/ 0 h 16"/>
                  <a:gd name="T8" fmla="*/ 0 w 16"/>
                  <a:gd name="T9" fmla="*/ 16 h 16"/>
                  <a:gd name="T10" fmla="*/ 0 w 16"/>
                  <a:gd name="T11" fmla="*/ 16 h 16"/>
                  <a:gd name="T12" fmla="*/ 16 w 16"/>
                  <a:gd name="T13" fmla="*/ 16 h 16"/>
                  <a:gd name="T14" fmla="*/ 16 w 16"/>
                  <a:gd name="T15" fmla="*/ 16 h 16"/>
                  <a:gd name="T16" fmla="*/ 16 w 16"/>
                  <a:gd name="T17" fmla="*/ 1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6">
                    <a:moveTo>
                      <a:pt x="16" y="16"/>
                    </a:moveTo>
                    <a:lnTo>
                      <a:pt x="16" y="0"/>
                    </a:lnTo>
                    <a:lnTo>
                      <a:pt x="16" y="0"/>
                    </a:lnTo>
                    <a:lnTo>
                      <a:pt x="0" y="0"/>
                    </a:lnTo>
                    <a:lnTo>
                      <a:pt x="0" y="16"/>
                    </a:lnTo>
                    <a:lnTo>
                      <a:pt x="0" y="16"/>
                    </a:lnTo>
                    <a:lnTo>
                      <a:pt x="16" y="16"/>
                    </a:lnTo>
                    <a:lnTo>
                      <a:pt x="16" y="16"/>
                    </a:lnTo>
                    <a:lnTo>
                      <a:pt x="16" y="16"/>
                    </a:lnTo>
                    <a:close/>
                  </a:path>
                </a:pathLst>
              </a:cu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7640" name="Rectangle 40"/>
              <p:cNvSpPr>
                <a:spLocks noChangeArrowheads="1"/>
              </p:cNvSpPr>
              <p:nvPr/>
            </p:nvSpPr>
            <p:spPr bwMode="auto">
              <a:xfrm>
                <a:off x="1722" y="3008"/>
                <a:ext cx="194" cy="16"/>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37641" name="Freeform 41"/>
              <p:cNvSpPr>
                <a:spLocks/>
              </p:cNvSpPr>
              <p:nvPr/>
            </p:nvSpPr>
            <p:spPr bwMode="auto">
              <a:xfrm>
                <a:off x="1965" y="2976"/>
                <a:ext cx="16" cy="16"/>
              </a:xfrm>
              <a:custGeom>
                <a:avLst/>
                <a:gdLst>
                  <a:gd name="T0" fmla="*/ 16 w 16"/>
                  <a:gd name="T1" fmla="*/ 16 h 16"/>
                  <a:gd name="T2" fmla="*/ 16 w 16"/>
                  <a:gd name="T3" fmla="*/ 0 h 16"/>
                  <a:gd name="T4" fmla="*/ 16 w 16"/>
                  <a:gd name="T5" fmla="*/ 0 h 16"/>
                  <a:gd name="T6" fmla="*/ 0 w 16"/>
                  <a:gd name="T7" fmla="*/ 0 h 16"/>
                  <a:gd name="T8" fmla="*/ 0 w 16"/>
                  <a:gd name="T9" fmla="*/ 16 h 16"/>
                  <a:gd name="T10" fmla="*/ 0 w 16"/>
                  <a:gd name="T11" fmla="*/ 16 h 16"/>
                  <a:gd name="T12" fmla="*/ 16 w 16"/>
                  <a:gd name="T13" fmla="*/ 16 h 16"/>
                  <a:gd name="T14" fmla="*/ 16 w 16"/>
                  <a:gd name="T15" fmla="*/ 16 h 16"/>
                  <a:gd name="T16" fmla="*/ 16 w 16"/>
                  <a:gd name="T17" fmla="*/ 1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6">
                    <a:moveTo>
                      <a:pt x="16" y="16"/>
                    </a:moveTo>
                    <a:lnTo>
                      <a:pt x="16" y="0"/>
                    </a:lnTo>
                    <a:lnTo>
                      <a:pt x="16" y="0"/>
                    </a:lnTo>
                    <a:lnTo>
                      <a:pt x="0" y="0"/>
                    </a:lnTo>
                    <a:lnTo>
                      <a:pt x="0" y="16"/>
                    </a:lnTo>
                    <a:lnTo>
                      <a:pt x="0" y="16"/>
                    </a:lnTo>
                    <a:lnTo>
                      <a:pt x="16" y="16"/>
                    </a:lnTo>
                    <a:lnTo>
                      <a:pt x="16" y="16"/>
                    </a:lnTo>
                    <a:lnTo>
                      <a:pt x="16" y="16"/>
                    </a:lnTo>
                    <a:close/>
                  </a:path>
                </a:pathLst>
              </a:cu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7642" name="Freeform 42"/>
              <p:cNvSpPr>
                <a:spLocks/>
              </p:cNvSpPr>
              <p:nvPr/>
            </p:nvSpPr>
            <p:spPr bwMode="auto">
              <a:xfrm>
                <a:off x="1673" y="2976"/>
                <a:ext cx="16" cy="16"/>
              </a:xfrm>
              <a:custGeom>
                <a:avLst/>
                <a:gdLst>
                  <a:gd name="T0" fmla="*/ 16 w 16"/>
                  <a:gd name="T1" fmla="*/ 16 h 16"/>
                  <a:gd name="T2" fmla="*/ 16 w 16"/>
                  <a:gd name="T3" fmla="*/ 0 h 16"/>
                  <a:gd name="T4" fmla="*/ 16 w 16"/>
                  <a:gd name="T5" fmla="*/ 0 h 16"/>
                  <a:gd name="T6" fmla="*/ 0 w 16"/>
                  <a:gd name="T7" fmla="*/ 0 h 16"/>
                  <a:gd name="T8" fmla="*/ 0 w 16"/>
                  <a:gd name="T9" fmla="*/ 16 h 16"/>
                  <a:gd name="T10" fmla="*/ 0 w 16"/>
                  <a:gd name="T11" fmla="*/ 16 h 16"/>
                  <a:gd name="T12" fmla="*/ 16 w 16"/>
                  <a:gd name="T13" fmla="*/ 16 h 16"/>
                  <a:gd name="T14" fmla="*/ 16 w 16"/>
                  <a:gd name="T15" fmla="*/ 16 h 16"/>
                  <a:gd name="T16" fmla="*/ 16 w 16"/>
                  <a:gd name="T17" fmla="*/ 1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6">
                    <a:moveTo>
                      <a:pt x="16" y="16"/>
                    </a:moveTo>
                    <a:lnTo>
                      <a:pt x="16" y="0"/>
                    </a:lnTo>
                    <a:lnTo>
                      <a:pt x="16" y="0"/>
                    </a:lnTo>
                    <a:lnTo>
                      <a:pt x="0" y="0"/>
                    </a:lnTo>
                    <a:lnTo>
                      <a:pt x="0" y="16"/>
                    </a:lnTo>
                    <a:lnTo>
                      <a:pt x="0" y="16"/>
                    </a:lnTo>
                    <a:lnTo>
                      <a:pt x="16" y="16"/>
                    </a:lnTo>
                    <a:lnTo>
                      <a:pt x="16" y="16"/>
                    </a:lnTo>
                    <a:lnTo>
                      <a:pt x="16" y="16"/>
                    </a:lnTo>
                    <a:close/>
                  </a:path>
                </a:pathLst>
              </a:cu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7643" name="Rectangle 43"/>
              <p:cNvSpPr>
                <a:spLocks noChangeArrowheads="1"/>
              </p:cNvSpPr>
              <p:nvPr/>
            </p:nvSpPr>
            <p:spPr bwMode="auto">
              <a:xfrm>
                <a:off x="1673" y="2976"/>
                <a:ext cx="292" cy="16"/>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37644" name="Line 44"/>
              <p:cNvSpPr>
                <a:spLocks noChangeShapeType="1"/>
              </p:cNvSpPr>
              <p:nvPr/>
            </p:nvSpPr>
            <p:spPr bwMode="auto">
              <a:xfrm flipV="1">
                <a:off x="1826" y="2829"/>
                <a:ext cx="0" cy="14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537645" name="Line 45"/>
            <p:cNvSpPr>
              <a:spLocks noChangeShapeType="1"/>
            </p:cNvSpPr>
            <p:nvPr/>
          </p:nvSpPr>
          <p:spPr bwMode="auto">
            <a:xfrm>
              <a:off x="1834" y="1770"/>
              <a:ext cx="33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7646" name="Line 46"/>
            <p:cNvSpPr>
              <a:spLocks noChangeShapeType="1"/>
            </p:cNvSpPr>
            <p:nvPr/>
          </p:nvSpPr>
          <p:spPr bwMode="auto">
            <a:xfrm flipH="1">
              <a:off x="651" y="1839"/>
              <a:ext cx="799"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7647" name="Oval 47"/>
            <p:cNvSpPr>
              <a:spLocks noChangeAspect="1" noChangeArrowheads="1"/>
            </p:cNvSpPr>
            <p:nvPr/>
          </p:nvSpPr>
          <p:spPr bwMode="auto">
            <a:xfrm>
              <a:off x="2113" y="1742"/>
              <a:ext cx="58" cy="5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7648" name="Oval 48"/>
            <p:cNvSpPr>
              <a:spLocks noChangeAspect="1" noChangeArrowheads="1"/>
            </p:cNvSpPr>
            <p:nvPr/>
          </p:nvSpPr>
          <p:spPr bwMode="auto">
            <a:xfrm>
              <a:off x="614" y="1811"/>
              <a:ext cx="58" cy="58"/>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37649" name="Rectangle 49"/>
            <p:cNvSpPr>
              <a:spLocks noChangeArrowheads="1"/>
            </p:cNvSpPr>
            <p:nvPr/>
          </p:nvSpPr>
          <p:spPr bwMode="auto">
            <a:xfrm>
              <a:off x="2227" y="1664"/>
              <a:ext cx="16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zh-CN" sz="2000">
                  <a:solidFill>
                    <a:srgbClr val="000000"/>
                  </a:solidFill>
                  <a:latin typeface="Times" panose="02020603050405020304" pitchFamily="18" charset="0"/>
                  <a:ea typeface="宋体" panose="02010600030101010101" pitchFamily="2" charset="-122"/>
                </a:rPr>
                <a:t>V</a:t>
              </a:r>
              <a:r>
                <a:rPr lang="en-US" altLang="zh-CN" sz="2000" baseline="-25000">
                  <a:solidFill>
                    <a:srgbClr val="000000"/>
                  </a:solidFill>
                  <a:latin typeface="Times" panose="02020603050405020304" pitchFamily="18" charset="0"/>
                  <a:ea typeface="宋体" panose="02010600030101010101" pitchFamily="2" charset="-122"/>
                </a:rPr>
                <a:t>0</a:t>
              </a:r>
              <a:endParaRPr lang="en-US" altLang="zh-CN" sz="2000">
                <a:latin typeface="Arial" panose="020B0604020202020204" pitchFamily="34" charset="0"/>
                <a:ea typeface="宋体" panose="02010600030101010101" pitchFamily="2" charset="-122"/>
              </a:endParaRPr>
            </a:p>
          </p:txBody>
        </p:sp>
        <p:sp>
          <p:nvSpPr>
            <p:cNvPr id="537650" name="Rectangle 50"/>
            <p:cNvSpPr>
              <a:spLocks noChangeArrowheads="1"/>
            </p:cNvSpPr>
            <p:nvPr/>
          </p:nvSpPr>
          <p:spPr bwMode="auto">
            <a:xfrm>
              <a:off x="336" y="1761"/>
              <a:ext cx="22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zh-CN" sz="2000">
                  <a:solidFill>
                    <a:srgbClr val="000000"/>
                  </a:solidFill>
                  <a:latin typeface="Times" panose="02020603050405020304" pitchFamily="18" charset="0"/>
                  <a:ea typeface="宋体" panose="02010600030101010101" pitchFamily="2" charset="-122"/>
                </a:rPr>
                <a:t>V</a:t>
              </a:r>
              <a:r>
                <a:rPr lang="en-US" altLang="zh-CN" sz="2000" baseline="-25000">
                  <a:solidFill>
                    <a:srgbClr val="000000"/>
                  </a:solidFill>
                  <a:latin typeface="Times" panose="02020603050405020304" pitchFamily="18" charset="0"/>
                  <a:ea typeface="宋体" panose="02010600030101010101" pitchFamily="2" charset="-122"/>
                </a:rPr>
                <a:t>IN</a:t>
              </a:r>
              <a:endParaRPr lang="en-US" altLang="zh-CN" sz="2000">
                <a:latin typeface="Arial" panose="020B0604020202020204" pitchFamily="34" charset="0"/>
                <a:ea typeface="宋体" panose="02010600030101010101" pitchFamily="2" charset="-122"/>
              </a:endParaRPr>
            </a:p>
          </p:txBody>
        </p:sp>
      </p:grpSp>
      <mc:AlternateContent xmlns:mc="http://schemas.openxmlformats.org/markup-compatibility/2006" xmlns:a14="http://schemas.microsoft.com/office/drawing/2010/main">
        <mc:Choice Requires="a14">
          <p:sp>
            <p:nvSpPr>
              <p:cNvPr id="537652" name="Text Box 52"/>
              <p:cNvSpPr txBox="1">
                <a:spLocks noChangeArrowheads="1"/>
              </p:cNvSpPr>
              <p:nvPr/>
            </p:nvSpPr>
            <p:spPr bwMode="auto">
              <a:xfrm>
                <a:off x="533400" y="3471379"/>
                <a:ext cx="8223250" cy="70788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nchor="ctr">
                <a:spAutoFit/>
              </a:bodyPr>
              <a:lstStyle>
                <a:lvl1pPr>
                  <a:defRPr sz="2400">
                    <a:solidFill>
                      <a:schemeClr val="tx1"/>
                    </a:solidFill>
                    <a:latin typeface="Times New Roman" panose="02020603050405020304" pitchFamily="18" charset="0"/>
                  </a:defRPr>
                </a:lvl1pPr>
                <a:lvl2pPr marL="738188" indent="-280988">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eaLnBrk="0" fontAlgn="base" hangingPunct="0">
                  <a:spcBef>
                    <a:spcPct val="0"/>
                  </a:spcBef>
                  <a:spcAft>
                    <a:spcPct val="0"/>
                  </a:spcAft>
                  <a:defRPr sz="2400">
                    <a:solidFill>
                      <a:schemeClr val="tx1"/>
                    </a:solidFill>
                    <a:latin typeface="Times New Roman" panose="02020603050405020304" pitchFamily="18" charset="0"/>
                  </a:defRPr>
                </a:lvl6pPr>
                <a:lvl7pPr eaLnBrk="0" fontAlgn="base" hangingPunct="0">
                  <a:spcBef>
                    <a:spcPct val="0"/>
                  </a:spcBef>
                  <a:spcAft>
                    <a:spcPct val="0"/>
                  </a:spcAft>
                  <a:defRPr sz="2400">
                    <a:solidFill>
                      <a:schemeClr val="tx1"/>
                    </a:solidFill>
                    <a:latin typeface="Times New Roman" panose="02020603050405020304" pitchFamily="18" charset="0"/>
                  </a:defRPr>
                </a:lvl7pPr>
                <a:lvl8pPr eaLnBrk="0" fontAlgn="base" hangingPunct="0">
                  <a:spcBef>
                    <a:spcPct val="0"/>
                  </a:spcBef>
                  <a:spcAft>
                    <a:spcPct val="0"/>
                  </a:spcAft>
                  <a:defRPr sz="2400">
                    <a:solidFill>
                      <a:schemeClr val="tx1"/>
                    </a:solidFill>
                    <a:latin typeface="Times New Roman" panose="02020603050405020304" pitchFamily="18" charset="0"/>
                  </a:defRPr>
                </a:lvl8pPr>
                <a:lvl9pPr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spcAft>
                    <a:spcPct val="25000"/>
                  </a:spcAft>
                </a:pPr>
                <a:r>
                  <a:rPr lang="en-US" altLang="zh-CN" sz="2000" dirty="0">
                    <a:latin typeface="Arial" panose="020B0604020202020204" pitchFamily="34" charset="0"/>
                    <a:ea typeface="宋体" panose="02010600030101010101" pitchFamily="2" charset="-122"/>
                  </a:rPr>
                  <a:t>Property 2:  Input resistance is infinite </a:t>
                </a:r>
                <a14:m>
                  <m:oMath xmlns:m="http://schemas.openxmlformats.org/officeDocument/2006/math">
                    <m:r>
                      <a:rPr lang="zh-CN" altLang="en-US" sz="2000" i="1" dirty="0">
                        <a:latin typeface="Cambria Math" panose="02040503050406030204" pitchFamily="18" charset="0"/>
                      </a:rPr>
                      <m:t>⟹</m:t>
                    </m:r>
                  </m:oMath>
                </a14:m>
                <a:r>
                  <a:rPr lang="en-US" altLang="zh-CN" sz="2000" dirty="0">
                    <a:latin typeface="Arial" panose="020B0604020202020204" pitchFamily="34" charset="0"/>
                    <a:ea typeface="宋体" panose="02010600030101010101" pitchFamily="2" charset="-122"/>
                  </a:rPr>
                  <a:t> The </a:t>
                </a:r>
                <a:r>
                  <a:rPr lang="en-US" altLang="zh-CN" sz="2000" dirty="0">
                    <a:solidFill>
                      <a:srgbClr val="FF0000"/>
                    </a:solidFill>
                    <a:latin typeface="Arial" panose="020B0604020202020204" pitchFamily="34" charset="0"/>
                    <a:ea typeface="宋体" panose="02010600030101010101" pitchFamily="2" charset="-122"/>
                  </a:rPr>
                  <a:t>currents</a:t>
                </a:r>
                <a:r>
                  <a:rPr lang="en-US" altLang="zh-CN" sz="2000" dirty="0">
                    <a:latin typeface="Arial" panose="020B0604020202020204" pitchFamily="34" charset="0"/>
                    <a:ea typeface="宋体" panose="02010600030101010101" pitchFamily="2" charset="-122"/>
                  </a:rPr>
                  <a:t> flowing into the op-amp’s two input terminals both equal </a:t>
                </a:r>
                <a:r>
                  <a:rPr lang="en-US" altLang="zh-CN" sz="2000" dirty="0">
                    <a:solidFill>
                      <a:srgbClr val="FF0000"/>
                    </a:solidFill>
                    <a:latin typeface="Arial" panose="020B0604020202020204" pitchFamily="34" charset="0"/>
                    <a:ea typeface="宋体" panose="02010600030101010101" pitchFamily="2" charset="-122"/>
                  </a:rPr>
                  <a:t>zero</a:t>
                </a:r>
                <a:r>
                  <a:rPr lang="en-US" altLang="zh-CN" sz="2000" dirty="0">
                    <a:latin typeface="Arial" panose="020B0604020202020204" pitchFamily="34" charset="0"/>
                    <a:ea typeface="宋体" panose="02010600030101010101" pitchFamily="2" charset="-122"/>
                  </a:rPr>
                  <a:t>.</a:t>
                </a:r>
                <a:endParaRPr lang="en-US" altLang="zh-CN" dirty="0">
                  <a:ea typeface="宋体" panose="02010600030101010101" pitchFamily="2" charset="-122"/>
                </a:endParaRPr>
              </a:p>
            </p:txBody>
          </p:sp>
        </mc:Choice>
        <mc:Fallback xmlns="">
          <p:sp>
            <p:nvSpPr>
              <p:cNvPr id="537652" name="Text Box 52"/>
              <p:cNvSpPr txBox="1">
                <a:spLocks noRot="1" noChangeAspect="1" noMove="1" noResize="1" noEditPoints="1" noAdjustHandles="1" noChangeArrowheads="1" noChangeShapeType="1" noTextEdit="1"/>
              </p:cNvSpPr>
              <p:nvPr/>
            </p:nvSpPr>
            <p:spPr bwMode="auto">
              <a:xfrm>
                <a:off x="533400" y="3471379"/>
                <a:ext cx="8223250" cy="707886"/>
              </a:xfrm>
              <a:prstGeom prst="rect">
                <a:avLst/>
              </a:prstGeom>
              <a:blipFill>
                <a:blip r:embed="rId4"/>
                <a:stretch>
                  <a:fillRect l="-816" t="-2564" b="-1453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grpSp>
        <p:nvGrpSpPr>
          <p:cNvPr id="537653" name="Group 53"/>
          <p:cNvGrpSpPr>
            <a:grpSpLocks/>
          </p:cNvGrpSpPr>
          <p:nvPr/>
        </p:nvGrpSpPr>
        <p:grpSpPr bwMode="auto">
          <a:xfrm>
            <a:off x="4733926" y="4174021"/>
            <a:ext cx="3355976" cy="1582738"/>
            <a:chOff x="2734" y="2130"/>
            <a:chExt cx="2114" cy="997"/>
          </a:xfrm>
        </p:grpSpPr>
        <p:sp>
          <p:nvSpPr>
            <p:cNvPr id="537654" name="Oval 54"/>
            <p:cNvSpPr>
              <a:spLocks noChangeArrowheads="1"/>
            </p:cNvSpPr>
            <p:nvPr/>
          </p:nvSpPr>
          <p:spPr bwMode="auto">
            <a:xfrm>
              <a:off x="2734" y="2834"/>
              <a:ext cx="183" cy="293"/>
            </a:xfrm>
            <a:prstGeom prst="ellipse">
              <a:avLst/>
            </a:prstGeom>
            <a:noFill/>
            <a:ln w="19050">
              <a:solidFill>
                <a:schemeClr val="accent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37655" name="Text Box 55"/>
            <p:cNvSpPr txBox="1">
              <a:spLocks noChangeArrowheads="1"/>
            </p:cNvSpPr>
            <p:nvPr/>
          </p:nvSpPr>
          <p:spPr bwMode="auto">
            <a:xfrm>
              <a:off x="3134" y="2130"/>
              <a:ext cx="1714"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000" b="1" dirty="0">
                  <a:solidFill>
                    <a:schemeClr val="accent2"/>
                  </a:solidFill>
                  <a:ea typeface="宋体" panose="02010600030101010101" pitchFamily="2" charset="-122"/>
                </a:rPr>
                <a:t>No Potential Difference</a:t>
              </a:r>
            </a:p>
          </p:txBody>
        </p:sp>
        <p:sp>
          <p:nvSpPr>
            <p:cNvPr id="537656" name="Line 56"/>
            <p:cNvSpPr>
              <a:spLocks noChangeShapeType="1"/>
            </p:cNvSpPr>
            <p:nvPr/>
          </p:nvSpPr>
          <p:spPr bwMode="auto">
            <a:xfrm flipH="1">
              <a:off x="2880" y="2359"/>
              <a:ext cx="457" cy="475"/>
            </a:xfrm>
            <a:prstGeom prst="line">
              <a:avLst/>
            </a:prstGeom>
            <a:noFill/>
            <a:ln w="1905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537658" name="Group 58"/>
          <p:cNvGrpSpPr>
            <a:grpSpLocks/>
          </p:cNvGrpSpPr>
          <p:nvPr/>
        </p:nvGrpSpPr>
        <p:grpSpPr bwMode="auto">
          <a:xfrm>
            <a:off x="1139825" y="4407381"/>
            <a:ext cx="3348038" cy="1146175"/>
            <a:chOff x="470" y="2277"/>
            <a:chExt cx="2109" cy="722"/>
          </a:xfrm>
        </p:grpSpPr>
        <p:sp>
          <p:nvSpPr>
            <p:cNvPr id="537659" name="Line 59"/>
            <p:cNvSpPr>
              <a:spLocks noChangeShapeType="1"/>
            </p:cNvSpPr>
            <p:nvPr/>
          </p:nvSpPr>
          <p:spPr bwMode="auto">
            <a:xfrm>
              <a:off x="2405" y="2999"/>
              <a:ext cx="174"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37660" name="Line 60"/>
            <p:cNvSpPr>
              <a:spLocks noChangeShapeType="1"/>
            </p:cNvSpPr>
            <p:nvPr/>
          </p:nvSpPr>
          <p:spPr bwMode="auto">
            <a:xfrm>
              <a:off x="2507" y="2657"/>
              <a:ext cx="0" cy="174"/>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37661" name="Text Box 61"/>
            <p:cNvSpPr txBox="1">
              <a:spLocks noChangeArrowheads="1"/>
            </p:cNvSpPr>
            <p:nvPr/>
          </p:nvSpPr>
          <p:spPr bwMode="auto">
            <a:xfrm>
              <a:off x="470" y="2277"/>
              <a:ext cx="974"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altLang="zh-CN" sz="2000" b="1">
                  <a:solidFill>
                    <a:srgbClr val="FF0000"/>
                  </a:solidFill>
                  <a:ea typeface="宋体" panose="02010600030101010101" pitchFamily="2" charset="-122"/>
                </a:rPr>
                <a:t>No Currents</a:t>
              </a:r>
            </a:p>
          </p:txBody>
        </p:sp>
        <p:sp>
          <p:nvSpPr>
            <p:cNvPr id="537662" name="Line 62"/>
            <p:cNvSpPr>
              <a:spLocks noChangeShapeType="1"/>
            </p:cNvSpPr>
            <p:nvPr/>
          </p:nvSpPr>
          <p:spPr bwMode="auto">
            <a:xfrm>
              <a:off x="1548" y="2454"/>
              <a:ext cx="912" cy="240"/>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37663" name="Line 63"/>
            <p:cNvSpPr>
              <a:spLocks noChangeShapeType="1"/>
            </p:cNvSpPr>
            <p:nvPr/>
          </p:nvSpPr>
          <p:spPr bwMode="auto">
            <a:xfrm>
              <a:off x="1536" y="2454"/>
              <a:ext cx="834" cy="516"/>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2" name="文本框 1">
            <a:extLst>
              <a:ext uri="{FF2B5EF4-FFF2-40B4-BE49-F238E27FC236}">
                <a16:creationId xmlns:a16="http://schemas.microsoft.com/office/drawing/2014/main" id="{99EF64C4-1FDD-4322-B6C9-5029B6BACE96}"/>
              </a:ext>
            </a:extLst>
          </p:cNvPr>
          <p:cNvSpPr txBox="1"/>
          <p:nvPr/>
        </p:nvSpPr>
        <p:spPr>
          <a:xfrm>
            <a:off x="210127" y="1820350"/>
            <a:ext cx="4742004" cy="400110"/>
          </a:xfrm>
          <a:prstGeom prst="rect">
            <a:avLst/>
          </a:prstGeom>
          <a:noFill/>
        </p:spPr>
        <p:txBody>
          <a:bodyPr wrap="none" rtlCol="0">
            <a:spAutoFit/>
          </a:bodyPr>
          <a:lstStyle/>
          <a:p>
            <a:r>
              <a:rPr lang="en-US" altLang="zh-CN" b="1" dirty="0"/>
              <a:t>When there exists negative feedback,</a:t>
            </a:r>
            <a:endParaRPr lang="zh-CN" altLang="en-US" b="1" dirty="0"/>
          </a:p>
        </p:txBody>
      </p:sp>
      <p:sp>
        <p:nvSpPr>
          <p:cNvPr id="3" name="文本框 2">
            <a:extLst>
              <a:ext uri="{FF2B5EF4-FFF2-40B4-BE49-F238E27FC236}">
                <a16:creationId xmlns:a16="http://schemas.microsoft.com/office/drawing/2014/main" id="{85DC7981-BA7C-45C2-8B22-F69BD5145243}"/>
              </a:ext>
            </a:extLst>
          </p:cNvPr>
          <p:cNvSpPr txBox="1"/>
          <p:nvPr/>
        </p:nvSpPr>
        <p:spPr>
          <a:xfrm>
            <a:off x="574674" y="6064730"/>
            <a:ext cx="8199437" cy="707886"/>
          </a:xfrm>
          <a:prstGeom prst="rect">
            <a:avLst/>
          </a:prstGeom>
          <a:noFill/>
        </p:spPr>
        <p:txBody>
          <a:bodyPr wrap="square" rtlCol="0">
            <a:spAutoFit/>
          </a:bodyPr>
          <a:lstStyle/>
          <a:p>
            <a:r>
              <a:rPr lang="en-US" altLang="zh-CN" dirty="0"/>
              <a:t>Property 1 reduces the number of unknown voltages by 1 which compensates the lack of KCL equation at the output node.</a:t>
            </a:r>
            <a:endParaRPr lang="zh-CN" altLang="en-US" dirty="0"/>
          </a:p>
        </p:txBody>
      </p:sp>
    </p:spTree>
    <p:extLst>
      <p:ext uri="{BB962C8B-B14F-4D97-AF65-F5344CB8AC3E}">
        <p14:creationId xmlns:p14="http://schemas.microsoft.com/office/powerpoint/2010/main" val="42493527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Title 1"/>
          <p:cNvSpPr>
            <a:spLocks noGrp="1"/>
          </p:cNvSpPr>
          <p:nvPr>
            <p:ph type="title"/>
          </p:nvPr>
        </p:nvSpPr>
        <p:spPr/>
        <p:txBody>
          <a:bodyPr/>
          <a:lstStyle/>
          <a:p>
            <a:r>
              <a:rPr lang="en-US" altLang="zh-CN" dirty="0">
                <a:ea typeface="宋体" panose="02010600030101010101" pitchFamily="2" charset="-122"/>
              </a:rPr>
              <a:t>Difference Amplifier</a:t>
            </a:r>
          </a:p>
        </p:txBody>
      </p:sp>
      <p:pic>
        <p:nvPicPr>
          <p:cNvPr id="8198" name="Picture 5" descr="C:\Users\Joel\Documents\Teaching\McGraw Hill\Fundamentals of Electric Circuits 5e\figures\Ch05\Color Labeled\ale80571_05_024.jpg"/>
          <p:cNvPicPr>
            <a:picLocks noChangeAspect="1" noChangeArrowheads="1"/>
          </p:cNvPicPr>
          <p:nvPr/>
        </p:nvPicPr>
        <p:blipFill rotWithShape="1">
          <a:blip r:embed="rId3">
            <a:extLst>
              <a:ext uri="{28A0092B-C50C-407E-A947-70E740481C1C}">
                <a14:useLocalDpi xmlns:a14="http://schemas.microsoft.com/office/drawing/2010/main" val="0"/>
              </a:ext>
            </a:extLst>
          </a:blip>
          <a:srcRect t="3448"/>
          <a:stretch/>
        </p:blipFill>
        <p:spPr bwMode="auto">
          <a:xfrm>
            <a:off x="457200" y="1524000"/>
            <a:ext cx="7735979" cy="4267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Title 1"/>
          <p:cNvSpPr>
            <a:spLocks noGrp="1"/>
          </p:cNvSpPr>
          <p:nvPr>
            <p:ph type="title"/>
          </p:nvPr>
        </p:nvSpPr>
        <p:spPr/>
        <p:txBody>
          <a:bodyPr/>
          <a:lstStyle/>
          <a:p>
            <a:r>
              <a:rPr lang="en-US" altLang="zh-CN" dirty="0">
                <a:ea typeface="宋体" panose="02010600030101010101" pitchFamily="2" charset="-122"/>
              </a:rPr>
              <a:t>Difference Amplifier (solution)</a:t>
            </a:r>
          </a:p>
        </p:txBody>
      </p:sp>
      <p:grpSp>
        <p:nvGrpSpPr>
          <p:cNvPr id="2" name="组合 1">
            <a:extLst>
              <a:ext uri="{FF2B5EF4-FFF2-40B4-BE49-F238E27FC236}">
                <a16:creationId xmlns:a16="http://schemas.microsoft.com/office/drawing/2014/main" id="{8EB640E3-C79A-463D-83AA-DB97A616DEFD}"/>
              </a:ext>
            </a:extLst>
          </p:cNvPr>
          <p:cNvGrpSpPr/>
          <p:nvPr/>
        </p:nvGrpSpPr>
        <p:grpSpPr>
          <a:xfrm>
            <a:off x="120382" y="1371600"/>
            <a:ext cx="8903235" cy="4343400"/>
            <a:chOff x="3516085" y="2123849"/>
            <a:chExt cx="8903235" cy="4343400"/>
          </a:xfrm>
        </p:grpSpPr>
        <p:pic>
          <p:nvPicPr>
            <p:cNvPr id="5" name="图片 4">
              <a:extLst>
                <a:ext uri="{FF2B5EF4-FFF2-40B4-BE49-F238E27FC236}">
                  <a16:creationId xmlns:a16="http://schemas.microsoft.com/office/drawing/2014/main" id="{C83C347A-1F37-411F-8624-E503BC39393D}"/>
                </a:ext>
              </a:extLst>
            </p:cNvPr>
            <p:cNvPicPr>
              <a:picLocks noChangeAspect="1"/>
            </p:cNvPicPr>
            <p:nvPr/>
          </p:nvPicPr>
          <p:blipFill rotWithShape="1">
            <a:blip r:embed="rId3"/>
            <a:srcRect l="6478" t="15935" r="29524" b="55084"/>
            <a:stretch/>
          </p:blipFill>
          <p:spPr>
            <a:xfrm>
              <a:off x="3516085" y="2123849"/>
              <a:ext cx="3763603" cy="2286000"/>
            </a:xfrm>
            <a:prstGeom prst="rect">
              <a:avLst/>
            </a:prstGeom>
          </p:spPr>
        </p:pic>
        <p:pic>
          <p:nvPicPr>
            <p:cNvPr id="6" name="图片 5">
              <a:extLst>
                <a:ext uri="{FF2B5EF4-FFF2-40B4-BE49-F238E27FC236}">
                  <a16:creationId xmlns:a16="http://schemas.microsoft.com/office/drawing/2014/main" id="{D9AEE0D2-9A01-42A8-9C3E-F17EC5FA74B8}"/>
                </a:ext>
              </a:extLst>
            </p:cNvPr>
            <p:cNvPicPr>
              <a:picLocks noChangeAspect="1"/>
            </p:cNvPicPr>
            <p:nvPr/>
          </p:nvPicPr>
          <p:blipFill rotWithShape="1">
            <a:blip r:embed="rId3"/>
            <a:srcRect l="7096" t="44614" r="6194" b="1437"/>
            <a:stretch/>
          </p:blipFill>
          <p:spPr>
            <a:xfrm>
              <a:off x="7522027" y="2276249"/>
              <a:ext cx="4897293" cy="4191000"/>
            </a:xfrm>
            <a:prstGeom prst="rect">
              <a:avLst/>
            </a:prstGeom>
          </p:spPr>
        </p:pic>
      </p:gr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3B593F1F-4821-4CC2-9517-741A7CD9F0F1}"/>
                  </a:ext>
                </a:extLst>
              </p:cNvPr>
              <p:cNvSpPr txBox="1"/>
              <p:nvPr/>
            </p:nvSpPr>
            <p:spPr>
              <a:xfrm>
                <a:off x="1143001" y="5867400"/>
                <a:ext cx="7086600" cy="707886"/>
              </a:xfrm>
              <a:prstGeom prst="rect">
                <a:avLst/>
              </a:prstGeom>
              <a:noFill/>
            </p:spPr>
            <p:txBody>
              <a:bodyPr wrap="square" rtlCol="0">
                <a:spAutoFit/>
              </a:bodyPr>
              <a:lstStyle/>
              <a:p>
                <a:r>
                  <a:rPr lang="en-US" altLang="zh-CN" dirty="0"/>
                  <a:t>Note: current from voltage source 1 is affected by </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2</m:t>
                        </m:r>
                      </m:sub>
                    </m:sSub>
                  </m:oMath>
                </a14:m>
                <a:r>
                  <a:rPr lang="en-US" altLang="zh-CN" dirty="0"/>
                  <a:t>, but not the other way around. </a:t>
                </a:r>
                <a:endParaRPr lang="zh-CN" altLang="en-US" dirty="0"/>
              </a:p>
            </p:txBody>
          </p:sp>
        </mc:Choice>
        <mc:Fallback xmlns="">
          <p:sp>
            <p:nvSpPr>
              <p:cNvPr id="3" name="文本框 2">
                <a:extLst>
                  <a:ext uri="{FF2B5EF4-FFF2-40B4-BE49-F238E27FC236}">
                    <a16:creationId xmlns:a16="http://schemas.microsoft.com/office/drawing/2014/main" id="{3B593F1F-4821-4CC2-9517-741A7CD9F0F1}"/>
                  </a:ext>
                </a:extLst>
              </p:cNvPr>
              <p:cNvSpPr txBox="1">
                <a:spLocks noRot="1" noChangeAspect="1" noMove="1" noResize="1" noEditPoints="1" noAdjustHandles="1" noChangeArrowheads="1" noChangeShapeType="1" noTextEdit="1"/>
              </p:cNvSpPr>
              <p:nvPr/>
            </p:nvSpPr>
            <p:spPr>
              <a:xfrm>
                <a:off x="1143001" y="5867400"/>
                <a:ext cx="7086600" cy="707886"/>
              </a:xfrm>
              <a:prstGeom prst="rect">
                <a:avLst/>
              </a:prstGeom>
              <a:blipFill>
                <a:blip r:embed="rId4"/>
                <a:stretch>
                  <a:fillRect l="-947" t="-4310" r="-86" b="-1465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512556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Differentiator</a:t>
            </a:r>
            <a:endParaRPr lang="zh-CN" altLang="en-US" dirty="0"/>
          </a:p>
        </p:txBody>
      </p:sp>
      <p:sp>
        <p:nvSpPr>
          <p:cNvPr id="4" name="灯片编号占位符 3"/>
          <p:cNvSpPr>
            <a:spLocks noGrp="1"/>
          </p:cNvSpPr>
          <p:nvPr>
            <p:ph type="sldNum" sz="quarter" idx="10"/>
          </p:nvPr>
        </p:nvSpPr>
        <p:spPr/>
        <p:txBody>
          <a:bodyPr/>
          <a:lstStyle/>
          <a:p>
            <a:fld id="{DA7C8835-9246-4482-BF70-B687F1FE33AA}" type="slidenum">
              <a:rPr lang="en-US" altLang="en-US" smtClean="0"/>
              <a:pPr/>
              <a:t>29</a:t>
            </a:fld>
            <a:endParaRPr lang="en-US" altLang="en-US"/>
          </a:p>
        </p:txBody>
      </p:sp>
      <p:pic>
        <p:nvPicPr>
          <p:cNvPr id="13" name="图片 12">
            <a:extLst>
              <a:ext uri="{FF2B5EF4-FFF2-40B4-BE49-F238E27FC236}">
                <a16:creationId xmlns:a16="http://schemas.microsoft.com/office/drawing/2014/main" id="{07955F2D-0FB1-41F2-8E0F-B4224BF9F6C4}"/>
              </a:ext>
            </a:extLst>
          </p:cNvPr>
          <p:cNvPicPr>
            <a:picLocks noChangeAspect="1"/>
          </p:cNvPicPr>
          <p:nvPr/>
        </p:nvPicPr>
        <p:blipFill>
          <a:blip r:embed="rId2"/>
          <a:stretch>
            <a:fillRect/>
          </a:stretch>
        </p:blipFill>
        <p:spPr>
          <a:xfrm>
            <a:off x="561415" y="2209800"/>
            <a:ext cx="4010585" cy="2924583"/>
          </a:xfrm>
          <a:prstGeom prst="rect">
            <a:avLst/>
          </a:prstGeom>
        </p:spPr>
      </p:pic>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0F69860C-08BD-49F9-A66C-A8CAD25301EA}"/>
                  </a:ext>
                </a:extLst>
              </p:cNvPr>
              <p:cNvSpPr txBox="1"/>
              <p:nvPr/>
            </p:nvSpPr>
            <p:spPr>
              <a:xfrm>
                <a:off x="561415" y="3672091"/>
                <a:ext cx="290272"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𝑖</m:t>
                          </m:r>
                        </m:sub>
                      </m:sSub>
                    </m:oMath>
                  </m:oMathPara>
                </a14:m>
                <a:endParaRPr lang="zh-CN" altLang="en-US" dirty="0"/>
              </a:p>
            </p:txBody>
          </p:sp>
        </mc:Choice>
        <mc:Fallback xmlns="">
          <p:sp>
            <p:nvSpPr>
              <p:cNvPr id="14" name="文本框 13">
                <a:extLst>
                  <a:ext uri="{FF2B5EF4-FFF2-40B4-BE49-F238E27FC236}">
                    <a16:creationId xmlns:a16="http://schemas.microsoft.com/office/drawing/2014/main" id="{0F69860C-08BD-49F9-A66C-A8CAD25301EA}"/>
                  </a:ext>
                </a:extLst>
              </p:cNvPr>
              <p:cNvSpPr txBox="1">
                <a:spLocks noRot="1" noChangeAspect="1" noMove="1" noResize="1" noEditPoints="1" noAdjustHandles="1" noChangeArrowheads="1" noChangeShapeType="1" noTextEdit="1"/>
              </p:cNvSpPr>
              <p:nvPr/>
            </p:nvSpPr>
            <p:spPr>
              <a:xfrm>
                <a:off x="561415" y="3672091"/>
                <a:ext cx="290272" cy="307777"/>
              </a:xfrm>
              <a:prstGeom prst="rect">
                <a:avLst/>
              </a:prstGeom>
              <a:blipFill>
                <a:blip r:embed="rId3"/>
                <a:stretch>
                  <a:fillRect l="-8333" r="-6250" b="-196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9733E389-9BAD-415C-A323-FADF228A2529}"/>
                  </a:ext>
                </a:extLst>
              </p:cNvPr>
              <p:cNvSpPr txBox="1"/>
              <p:nvPr/>
            </p:nvSpPr>
            <p:spPr>
              <a:xfrm>
                <a:off x="5348376" y="3327673"/>
                <a:ext cx="2597699" cy="58233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𝑅</m:t>
                          </m:r>
                        </m:e>
                        <m:sub>
                          <m:r>
                            <a:rPr lang="en-US" altLang="zh-CN" b="0" i="1" smtClean="0">
                              <a:latin typeface="Cambria Math" panose="02040503050406030204" pitchFamily="18" charset="0"/>
                            </a:rPr>
                            <m:t>𝑓</m:t>
                          </m:r>
                        </m:sub>
                      </m:sSub>
                      <m:r>
                        <a:rPr lang="en-US" altLang="zh-CN" b="0" i="1" smtClean="0">
                          <a:latin typeface="Cambria Math" panose="02040503050406030204" pitchFamily="18" charset="0"/>
                        </a:rPr>
                        <m:t>𝑖</m:t>
                      </m:r>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𝑓</m:t>
                          </m:r>
                        </m:sub>
                      </m:sSub>
                      <m:r>
                        <a:rPr lang="en-US" altLang="zh-CN" b="0" i="1" smtClean="0">
                          <a:latin typeface="Cambria Math" panose="02040503050406030204" pitchFamily="18" charset="0"/>
                        </a:rPr>
                        <m:t>𝐶</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𝑑</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𝑖</m:t>
                              </m:r>
                            </m:sub>
                          </m:sSub>
                        </m:num>
                        <m:den>
                          <m:r>
                            <a:rPr lang="en-US" altLang="zh-CN" b="0" i="1" smtClean="0">
                              <a:latin typeface="Cambria Math" panose="02040503050406030204" pitchFamily="18" charset="0"/>
                            </a:rPr>
                            <m:t>𝑑𝑡</m:t>
                          </m:r>
                        </m:den>
                      </m:f>
                    </m:oMath>
                  </m:oMathPara>
                </a14:m>
                <a:endParaRPr lang="zh-CN" altLang="en-US" dirty="0"/>
              </a:p>
            </p:txBody>
          </p:sp>
        </mc:Choice>
        <mc:Fallback xmlns="">
          <p:sp>
            <p:nvSpPr>
              <p:cNvPr id="16" name="文本框 15">
                <a:extLst>
                  <a:ext uri="{FF2B5EF4-FFF2-40B4-BE49-F238E27FC236}">
                    <a16:creationId xmlns:a16="http://schemas.microsoft.com/office/drawing/2014/main" id="{9733E389-9BAD-415C-A323-FADF228A2529}"/>
                  </a:ext>
                </a:extLst>
              </p:cNvPr>
              <p:cNvSpPr txBox="1">
                <a:spLocks noRot="1" noChangeAspect="1" noMove="1" noResize="1" noEditPoints="1" noAdjustHandles="1" noChangeArrowheads="1" noChangeShapeType="1" noTextEdit="1"/>
              </p:cNvSpPr>
              <p:nvPr/>
            </p:nvSpPr>
            <p:spPr>
              <a:xfrm>
                <a:off x="5348376" y="3327673"/>
                <a:ext cx="2597699" cy="582339"/>
              </a:xfrm>
              <a:prstGeom prst="rect">
                <a:avLst/>
              </a:prstGeom>
              <a:blipFill>
                <a:blip r:embed="rId4"/>
                <a:stretch>
                  <a:fillRect b="-1053"/>
                </a:stretch>
              </a:blipFill>
            </p:spPr>
            <p:txBody>
              <a:bodyPr/>
              <a:lstStyle/>
              <a:p>
                <a:r>
                  <a:rPr lang="zh-CN" altLang="en-US">
                    <a:noFill/>
                  </a:rPr>
                  <a:t> </a:t>
                </a:r>
              </a:p>
            </p:txBody>
          </p:sp>
        </mc:Fallback>
      </mc:AlternateContent>
      <p:pic>
        <p:nvPicPr>
          <p:cNvPr id="17" name="图片 16">
            <a:extLst>
              <a:ext uri="{FF2B5EF4-FFF2-40B4-BE49-F238E27FC236}">
                <a16:creationId xmlns:a16="http://schemas.microsoft.com/office/drawing/2014/main" id="{C748B39E-C2BD-405B-80B5-519D5786564C}"/>
              </a:ext>
            </a:extLst>
          </p:cNvPr>
          <p:cNvPicPr>
            <a:picLocks noChangeAspect="1"/>
          </p:cNvPicPr>
          <p:nvPr/>
        </p:nvPicPr>
        <p:blipFill>
          <a:blip r:embed="rId5"/>
          <a:stretch>
            <a:fillRect/>
          </a:stretch>
        </p:blipFill>
        <p:spPr>
          <a:xfrm>
            <a:off x="2674424" y="2757692"/>
            <a:ext cx="655982" cy="152400"/>
          </a:xfrm>
          <a:prstGeom prst="rect">
            <a:avLst/>
          </a:prstGeom>
        </p:spPr>
      </p:pic>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A29DD999-06D2-4EE8-B876-37CEDD1BB4B0}"/>
                  </a:ext>
                </a:extLst>
              </p:cNvPr>
              <p:cNvSpPr txBox="1"/>
              <p:nvPr/>
            </p:nvSpPr>
            <p:spPr>
              <a:xfrm>
                <a:off x="2841986" y="2818116"/>
                <a:ext cx="160429"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𝑖</m:t>
                      </m:r>
                    </m:oMath>
                  </m:oMathPara>
                </a14:m>
                <a:endParaRPr lang="zh-CN" altLang="en-US" dirty="0"/>
              </a:p>
            </p:txBody>
          </p:sp>
        </mc:Choice>
        <mc:Fallback xmlns="">
          <p:sp>
            <p:nvSpPr>
              <p:cNvPr id="19" name="文本框 18">
                <a:extLst>
                  <a:ext uri="{FF2B5EF4-FFF2-40B4-BE49-F238E27FC236}">
                    <a16:creationId xmlns:a16="http://schemas.microsoft.com/office/drawing/2014/main" id="{A29DD999-06D2-4EE8-B876-37CEDD1BB4B0}"/>
                  </a:ext>
                </a:extLst>
              </p:cNvPr>
              <p:cNvSpPr txBox="1">
                <a:spLocks noRot="1" noChangeAspect="1" noMove="1" noResize="1" noEditPoints="1" noAdjustHandles="1" noChangeArrowheads="1" noChangeShapeType="1" noTextEdit="1"/>
              </p:cNvSpPr>
              <p:nvPr/>
            </p:nvSpPr>
            <p:spPr>
              <a:xfrm>
                <a:off x="2841986" y="2818116"/>
                <a:ext cx="160429" cy="307777"/>
              </a:xfrm>
              <a:prstGeom prst="rect">
                <a:avLst/>
              </a:prstGeom>
              <a:blipFill>
                <a:blip r:embed="rId6"/>
                <a:stretch>
                  <a:fillRect l="-29630" r="-25926" b="-9804"/>
                </a:stretch>
              </a:blipFill>
            </p:spPr>
            <p:txBody>
              <a:bodyPr/>
              <a:lstStyle/>
              <a:p>
                <a:r>
                  <a:rPr lang="zh-CN" altLang="en-US">
                    <a:noFill/>
                  </a:rPr>
                  <a:t> </a:t>
                </a:r>
              </a:p>
            </p:txBody>
          </p:sp>
        </mc:Fallback>
      </mc:AlternateContent>
      <p:pic>
        <p:nvPicPr>
          <p:cNvPr id="20" name="图片 19">
            <a:extLst>
              <a:ext uri="{FF2B5EF4-FFF2-40B4-BE49-F238E27FC236}">
                <a16:creationId xmlns:a16="http://schemas.microsoft.com/office/drawing/2014/main" id="{5BD32899-2059-459F-BA4A-AC7BC2F5BEE9}"/>
              </a:ext>
            </a:extLst>
          </p:cNvPr>
          <p:cNvPicPr>
            <a:picLocks noChangeAspect="1"/>
          </p:cNvPicPr>
          <p:nvPr/>
        </p:nvPicPr>
        <p:blipFill>
          <a:blip r:embed="rId5"/>
          <a:stretch>
            <a:fillRect/>
          </a:stretch>
        </p:blipFill>
        <p:spPr>
          <a:xfrm>
            <a:off x="1484746" y="3580020"/>
            <a:ext cx="655982" cy="152400"/>
          </a:xfrm>
          <a:prstGeom prst="rect">
            <a:avLst/>
          </a:prstGeom>
        </p:spPr>
      </p:pic>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A0EA7AEE-92D5-4D06-86F3-C2CAB56E5C4E}"/>
                  </a:ext>
                </a:extLst>
              </p:cNvPr>
              <p:cNvSpPr txBox="1"/>
              <p:nvPr/>
            </p:nvSpPr>
            <p:spPr>
              <a:xfrm>
                <a:off x="1652308" y="3640444"/>
                <a:ext cx="160429"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𝑖</m:t>
                      </m:r>
                    </m:oMath>
                  </m:oMathPara>
                </a14:m>
                <a:endParaRPr lang="zh-CN" altLang="en-US" dirty="0"/>
              </a:p>
            </p:txBody>
          </p:sp>
        </mc:Choice>
        <mc:Fallback xmlns="">
          <p:sp>
            <p:nvSpPr>
              <p:cNvPr id="21" name="文本框 20">
                <a:extLst>
                  <a:ext uri="{FF2B5EF4-FFF2-40B4-BE49-F238E27FC236}">
                    <a16:creationId xmlns:a16="http://schemas.microsoft.com/office/drawing/2014/main" id="{A0EA7AEE-92D5-4D06-86F3-C2CAB56E5C4E}"/>
                  </a:ext>
                </a:extLst>
              </p:cNvPr>
              <p:cNvSpPr txBox="1">
                <a:spLocks noRot="1" noChangeAspect="1" noMove="1" noResize="1" noEditPoints="1" noAdjustHandles="1" noChangeArrowheads="1" noChangeShapeType="1" noTextEdit="1"/>
              </p:cNvSpPr>
              <p:nvPr/>
            </p:nvSpPr>
            <p:spPr>
              <a:xfrm>
                <a:off x="1652308" y="3640444"/>
                <a:ext cx="160429" cy="307777"/>
              </a:xfrm>
              <a:prstGeom prst="rect">
                <a:avLst/>
              </a:prstGeom>
              <a:blipFill>
                <a:blip r:embed="rId7"/>
                <a:stretch>
                  <a:fillRect l="-30769" r="-30769" b="-98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矩形 21">
                <a:extLst>
                  <a:ext uri="{FF2B5EF4-FFF2-40B4-BE49-F238E27FC236}">
                    <a16:creationId xmlns:a16="http://schemas.microsoft.com/office/drawing/2014/main" id="{2D27426E-E072-4E77-B1C0-E91328DAEFF8}"/>
                  </a:ext>
                </a:extLst>
              </p:cNvPr>
              <p:cNvSpPr/>
              <p:nvPr/>
            </p:nvSpPr>
            <p:spPr>
              <a:xfrm>
                <a:off x="686648" y="1516899"/>
                <a:ext cx="7770702" cy="400110"/>
              </a:xfrm>
              <a:prstGeom prst="rect">
                <a:avLst/>
              </a:prstGeom>
            </p:spPr>
            <p:txBody>
              <a:bodyPr wrap="square">
                <a:spAutoFit/>
              </a:bodyPr>
              <a:lstStyle/>
              <a:p>
                <a:r>
                  <a:rPr lang="en-US" altLang="zh-CN" dirty="0"/>
                  <a:t>Find the relationship between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𝑜</m:t>
                        </m:r>
                      </m:sub>
                    </m:sSub>
                  </m:oMath>
                </a14:m>
                <a:r>
                  <a:rPr lang="zh-CN" altLang="en-US" dirty="0"/>
                  <a:t> </a:t>
                </a:r>
                <a:r>
                  <a:rPr lang="en-US" altLang="zh-CN" dirty="0"/>
                  <a:t>and </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𝑖</m:t>
                        </m:r>
                      </m:sub>
                    </m:sSub>
                  </m:oMath>
                </a14:m>
                <a:r>
                  <a:rPr lang="zh-CN" altLang="en-US" dirty="0"/>
                  <a:t> </a:t>
                </a:r>
                <a:r>
                  <a:rPr lang="en-US" altLang="zh-CN" dirty="0"/>
                  <a:t>in the circuit shown below</a:t>
                </a:r>
                <a:endParaRPr lang="zh-CN" altLang="en-US" dirty="0"/>
              </a:p>
            </p:txBody>
          </p:sp>
        </mc:Choice>
        <mc:Fallback xmlns="">
          <p:sp>
            <p:nvSpPr>
              <p:cNvPr id="22" name="矩形 21">
                <a:extLst>
                  <a:ext uri="{FF2B5EF4-FFF2-40B4-BE49-F238E27FC236}">
                    <a16:creationId xmlns:a16="http://schemas.microsoft.com/office/drawing/2014/main" id="{2D27426E-E072-4E77-B1C0-E91328DAEFF8}"/>
                  </a:ext>
                </a:extLst>
              </p:cNvPr>
              <p:cNvSpPr>
                <a:spLocks noRot="1" noChangeAspect="1" noMove="1" noResize="1" noEditPoints="1" noAdjustHandles="1" noChangeArrowheads="1" noChangeShapeType="1" noTextEdit="1"/>
              </p:cNvSpPr>
              <p:nvPr/>
            </p:nvSpPr>
            <p:spPr>
              <a:xfrm>
                <a:off x="686648" y="1516899"/>
                <a:ext cx="7770702" cy="400110"/>
              </a:xfrm>
              <a:prstGeom prst="rect">
                <a:avLst/>
              </a:prstGeom>
              <a:blipFill>
                <a:blip r:embed="rId8"/>
                <a:stretch>
                  <a:fillRect l="-863" t="-7692" b="-2923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29832CD3-314D-4A98-A262-91094EDC8995}"/>
                  </a:ext>
                </a:extLst>
              </p:cNvPr>
              <p:cNvSpPr txBox="1"/>
              <p:nvPr/>
            </p:nvSpPr>
            <p:spPr>
              <a:xfrm>
                <a:off x="228600" y="5497084"/>
                <a:ext cx="7467600" cy="732508"/>
              </a:xfrm>
              <a:prstGeom prst="rect">
                <a:avLst/>
              </a:prstGeom>
              <a:noFill/>
            </p:spPr>
            <p:txBody>
              <a:bodyPr wrap="square" rtlCol="0">
                <a:spAutoFit/>
              </a:bodyPr>
              <a:lstStyle/>
              <a:p>
                <a:r>
                  <a:rPr lang="en-US" altLang="zh-CN" dirty="0"/>
                  <a:t>For this equation to be valid, the response time of the op-amp must be much shorter than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𝑓</m:t>
                        </m:r>
                      </m:sub>
                    </m:sSub>
                    <m:r>
                      <a:rPr lang="en-US" altLang="zh-CN" i="1">
                        <a:latin typeface="Cambria Math" panose="02040503050406030204" pitchFamily="18" charset="0"/>
                      </a:rPr>
                      <m:t>𝐶</m:t>
                    </m:r>
                  </m:oMath>
                </a14:m>
                <a:r>
                  <a:rPr lang="en-US" altLang="zh-CN" dirty="0"/>
                  <a:t>. </a:t>
                </a:r>
                <a:endParaRPr lang="zh-CN" altLang="en-US" dirty="0"/>
              </a:p>
            </p:txBody>
          </p:sp>
        </mc:Choice>
        <mc:Fallback xmlns="">
          <p:sp>
            <p:nvSpPr>
              <p:cNvPr id="3" name="文本框 2">
                <a:extLst>
                  <a:ext uri="{FF2B5EF4-FFF2-40B4-BE49-F238E27FC236}">
                    <a16:creationId xmlns:a16="http://schemas.microsoft.com/office/drawing/2014/main" id="{29832CD3-314D-4A98-A262-91094EDC8995}"/>
                  </a:ext>
                </a:extLst>
              </p:cNvPr>
              <p:cNvSpPr txBox="1">
                <a:spLocks noRot="1" noChangeAspect="1" noMove="1" noResize="1" noEditPoints="1" noAdjustHandles="1" noChangeArrowheads="1" noChangeShapeType="1" noTextEdit="1"/>
              </p:cNvSpPr>
              <p:nvPr/>
            </p:nvSpPr>
            <p:spPr>
              <a:xfrm>
                <a:off x="228600" y="5497084"/>
                <a:ext cx="7467600" cy="732508"/>
              </a:xfrm>
              <a:prstGeom prst="rect">
                <a:avLst/>
              </a:prstGeom>
              <a:blipFill>
                <a:blip r:embed="rId9"/>
                <a:stretch>
                  <a:fillRect l="-898" t="-4167" b="-1083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80126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Integrator</a:t>
            </a:r>
            <a:endParaRPr lang="zh-CN" altLang="en-US" dirty="0"/>
          </a:p>
        </p:txBody>
      </p:sp>
      <p:sp>
        <p:nvSpPr>
          <p:cNvPr id="4" name="灯片编号占位符 3"/>
          <p:cNvSpPr>
            <a:spLocks noGrp="1"/>
          </p:cNvSpPr>
          <p:nvPr>
            <p:ph type="sldNum" sz="quarter" idx="10"/>
          </p:nvPr>
        </p:nvSpPr>
        <p:spPr/>
        <p:txBody>
          <a:bodyPr/>
          <a:lstStyle/>
          <a:p>
            <a:fld id="{DA7C8835-9246-4482-BF70-B687F1FE33AA}" type="slidenum">
              <a:rPr lang="en-US" altLang="en-US" smtClean="0"/>
              <a:pPr/>
              <a:t>30</a:t>
            </a:fld>
            <a:endParaRPr lang="en-US" altLang="en-US"/>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9BBD2CD2-5F69-477F-A7BB-D941D7493A79}"/>
                  </a:ext>
                </a:extLst>
              </p:cNvPr>
              <p:cNvSpPr/>
              <p:nvPr/>
            </p:nvSpPr>
            <p:spPr>
              <a:xfrm>
                <a:off x="686649" y="1409700"/>
                <a:ext cx="7770702" cy="707886"/>
              </a:xfrm>
              <a:prstGeom prst="rect">
                <a:avLst/>
              </a:prstGeom>
            </p:spPr>
            <p:txBody>
              <a:bodyPr wrap="square">
                <a:spAutoFit/>
              </a:bodyPr>
              <a:lstStyle/>
              <a:p>
                <a:r>
                  <a:rPr lang="en-US" altLang="zh-CN" dirty="0"/>
                  <a:t>Find the relationship between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𝑜</m:t>
                        </m:r>
                      </m:sub>
                    </m:sSub>
                  </m:oMath>
                </a14:m>
                <a:r>
                  <a:rPr lang="zh-CN" altLang="en-US" dirty="0"/>
                  <a:t> </a:t>
                </a:r>
                <a:r>
                  <a:rPr lang="en-US" altLang="zh-CN" dirty="0"/>
                  <a:t>and </a:t>
                </a:r>
                <a14:m>
                  <m:oMath xmlns:m="http://schemas.openxmlformats.org/officeDocument/2006/math">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𝑖</m:t>
                        </m:r>
                      </m:sub>
                    </m:sSub>
                  </m:oMath>
                </a14:m>
                <a:r>
                  <a:rPr lang="zh-CN" altLang="en-US" dirty="0"/>
                  <a:t> </a:t>
                </a:r>
                <a:r>
                  <a:rPr lang="en-US" altLang="zh-CN" dirty="0"/>
                  <a:t>in the circuit shown below.  What if the capacitor is replaced by a inductor?</a:t>
                </a:r>
                <a:endParaRPr lang="zh-CN" altLang="en-US" dirty="0"/>
              </a:p>
            </p:txBody>
          </p:sp>
        </mc:Choice>
        <mc:Fallback xmlns="">
          <p:sp>
            <p:nvSpPr>
              <p:cNvPr id="6" name="矩形 5">
                <a:extLst>
                  <a:ext uri="{FF2B5EF4-FFF2-40B4-BE49-F238E27FC236}">
                    <a16:creationId xmlns:a16="http://schemas.microsoft.com/office/drawing/2014/main" id="{9BBD2CD2-5F69-477F-A7BB-D941D7493A79}"/>
                  </a:ext>
                </a:extLst>
              </p:cNvPr>
              <p:cNvSpPr>
                <a:spLocks noRot="1" noChangeAspect="1" noMove="1" noResize="1" noEditPoints="1" noAdjustHandles="1" noChangeArrowheads="1" noChangeShapeType="1" noTextEdit="1"/>
              </p:cNvSpPr>
              <p:nvPr/>
            </p:nvSpPr>
            <p:spPr>
              <a:xfrm>
                <a:off x="686649" y="1409700"/>
                <a:ext cx="7770702" cy="707886"/>
              </a:xfrm>
              <a:prstGeom prst="rect">
                <a:avLst/>
              </a:prstGeom>
              <a:blipFill>
                <a:blip r:embed="rId2"/>
                <a:stretch>
                  <a:fillRect l="-863" t="-3448" r="-706" b="-155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D71A70F5-5EAD-4D1E-877F-476D93A27ADA}"/>
                  </a:ext>
                </a:extLst>
              </p:cNvPr>
              <p:cNvSpPr txBox="1"/>
              <p:nvPr/>
            </p:nvSpPr>
            <p:spPr>
              <a:xfrm>
                <a:off x="4568536" y="2569715"/>
                <a:ext cx="4575464" cy="468711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𝑄</m:t>
                          </m:r>
                        </m:num>
                        <m:den>
                          <m:r>
                            <a:rPr lang="en-US" altLang="zh-CN" b="0" i="1" smtClean="0">
                              <a:latin typeface="Cambria Math" panose="02040503050406030204" pitchFamily="18" charset="0"/>
                            </a:rPr>
                            <m:t>𝐶</m:t>
                          </m:r>
                        </m:den>
                      </m:f>
                      <m:r>
                        <a:rPr lang="en-US" altLang="zh-CN" b="0" i="1" smtClean="0">
                          <a:latin typeface="Cambria Math" panose="02040503050406030204" pitchFamily="18" charset="0"/>
                        </a:rPr>
                        <m:t>=</m:t>
                      </m:r>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b="0" i="1" smtClean="0">
                              <a:latin typeface="Cambria Math" panose="02040503050406030204" pitchFamily="18" charset="0"/>
                            </a:rPr>
                            <m:t>1</m:t>
                          </m:r>
                        </m:num>
                        <m:den>
                          <m:r>
                            <a:rPr lang="en-US" altLang="zh-CN" i="1">
                              <a:latin typeface="Cambria Math" panose="02040503050406030204" pitchFamily="18" charset="0"/>
                            </a:rPr>
                            <m:t>𝐶</m:t>
                          </m:r>
                        </m:den>
                      </m:f>
                      <m:nary>
                        <m:naryPr>
                          <m:ctrlPr>
                            <a:rPr lang="en-US" altLang="zh-CN" i="1" smtClean="0">
                              <a:latin typeface="Cambria Math" panose="02040503050406030204" pitchFamily="18" charset="0"/>
                            </a:rPr>
                          </m:ctrlPr>
                        </m:naryPr>
                        <m:sub>
                          <m:r>
                            <m:rPr>
                              <m:brk m:alnAt="23"/>
                            </m:rPr>
                            <a:rPr lang="en-US" altLang="zh-CN" b="0" i="1" smtClean="0">
                              <a:latin typeface="Cambria Math" panose="02040503050406030204" pitchFamily="18" charset="0"/>
                            </a:rPr>
                            <m:t>0</m:t>
                          </m:r>
                        </m:sub>
                        <m:sup>
                          <m:r>
                            <a:rPr lang="en-US" altLang="zh-CN" b="0" i="1" smtClean="0">
                              <a:latin typeface="Cambria Math" panose="02040503050406030204" pitchFamily="18" charset="0"/>
                            </a:rPr>
                            <m:t>𝑡</m:t>
                          </m:r>
                        </m:sup>
                        <m:e>
                          <m:r>
                            <a:rPr lang="en-US" altLang="zh-CN" b="0" i="1" smtClean="0">
                              <a:latin typeface="Cambria Math" panose="02040503050406030204" pitchFamily="18" charset="0"/>
                            </a:rPr>
                            <m:t>𝐼𝑑𝑡</m:t>
                          </m:r>
                        </m:e>
                      </m:nary>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0</m:t>
                          </m:r>
                          <m:r>
                            <a:rPr lang="en-US" altLang="zh-CN" b="0" i="1" smtClean="0">
                              <a:latin typeface="Cambria Math" panose="02040503050406030204" pitchFamily="18" charset="0"/>
                            </a:rPr>
                            <m:t>,</m:t>
                          </m:r>
                          <m:r>
                            <a:rPr lang="en-US" altLang="zh-CN" b="0" i="1" smtClean="0">
                              <a:latin typeface="Cambria Math" panose="02040503050406030204" pitchFamily="18" charset="0"/>
                            </a:rPr>
                            <m:t>𝑖</m:t>
                          </m:r>
                        </m:sub>
                      </m:sSub>
                    </m:oMath>
                  </m:oMathPara>
                </a14:m>
                <a:endParaRPr lang="en-US" altLang="zh-CN"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i="1">
                              <a:latin typeface="Cambria Math" panose="02040503050406030204" pitchFamily="18" charset="0"/>
                            </a:rPr>
                            <m:t>𝐶</m:t>
                          </m:r>
                        </m:den>
                      </m:f>
                      <m:nary>
                        <m:naryPr>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0</m:t>
                          </m:r>
                        </m:sub>
                        <m:sup>
                          <m:r>
                            <a:rPr lang="en-US" altLang="zh-CN" i="1">
                              <a:latin typeface="Cambria Math" panose="02040503050406030204" pitchFamily="18" charset="0"/>
                            </a:rPr>
                            <m:t>𝑡</m:t>
                          </m:r>
                        </m:sup>
                        <m:e>
                          <m:f>
                            <m:fPr>
                              <m:ctrlPr>
                                <a:rPr lang="en-US" altLang="zh-CN" i="1" smtClean="0">
                                  <a:latin typeface="Cambria Math" panose="02040503050406030204" pitchFamily="18" charset="0"/>
                                </a:rPr>
                              </m:ctrlPr>
                            </m:fPr>
                            <m:num>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𝑣</m:t>
                                  </m:r>
                                </m:e>
                                <m:sub>
                                  <m:r>
                                    <a:rPr lang="en-US" altLang="zh-CN" b="0" i="1" smtClean="0">
                                      <a:latin typeface="Cambria Math" panose="02040503050406030204" pitchFamily="18" charset="0"/>
                                    </a:rPr>
                                    <m:t>𝑖</m:t>
                                  </m:r>
                                </m:sub>
                              </m:sSub>
                            </m:num>
                            <m:den>
                              <m:r>
                                <a:rPr lang="en-US" altLang="zh-CN" b="0" i="1" smtClean="0">
                                  <a:latin typeface="Cambria Math" panose="02040503050406030204" pitchFamily="18" charset="0"/>
                                </a:rPr>
                                <m:t>𝑅</m:t>
                              </m:r>
                            </m:den>
                          </m:f>
                          <m:r>
                            <a:rPr lang="en-US" altLang="zh-CN" i="1">
                              <a:latin typeface="Cambria Math" panose="02040503050406030204" pitchFamily="18" charset="0"/>
                            </a:rPr>
                            <m:t>𝑑𝑡</m:t>
                          </m:r>
                        </m:e>
                      </m:nary>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0,</m:t>
                          </m:r>
                          <m:r>
                            <a:rPr lang="en-US" altLang="zh-CN" i="1">
                              <a:latin typeface="Cambria Math" panose="02040503050406030204" pitchFamily="18" charset="0"/>
                            </a:rPr>
                            <m:t>𝑖</m:t>
                          </m:r>
                        </m:sub>
                      </m:sSub>
                    </m:oMath>
                  </m:oMathPara>
                </a14:m>
                <a:endParaRPr lang="en-US" altLang="zh-CN" i="1" dirty="0">
                  <a:latin typeface="Cambria Math" panose="02040503050406030204" pitchFamily="18" charset="0"/>
                </a:endParaRPr>
              </a:p>
              <a:p>
                <a14:m>
                  <m:oMath xmlns:m="http://schemas.openxmlformats.org/officeDocument/2006/math">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1</m:t>
                        </m:r>
                      </m:num>
                      <m:den>
                        <m:r>
                          <a:rPr lang="en-US" altLang="zh-CN" b="0" i="1" smtClean="0">
                            <a:latin typeface="Cambria Math" panose="02040503050406030204" pitchFamily="18" charset="0"/>
                          </a:rPr>
                          <m:t>𝑅</m:t>
                        </m:r>
                        <m:r>
                          <a:rPr lang="en-US" altLang="zh-CN" i="1">
                            <a:latin typeface="Cambria Math" panose="02040503050406030204" pitchFamily="18" charset="0"/>
                          </a:rPr>
                          <m:t>𝐶</m:t>
                        </m:r>
                      </m:den>
                    </m:f>
                    <m:nary>
                      <m:naryPr>
                        <m:ctrlPr>
                          <a:rPr lang="en-US" altLang="zh-CN" i="1">
                            <a:latin typeface="Cambria Math" panose="02040503050406030204" pitchFamily="18" charset="0"/>
                          </a:rPr>
                        </m:ctrlPr>
                      </m:naryPr>
                      <m:sub>
                        <m:r>
                          <m:rPr>
                            <m:brk m:alnAt="23"/>
                          </m:rPr>
                          <a:rPr lang="en-US" altLang="zh-CN" i="1">
                            <a:latin typeface="Cambria Math" panose="02040503050406030204" pitchFamily="18" charset="0"/>
                          </a:rPr>
                          <m:t>0</m:t>
                        </m:r>
                      </m:sub>
                      <m:sup>
                        <m:r>
                          <a:rPr lang="en-US" altLang="zh-CN" i="1">
                            <a:latin typeface="Cambria Math" panose="02040503050406030204" pitchFamily="18" charset="0"/>
                          </a:rPr>
                          <m:t>𝑡</m:t>
                        </m:r>
                      </m:sup>
                      <m:e>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𝑖</m:t>
                            </m:r>
                          </m:sub>
                        </m:sSub>
                        <m:r>
                          <a:rPr lang="en-US" altLang="zh-CN" i="1">
                            <a:latin typeface="Cambria Math" panose="02040503050406030204" pitchFamily="18" charset="0"/>
                          </a:rPr>
                          <m:t>𝑑𝑡</m:t>
                        </m:r>
                      </m:e>
                    </m:nary>
                  </m:oMath>
                </a14:m>
                <a:r>
                  <a:rPr lang="en-US" altLang="zh-CN" dirty="0"/>
                  <a:t>, </a:t>
                </a:r>
                <a14:m>
                  <m:oMath xmlns:m="http://schemas.openxmlformats.org/officeDocument/2006/math">
                    <m:r>
                      <a:rPr lang="en-US" altLang="zh-CN" i="1">
                        <a:latin typeface="Cambria Math" panose="02040503050406030204" pitchFamily="18" charset="0"/>
                      </a:rPr>
                      <m:t> </m:t>
                    </m:r>
                    <m:r>
                      <m:rPr>
                        <m:sty m:val="p"/>
                      </m:rPr>
                      <a:rPr lang="en-US" altLang="zh-CN" i="0">
                        <a:latin typeface="Cambria Math" panose="02040503050406030204" pitchFamily="18" charset="0"/>
                      </a:rPr>
                      <m:t>if</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 </m:t>
                        </m:r>
                        <m:r>
                          <a:rPr lang="en-US" altLang="zh-CN" i="1">
                            <a:latin typeface="Cambria Math" panose="02040503050406030204" pitchFamily="18" charset="0"/>
                          </a:rPr>
                          <m:t>𝑣</m:t>
                        </m:r>
                      </m:e>
                      <m:sub>
                        <m:r>
                          <a:rPr lang="en-US" altLang="zh-CN" i="1">
                            <a:latin typeface="Cambria Math" panose="02040503050406030204" pitchFamily="18" charset="0"/>
                          </a:rPr>
                          <m:t>0,</m:t>
                        </m:r>
                        <m:r>
                          <a:rPr lang="en-US" altLang="zh-CN" i="1">
                            <a:latin typeface="Cambria Math" panose="02040503050406030204" pitchFamily="18" charset="0"/>
                          </a:rPr>
                          <m:t>𝑖</m:t>
                        </m:r>
                      </m:sub>
                    </m:sSub>
                    <m:r>
                      <a:rPr lang="en-US" altLang="zh-CN" i="1">
                        <a:latin typeface="Cambria Math" panose="02040503050406030204" pitchFamily="18" charset="0"/>
                      </a:rPr>
                      <m:t>=0.</m:t>
                    </m:r>
                  </m:oMath>
                </a14:m>
                <a:endParaRPr lang="en-US" altLang="zh-CN" dirty="0"/>
              </a:p>
              <a:p>
                <a:endParaRPr lang="en-US" altLang="zh-CN" dirty="0"/>
              </a:p>
              <a:p>
                <a:r>
                  <a:rPr lang="en-US" altLang="zh-CN" dirty="0"/>
                  <a:t>If C is replaced by an inductor,</a:t>
                </a:r>
              </a:p>
              <a:p>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0</m:t>
                          </m:r>
                        </m:sub>
                      </m:sSub>
                      <m:r>
                        <a:rPr lang="en-US" altLang="zh-CN" i="1">
                          <a:latin typeface="Cambria Math" panose="02040503050406030204" pitchFamily="18" charset="0"/>
                        </a:rPr>
                        <m:t>=−</m:t>
                      </m:r>
                      <m:r>
                        <a:rPr lang="en-US" altLang="zh-CN" i="1">
                          <a:latin typeface="Cambria Math" panose="02040503050406030204" pitchFamily="18" charset="0"/>
                        </a:rPr>
                        <m:t>𝐿</m:t>
                      </m:r>
                      <m:f>
                        <m:fPr>
                          <m:ctrlPr>
                            <a:rPr lang="en-US" altLang="zh-CN" i="1">
                              <a:latin typeface="Cambria Math" panose="02040503050406030204" pitchFamily="18" charset="0"/>
                            </a:rPr>
                          </m:ctrlPr>
                        </m:fPr>
                        <m:num>
                          <m:r>
                            <a:rPr lang="en-US" altLang="zh-CN" i="1">
                              <a:latin typeface="Cambria Math" panose="02040503050406030204" pitchFamily="18" charset="0"/>
                            </a:rPr>
                            <m:t>𝑑𝐼</m:t>
                          </m:r>
                        </m:num>
                        <m:den>
                          <m:r>
                            <a:rPr lang="en-US" altLang="zh-CN" i="1">
                              <a:latin typeface="Cambria Math" panose="02040503050406030204" pitchFamily="18" charset="0"/>
                            </a:rPr>
                            <m:t>𝑑𝑡</m:t>
                          </m:r>
                        </m:den>
                      </m:f>
                      <m:r>
                        <a:rPr lang="en-US" altLang="zh-CN" i="1">
                          <a:latin typeface="Cambria Math" panose="02040503050406030204" pitchFamily="18" charset="0"/>
                        </a:rPr>
                        <m:t>=−</m:t>
                      </m:r>
                      <m:f>
                        <m:fPr>
                          <m:ctrlPr>
                            <a:rPr lang="en-US" altLang="zh-CN" i="1" smtClean="0">
                              <a:latin typeface="Cambria Math" panose="02040503050406030204" pitchFamily="18" charset="0"/>
                            </a:rPr>
                          </m:ctrlPr>
                        </m:fPr>
                        <m:num>
                          <m:r>
                            <a:rPr lang="en-US" altLang="zh-CN" b="0" i="1" smtClean="0">
                              <a:latin typeface="Cambria Math" panose="02040503050406030204" pitchFamily="18" charset="0"/>
                            </a:rPr>
                            <m:t>𝐿</m:t>
                          </m:r>
                        </m:num>
                        <m:den>
                          <m:r>
                            <a:rPr lang="en-US" altLang="zh-CN" b="0" i="1" smtClean="0">
                              <a:latin typeface="Cambria Math" panose="02040503050406030204" pitchFamily="18" charset="0"/>
                            </a:rPr>
                            <m:t>𝑅</m:t>
                          </m:r>
                        </m:den>
                      </m:f>
                      <m:f>
                        <m:fPr>
                          <m:ctrlPr>
                            <a:rPr lang="en-US" altLang="zh-CN" i="1">
                              <a:latin typeface="Cambria Math" panose="02040503050406030204" pitchFamily="18" charset="0"/>
                            </a:rPr>
                          </m:ctrlPr>
                        </m:fPr>
                        <m:num>
                          <m:r>
                            <a:rPr lang="en-US" altLang="zh-CN" i="1">
                              <a:latin typeface="Cambria Math" panose="02040503050406030204" pitchFamily="18" charset="0"/>
                            </a:rPr>
                            <m:t>𝑑</m:t>
                          </m:r>
                          <m:sSub>
                            <m:sSubPr>
                              <m:ctrlPr>
                                <a:rPr lang="en-US" altLang="zh-CN" i="1">
                                  <a:latin typeface="Cambria Math" panose="02040503050406030204" pitchFamily="18" charset="0"/>
                                </a:rPr>
                              </m:ctrlPr>
                            </m:sSubPr>
                            <m:e>
                              <m:r>
                                <a:rPr lang="en-US" altLang="zh-CN" i="1">
                                  <a:latin typeface="Cambria Math" panose="02040503050406030204" pitchFamily="18" charset="0"/>
                                </a:rPr>
                                <m:t>𝑣</m:t>
                              </m:r>
                            </m:e>
                            <m:sub>
                              <m:r>
                                <a:rPr lang="en-US" altLang="zh-CN" i="1">
                                  <a:latin typeface="Cambria Math" panose="02040503050406030204" pitchFamily="18" charset="0"/>
                                </a:rPr>
                                <m:t>𝑖</m:t>
                              </m:r>
                            </m:sub>
                          </m:sSub>
                        </m:num>
                        <m:den>
                          <m:r>
                            <a:rPr lang="en-US" altLang="zh-CN" b="0" i="1" smtClean="0">
                              <a:latin typeface="Cambria Math" panose="02040503050406030204" pitchFamily="18" charset="0"/>
                            </a:rPr>
                            <m:t>𝑑𝑡</m:t>
                          </m:r>
                        </m:den>
                      </m:f>
                    </m:oMath>
                  </m:oMathPara>
                </a14:m>
                <a:endParaRPr lang="en-US" altLang="zh-CN" i="1" dirty="0">
                  <a:latin typeface="Cambria Math" panose="02040503050406030204" pitchFamily="18" charset="0"/>
                </a:endParaRPr>
              </a:p>
              <a:p>
                <a:endParaRPr lang="en-US" altLang="zh-CN" i="1" dirty="0">
                  <a:latin typeface="Cambria Math" panose="02040503050406030204" pitchFamily="18" charset="0"/>
                </a:endParaRPr>
              </a:p>
              <a:p>
                <a:r>
                  <a:rPr lang="en-US" altLang="zh-CN" dirty="0">
                    <a:latin typeface="Cambria Math" panose="02040503050406030204" pitchFamily="18" charset="0"/>
                  </a:rPr>
                  <a:t>Note: both RC and </a:t>
                </a:r>
                <a14:m>
                  <m:oMath xmlns:m="http://schemas.openxmlformats.org/officeDocument/2006/math">
                    <m:f>
                      <m:fPr>
                        <m:ctrlPr>
                          <a:rPr lang="en-US" altLang="zh-CN" i="1">
                            <a:latin typeface="Cambria Math" panose="02040503050406030204" pitchFamily="18" charset="0"/>
                          </a:rPr>
                        </m:ctrlPr>
                      </m:fPr>
                      <m:num>
                        <m:r>
                          <m:rPr>
                            <m:sty m:val="p"/>
                          </m:rPr>
                          <a:rPr lang="en-US" altLang="zh-CN" i="0">
                            <a:latin typeface="Cambria Math" panose="02040503050406030204" pitchFamily="18" charset="0"/>
                          </a:rPr>
                          <m:t>L</m:t>
                        </m:r>
                      </m:num>
                      <m:den>
                        <m:r>
                          <m:rPr>
                            <m:sty m:val="p"/>
                          </m:rPr>
                          <a:rPr lang="en-US" altLang="zh-CN" i="0">
                            <a:latin typeface="Cambria Math" panose="02040503050406030204" pitchFamily="18" charset="0"/>
                          </a:rPr>
                          <m:t>R</m:t>
                        </m:r>
                      </m:den>
                    </m:f>
                  </m:oMath>
                </a14:m>
                <a:r>
                  <a:rPr lang="en-US" altLang="zh-CN" dirty="0">
                    <a:latin typeface="Cambria Math" panose="02040503050406030204" pitchFamily="18" charset="0"/>
                  </a:rPr>
                  <a:t> have the dimension of time.</a:t>
                </a:r>
              </a:p>
              <a:p>
                <a:endParaRPr lang="en-US" altLang="zh-CN" i="1" dirty="0">
                  <a:latin typeface="Cambria Math" panose="02040503050406030204" pitchFamily="18" charset="0"/>
                </a:endParaRPr>
              </a:p>
              <a:p>
                <a:endParaRPr lang="zh-CN" altLang="en-US" dirty="0"/>
              </a:p>
            </p:txBody>
          </p:sp>
        </mc:Choice>
        <mc:Fallback xmlns="">
          <p:sp>
            <p:nvSpPr>
              <p:cNvPr id="5" name="文本框 4">
                <a:extLst>
                  <a:ext uri="{FF2B5EF4-FFF2-40B4-BE49-F238E27FC236}">
                    <a16:creationId xmlns:a16="http://schemas.microsoft.com/office/drawing/2014/main" id="{D71A70F5-5EAD-4D1E-877F-476D93A27ADA}"/>
                  </a:ext>
                </a:extLst>
              </p:cNvPr>
              <p:cNvSpPr txBox="1">
                <a:spLocks noRot="1" noChangeAspect="1" noMove="1" noResize="1" noEditPoints="1" noAdjustHandles="1" noChangeArrowheads="1" noChangeShapeType="1" noTextEdit="1"/>
              </p:cNvSpPr>
              <p:nvPr/>
            </p:nvSpPr>
            <p:spPr>
              <a:xfrm>
                <a:off x="4568536" y="2569715"/>
                <a:ext cx="4575464" cy="4687117"/>
              </a:xfrm>
              <a:prstGeom prst="rect">
                <a:avLst/>
              </a:prstGeom>
              <a:blipFill>
                <a:blip r:embed="rId3"/>
                <a:stretch>
                  <a:fillRect l="-3329" r="-4394"/>
                </a:stretch>
              </a:blipFill>
            </p:spPr>
            <p:txBody>
              <a:bodyPr/>
              <a:lstStyle/>
              <a:p>
                <a:r>
                  <a:rPr lang="zh-CN" altLang="en-US">
                    <a:noFill/>
                  </a:rPr>
                  <a:t> </a:t>
                </a:r>
              </a:p>
            </p:txBody>
          </p:sp>
        </mc:Fallback>
      </mc:AlternateContent>
      <p:grpSp>
        <p:nvGrpSpPr>
          <p:cNvPr id="10" name="组合 9">
            <a:extLst>
              <a:ext uri="{FF2B5EF4-FFF2-40B4-BE49-F238E27FC236}">
                <a16:creationId xmlns:a16="http://schemas.microsoft.com/office/drawing/2014/main" id="{B9E5FC17-86B5-4CA0-88FC-F7F6D0A153C7}"/>
              </a:ext>
            </a:extLst>
          </p:cNvPr>
          <p:cNvGrpSpPr/>
          <p:nvPr/>
        </p:nvGrpSpPr>
        <p:grpSpPr>
          <a:xfrm>
            <a:off x="228600" y="2197371"/>
            <a:ext cx="4191000" cy="2645020"/>
            <a:chOff x="3782043" y="1649290"/>
            <a:chExt cx="4191000" cy="2645020"/>
          </a:xfrm>
        </p:grpSpPr>
        <p:pic>
          <p:nvPicPr>
            <p:cNvPr id="8" name="图片 7">
              <a:extLst>
                <a:ext uri="{FF2B5EF4-FFF2-40B4-BE49-F238E27FC236}">
                  <a16:creationId xmlns:a16="http://schemas.microsoft.com/office/drawing/2014/main" id="{1F45524D-8F37-4132-BF22-290711842D2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82043" y="1649290"/>
              <a:ext cx="4191000" cy="2645020"/>
            </a:xfrm>
            <a:prstGeom prst="rect">
              <a:avLst/>
            </a:prstGeom>
          </p:spPr>
        </p:pic>
        <p:sp>
          <p:nvSpPr>
            <p:cNvPr id="7" name="文本框 6">
              <a:extLst>
                <a:ext uri="{FF2B5EF4-FFF2-40B4-BE49-F238E27FC236}">
                  <a16:creationId xmlns:a16="http://schemas.microsoft.com/office/drawing/2014/main" id="{69188B57-7E5C-42FF-B23A-844F07763A56}"/>
                </a:ext>
              </a:extLst>
            </p:cNvPr>
            <p:cNvSpPr txBox="1"/>
            <p:nvPr/>
          </p:nvSpPr>
          <p:spPr>
            <a:xfrm>
              <a:off x="5943600" y="2048547"/>
              <a:ext cx="333746" cy="400110"/>
            </a:xfrm>
            <a:prstGeom prst="rect">
              <a:avLst/>
            </a:prstGeom>
            <a:noFill/>
          </p:spPr>
          <p:txBody>
            <a:bodyPr wrap="none" rtlCol="0">
              <a:spAutoFit/>
            </a:bodyPr>
            <a:lstStyle/>
            <a:p>
              <a:r>
                <a:rPr lang="en-US" altLang="zh-CN" dirty="0"/>
                <a:t>+</a:t>
              </a:r>
              <a:endParaRPr lang="zh-CN" altLang="en-US" dirty="0"/>
            </a:p>
          </p:txBody>
        </p:sp>
        <p:sp>
          <p:nvSpPr>
            <p:cNvPr id="9" name="文本框 8">
              <a:extLst>
                <a:ext uri="{FF2B5EF4-FFF2-40B4-BE49-F238E27FC236}">
                  <a16:creationId xmlns:a16="http://schemas.microsoft.com/office/drawing/2014/main" id="{6A4EA4E3-82C8-4046-B996-EEEF9B414DFD}"/>
                </a:ext>
              </a:extLst>
            </p:cNvPr>
            <p:cNvSpPr txBox="1"/>
            <p:nvPr/>
          </p:nvSpPr>
          <p:spPr>
            <a:xfrm>
              <a:off x="6277346" y="2080516"/>
              <a:ext cx="269626" cy="400110"/>
            </a:xfrm>
            <a:prstGeom prst="rect">
              <a:avLst/>
            </a:prstGeom>
            <a:noFill/>
          </p:spPr>
          <p:txBody>
            <a:bodyPr wrap="none" rtlCol="0">
              <a:spAutoFit/>
            </a:bodyPr>
            <a:lstStyle/>
            <a:p>
              <a:r>
                <a:rPr lang="en-US" altLang="zh-CN" dirty="0"/>
                <a:t>-</a:t>
              </a:r>
              <a:endParaRPr lang="zh-CN" altLang="en-US" dirty="0"/>
            </a:p>
          </p:txBody>
        </p:sp>
      </p:grpSp>
    </p:spTree>
    <p:extLst>
      <p:ext uri="{BB962C8B-B14F-4D97-AF65-F5344CB8AC3E}">
        <p14:creationId xmlns:p14="http://schemas.microsoft.com/office/powerpoint/2010/main" val="30562407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533400"/>
            <a:ext cx="8229600" cy="838200"/>
          </a:xfrm>
        </p:spPr>
        <p:txBody>
          <a:bodyPr/>
          <a:lstStyle/>
          <a:p>
            <a:r>
              <a:rPr lang="en-US" dirty="0"/>
              <a:t>Practice 3</a:t>
            </a:r>
            <a:endParaRPr lang="en-US" dirty="0">
              <a:solidFill>
                <a:srgbClr val="FF0000"/>
              </a:solidFill>
            </a:endParaRPr>
          </a:p>
        </p:txBody>
      </p:sp>
      <p:sp>
        <p:nvSpPr>
          <p:cNvPr id="21" name="文本框 20">
            <a:extLst>
              <a:ext uri="{FF2B5EF4-FFF2-40B4-BE49-F238E27FC236}">
                <a16:creationId xmlns:a16="http://schemas.microsoft.com/office/drawing/2014/main" id="{E1CA00D1-DEB9-49CB-AED7-A5DAD5E8B916}"/>
              </a:ext>
            </a:extLst>
          </p:cNvPr>
          <p:cNvSpPr txBox="1"/>
          <p:nvPr/>
        </p:nvSpPr>
        <p:spPr>
          <a:xfrm>
            <a:off x="828065" y="1562777"/>
            <a:ext cx="6179897" cy="400110"/>
          </a:xfrm>
          <a:prstGeom prst="rect">
            <a:avLst/>
          </a:prstGeom>
          <a:noFill/>
        </p:spPr>
        <p:txBody>
          <a:bodyPr wrap="none" rtlCol="0">
            <a:spAutoFit/>
          </a:bodyPr>
          <a:lstStyle/>
          <a:p>
            <a:r>
              <a:rPr lang="en-US" altLang="zh-CN" dirty="0"/>
              <a:t>Determine the equivalent resistance at terminals a-b.</a:t>
            </a:r>
            <a:endParaRPr lang="zh-CN" altLang="en-US" dirty="0"/>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2BA40377-EBB0-425A-86ED-3D71CA8DE416}"/>
                  </a:ext>
                </a:extLst>
              </p:cNvPr>
              <p:cNvSpPr txBox="1"/>
              <p:nvPr/>
            </p:nvSpPr>
            <p:spPr>
              <a:xfrm>
                <a:off x="5639619" y="2958460"/>
                <a:ext cx="3679149" cy="2576475"/>
              </a:xfrm>
              <a:prstGeom prst="rect">
                <a:avLst/>
              </a:prstGeom>
              <a:noFill/>
            </p:spPr>
            <p:txBody>
              <a:bodyPr wrap="none" rtlCol="0">
                <a:spAutoFit/>
              </a:bodyPr>
              <a:lstStyle/>
              <a:p>
                <a:r>
                  <a:rPr lang="en-US" altLang="zh-CN" b="0" dirty="0">
                    <a:latin typeface="Cambria Math" panose="02040503050406030204" pitchFamily="18" charset="0"/>
                  </a:rPr>
                  <a:t>Answer:</a:t>
                </a:r>
              </a:p>
              <a:p>
                <a:endParaRPr lang="en-US" altLang="zh-CN"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altLang="zh-CN" b="0" i="1" smtClean="0">
                          <a:latin typeface="Cambria Math" panose="02040503050406030204" pitchFamily="18" charset="0"/>
                        </a:rPr>
                        <m:t>𝐼</m:t>
                      </m:r>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𝑉</m:t>
                              </m:r>
                            </m:e>
                            <m:sub>
                              <m:r>
                                <a:rPr lang="en-US" altLang="zh-CN" b="0" i="1" smtClean="0">
                                  <a:latin typeface="Cambria Math" panose="02040503050406030204" pitchFamily="18" charset="0"/>
                                </a:rPr>
                                <m:t>𝑎𝑏</m:t>
                              </m:r>
                            </m:sub>
                          </m:sSub>
                        </m:num>
                        <m:den>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𝑅</m:t>
                              </m:r>
                            </m:e>
                            <m:sub>
                              <m:r>
                                <a:rPr lang="en-US" altLang="zh-CN" b="0" i="1" smtClean="0">
                                  <a:latin typeface="Cambria Math" panose="02040503050406030204" pitchFamily="18" charset="0"/>
                                </a:rPr>
                                <m:t>1</m:t>
                              </m:r>
                            </m:sub>
                          </m:sSub>
                        </m:den>
                      </m:f>
                      <m:r>
                        <a:rPr lang="en-US" altLang="zh-CN" b="0" i="1" smtClean="0">
                          <a:latin typeface="Cambria Math" panose="02040503050406030204" pitchFamily="18" charset="0"/>
                        </a:rPr>
                        <m:t>+</m:t>
                      </m:r>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i="1">
                                  <a:latin typeface="Cambria Math" panose="02040503050406030204" pitchFamily="18" charset="0"/>
                                </a:rPr>
                                <m:t>𝑎𝑏</m:t>
                              </m:r>
                            </m:sub>
                          </m:sSub>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b="0" i="1" smtClean="0">
                                  <a:latin typeface="Cambria Math" panose="02040503050406030204" pitchFamily="18" charset="0"/>
                                </a:rPr>
                                <m:t>2</m:t>
                              </m:r>
                            </m:sub>
                          </m:sSub>
                        </m:den>
                      </m:f>
                    </m:oMath>
                  </m:oMathPara>
                </a14:m>
                <a:endParaRPr lang="en-US" altLang="zh-CN" b="0" dirty="0">
                  <a:latin typeface="Cambria Math" panose="02040503050406030204" pitchFamily="18" charset="0"/>
                </a:endParaRPr>
              </a:p>
              <a:p>
                <a:endParaRPr lang="en-US" altLang="zh-CN" dirty="0"/>
              </a:p>
              <a:p>
                <a:pPr/>
                <a14:m>
                  <m:oMathPara xmlns:m="http://schemas.openxmlformats.org/officeDocument/2006/math">
                    <m:oMathParaPr>
                      <m:jc m:val="left"/>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𝑅</m:t>
                          </m:r>
                        </m:e>
                        <m:sub>
                          <m:r>
                            <m:rPr>
                              <m:sty m:val="p"/>
                            </m:rPr>
                            <a:rPr lang="en-US" altLang="zh-CN" b="0" i="0" smtClean="0">
                              <a:latin typeface="Cambria Math" panose="02040503050406030204" pitchFamily="18" charset="0"/>
                            </a:rPr>
                            <m:t>eq</m:t>
                          </m:r>
                        </m:sub>
                      </m:sSub>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i="1">
                                  <a:latin typeface="Cambria Math" panose="02040503050406030204" pitchFamily="18" charset="0"/>
                                </a:rPr>
                                <m:t>𝑎𝑏</m:t>
                              </m:r>
                            </m:sub>
                          </m:sSub>
                        </m:num>
                        <m:den>
                          <m:r>
                            <a:rPr lang="en-US" altLang="zh-CN" b="0" i="1" smtClean="0">
                              <a:latin typeface="Cambria Math" panose="02040503050406030204" pitchFamily="18" charset="0"/>
                            </a:rPr>
                            <m:t>𝐼</m:t>
                          </m:r>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1</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b="0" i="1" smtClean="0">
                                  <a:latin typeface="Cambria Math" panose="02040503050406030204" pitchFamily="18" charset="0"/>
                                </a:rPr>
                                <m:t>2</m:t>
                              </m:r>
                            </m:sub>
                          </m:sSub>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b="0" i="1" smtClean="0">
                                  <a:latin typeface="Cambria Math" panose="02040503050406030204" pitchFamily="18" charset="0"/>
                                </a:rPr>
                                <m:t>2</m:t>
                              </m:r>
                            </m:sub>
                          </m:sSub>
                        </m:den>
                      </m:f>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1</m:t>
                          </m:r>
                        </m:sub>
                      </m:sSub>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m:t>
                          </m:r>
                          <m:r>
                            <a:rPr lang="en-US" altLang="zh-CN" i="1">
                              <a:latin typeface="Cambria Math" panose="02040503050406030204" pitchFamily="18" charset="0"/>
                            </a:rPr>
                            <m:t>𝑅</m:t>
                          </m:r>
                        </m:e>
                        <m:sub>
                          <m:r>
                            <a:rPr lang="en-US" altLang="zh-CN" i="1">
                              <a:latin typeface="Cambria Math" panose="02040503050406030204" pitchFamily="18" charset="0"/>
                            </a:rPr>
                            <m:t>2</m:t>
                          </m:r>
                        </m:sub>
                      </m:sSub>
                    </m:oMath>
                  </m:oMathPara>
                </a14:m>
                <a:endParaRPr lang="en-US" altLang="zh-CN" b="0" dirty="0"/>
              </a:p>
              <a:p>
                <a:endParaRPr lang="zh-CN" altLang="en-US" dirty="0"/>
              </a:p>
            </p:txBody>
          </p:sp>
        </mc:Choice>
        <mc:Fallback xmlns="">
          <p:sp>
            <p:nvSpPr>
              <p:cNvPr id="3" name="文本框 2">
                <a:extLst>
                  <a:ext uri="{FF2B5EF4-FFF2-40B4-BE49-F238E27FC236}">
                    <a16:creationId xmlns:a16="http://schemas.microsoft.com/office/drawing/2014/main" id="{2BA40377-EBB0-425A-86ED-3D71CA8DE416}"/>
                  </a:ext>
                </a:extLst>
              </p:cNvPr>
              <p:cNvSpPr txBox="1">
                <a:spLocks noRot="1" noChangeAspect="1" noMove="1" noResize="1" noEditPoints="1" noAdjustHandles="1" noChangeArrowheads="1" noChangeShapeType="1" noTextEdit="1"/>
              </p:cNvSpPr>
              <p:nvPr/>
            </p:nvSpPr>
            <p:spPr>
              <a:xfrm>
                <a:off x="5639619" y="2958460"/>
                <a:ext cx="3679149" cy="2576475"/>
              </a:xfrm>
              <a:prstGeom prst="rect">
                <a:avLst/>
              </a:prstGeom>
              <a:blipFill>
                <a:blip r:embed="rId2"/>
                <a:stretch>
                  <a:fillRect l="-1656" t="-1182"/>
                </a:stretch>
              </a:blipFill>
            </p:spPr>
            <p:txBody>
              <a:bodyPr/>
              <a:lstStyle/>
              <a:p>
                <a:r>
                  <a:rPr lang="zh-CN" altLang="en-US">
                    <a:noFill/>
                  </a:rPr>
                  <a:t> </a:t>
                </a:r>
              </a:p>
            </p:txBody>
          </p:sp>
        </mc:Fallback>
      </mc:AlternateContent>
      <p:grpSp>
        <p:nvGrpSpPr>
          <p:cNvPr id="7" name="组合 6">
            <a:extLst>
              <a:ext uri="{FF2B5EF4-FFF2-40B4-BE49-F238E27FC236}">
                <a16:creationId xmlns:a16="http://schemas.microsoft.com/office/drawing/2014/main" id="{F8CB3BA3-77A5-4462-A500-256E48600271}"/>
              </a:ext>
            </a:extLst>
          </p:cNvPr>
          <p:cNvGrpSpPr/>
          <p:nvPr/>
        </p:nvGrpSpPr>
        <p:grpSpPr>
          <a:xfrm>
            <a:off x="157463" y="2514600"/>
            <a:ext cx="5264689" cy="3785083"/>
            <a:chOff x="689797" y="2493818"/>
            <a:chExt cx="5264689" cy="3785083"/>
          </a:xfrm>
        </p:grpSpPr>
        <p:pic>
          <p:nvPicPr>
            <p:cNvPr id="5" name="Picture 4"/>
            <p:cNvPicPr>
              <a:picLocks noChangeAspect="1"/>
            </p:cNvPicPr>
            <p:nvPr/>
          </p:nvPicPr>
          <p:blipFill rotWithShape="1">
            <a:blip r:embed="rId3"/>
            <a:srcRect l="13479" r="-1"/>
            <a:stretch/>
          </p:blipFill>
          <p:spPr>
            <a:xfrm>
              <a:off x="1055231" y="2590800"/>
              <a:ext cx="4746856" cy="2865422"/>
            </a:xfrm>
            <a:prstGeom prst="rect">
              <a:avLst/>
            </a:prstGeom>
          </p:spPr>
        </p:pic>
        <p:sp>
          <p:nvSpPr>
            <p:cNvPr id="46" name="椭圆 45">
              <a:extLst>
                <a:ext uri="{FF2B5EF4-FFF2-40B4-BE49-F238E27FC236}">
                  <a16:creationId xmlns:a16="http://schemas.microsoft.com/office/drawing/2014/main" id="{DC3F1386-FCA5-44D2-A48E-383B5DF83DEF}"/>
                </a:ext>
              </a:extLst>
            </p:cNvPr>
            <p:cNvSpPr/>
            <p:nvPr/>
          </p:nvSpPr>
          <p:spPr>
            <a:xfrm>
              <a:off x="979030" y="4798256"/>
              <a:ext cx="152400" cy="152400"/>
            </a:xfrm>
            <a:prstGeom prst="ellipse">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a:extLst>
                <a:ext uri="{FF2B5EF4-FFF2-40B4-BE49-F238E27FC236}">
                  <a16:creationId xmlns:a16="http://schemas.microsoft.com/office/drawing/2014/main" id="{979ADA75-D729-49E4-B4A4-B3470155205B}"/>
                </a:ext>
              </a:extLst>
            </p:cNvPr>
            <p:cNvSpPr/>
            <p:nvPr/>
          </p:nvSpPr>
          <p:spPr>
            <a:xfrm>
              <a:off x="1055981" y="3506187"/>
              <a:ext cx="152400" cy="152400"/>
            </a:xfrm>
            <a:prstGeom prst="ellipse">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513389D6-6AA0-493E-BE81-5EE1B7D48EDE}"/>
                </a:ext>
              </a:extLst>
            </p:cNvPr>
            <p:cNvSpPr txBox="1"/>
            <p:nvPr/>
          </p:nvSpPr>
          <p:spPr>
            <a:xfrm>
              <a:off x="749667" y="3365027"/>
              <a:ext cx="327334" cy="400110"/>
            </a:xfrm>
            <a:prstGeom prst="rect">
              <a:avLst/>
            </a:prstGeom>
            <a:noFill/>
          </p:spPr>
          <p:txBody>
            <a:bodyPr wrap="none" rtlCol="0">
              <a:spAutoFit/>
            </a:bodyPr>
            <a:lstStyle/>
            <a:p>
              <a:r>
                <a:rPr lang="en-US" altLang="zh-CN" dirty="0"/>
                <a:t>a</a:t>
              </a:r>
              <a:endParaRPr lang="zh-CN" altLang="en-US" dirty="0"/>
            </a:p>
          </p:txBody>
        </p:sp>
        <p:sp>
          <p:nvSpPr>
            <p:cNvPr id="49" name="文本框 48">
              <a:extLst>
                <a:ext uri="{FF2B5EF4-FFF2-40B4-BE49-F238E27FC236}">
                  <a16:creationId xmlns:a16="http://schemas.microsoft.com/office/drawing/2014/main" id="{98EED785-41CB-4862-A92F-4F77645FA411}"/>
                </a:ext>
              </a:extLst>
            </p:cNvPr>
            <p:cNvSpPr txBox="1"/>
            <p:nvPr/>
          </p:nvSpPr>
          <p:spPr>
            <a:xfrm>
              <a:off x="689797" y="4674401"/>
              <a:ext cx="327334" cy="400110"/>
            </a:xfrm>
            <a:prstGeom prst="rect">
              <a:avLst/>
            </a:prstGeom>
            <a:noFill/>
          </p:spPr>
          <p:txBody>
            <a:bodyPr wrap="none" rtlCol="0">
              <a:spAutoFit/>
            </a:bodyPr>
            <a:lstStyle/>
            <a:p>
              <a:r>
                <a:rPr lang="en-US" altLang="zh-CN" dirty="0"/>
                <a:t>b</a:t>
              </a:r>
              <a:endParaRPr lang="zh-CN" altLang="en-US" dirty="0"/>
            </a:p>
          </p:txBody>
        </p:sp>
        <p:sp>
          <p:nvSpPr>
            <p:cNvPr id="4" name="矩形 3">
              <a:extLst>
                <a:ext uri="{FF2B5EF4-FFF2-40B4-BE49-F238E27FC236}">
                  <a16:creationId xmlns:a16="http://schemas.microsoft.com/office/drawing/2014/main" id="{715F2F39-755F-457B-9F86-0D955EABADD2}"/>
                </a:ext>
              </a:extLst>
            </p:cNvPr>
            <p:cNvSpPr/>
            <p:nvPr/>
          </p:nvSpPr>
          <p:spPr>
            <a:xfrm>
              <a:off x="783087" y="5983775"/>
              <a:ext cx="544286" cy="29512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32F72A35-74FB-47B8-B9F8-AF863E5EE14A}"/>
                </a:ext>
              </a:extLst>
            </p:cNvPr>
            <p:cNvSpPr/>
            <p:nvPr/>
          </p:nvSpPr>
          <p:spPr>
            <a:xfrm>
              <a:off x="1534886" y="2493818"/>
              <a:ext cx="4419600" cy="3200400"/>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矩形 7">
            <a:extLst>
              <a:ext uri="{FF2B5EF4-FFF2-40B4-BE49-F238E27FC236}">
                <a16:creationId xmlns:a16="http://schemas.microsoft.com/office/drawing/2014/main" id="{0AD4B979-CF9A-4BE3-8E2A-ED928DB18EAF}"/>
              </a:ext>
            </a:extLst>
          </p:cNvPr>
          <p:cNvSpPr/>
          <p:nvPr/>
        </p:nvSpPr>
        <p:spPr>
          <a:xfrm>
            <a:off x="307712" y="3974528"/>
            <a:ext cx="473909" cy="5443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200931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82518D4A-5872-49E9-A3B7-9E9DDA39BDB5}"/>
              </a:ext>
            </a:extLst>
          </p:cNvPr>
          <p:cNvPicPr>
            <a:picLocks noChangeAspect="1"/>
          </p:cNvPicPr>
          <p:nvPr/>
        </p:nvPicPr>
        <p:blipFill>
          <a:blip r:embed="rId2"/>
          <a:stretch>
            <a:fillRect/>
          </a:stretch>
        </p:blipFill>
        <p:spPr>
          <a:xfrm>
            <a:off x="1600200" y="2667000"/>
            <a:ext cx="6179897" cy="3171920"/>
          </a:xfrm>
          <a:prstGeom prst="rect">
            <a:avLst/>
          </a:prstGeom>
        </p:spPr>
      </p:pic>
      <p:sp>
        <p:nvSpPr>
          <p:cNvPr id="2" name="Title 1"/>
          <p:cNvSpPr>
            <a:spLocks noGrp="1"/>
          </p:cNvSpPr>
          <p:nvPr>
            <p:ph type="title"/>
          </p:nvPr>
        </p:nvSpPr>
        <p:spPr>
          <a:xfrm>
            <a:off x="381000" y="533400"/>
            <a:ext cx="8229600" cy="838200"/>
          </a:xfrm>
        </p:spPr>
        <p:txBody>
          <a:bodyPr/>
          <a:lstStyle/>
          <a:p>
            <a:r>
              <a:rPr lang="en-US" dirty="0"/>
              <a:t>Practice 4</a:t>
            </a:r>
            <a:endParaRPr lang="en-US" dirty="0">
              <a:solidFill>
                <a:srgbClr val="FF0000"/>
              </a:solidFill>
            </a:endParaRPr>
          </a:p>
        </p:txBody>
      </p:sp>
      <p:sp>
        <p:nvSpPr>
          <p:cNvPr id="6" name="矩形 5">
            <a:extLst>
              <a:ext uri="{FF2B5EF4-FFF2-40B4-BE49-F238E27FC236}">
                <a16:creationId xmlns:a16="http://schemas.microsoft.com/office/drawing/2014/main" id="{32F72A35-74FB-47B8-B9F8-AF863E5EE14A}"/>
              </a:ext>
            </a:extLst>
          </p:cNvPr>
          <p:cNvSpPr/>
          <p:nvPr/>
        </p:nvSpPr>
        <p:spPr>
          <a:xfrm>
            <a:off x="1576022" y="2464349"/>
            <a:ext cx="5505835" cy="3352800"/>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a:extLst>
              <a:ext uri="{FF2B5EF4-FFF2-40B4-BE49-F238E27FC236}">
                <a16:creationId xmlns:a16="http://schemas.microsoft.com/office/drawing/2014/main" id="{DC3F1386-FCA5-44D2-A48E-383B5DF83DEF}"/>
              </a:ext>
            </a:extLst>
          </p:cNvPr>
          <p:cNvSpPr/>
          <p:nvPr/>
        </p:nvSpPr>
        <p:spPr>
          <a:xfrm>
            <a:off x="7167469" y="5189554"/>
            <a:ext cx="152400" cy="152400"/>
          </a:xfrm>
          <a:prstGeom prst="ellipse">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a:extLst>
              <a:ext uri="{FF2B5EF4-FFF2-40B4-BE49-F238E27FC236}">
                <a16:creationId xmlns:a16="http://schemas.microsoft.com/office/drawing/2014/main" id="{979ADA75-D729-49E4-B4A4-B3470155205B}"/>
              </a:ext>
            </a:extLst>
          </p:cNvPr>
          <p:cNvSpPr/>
          <p:nvPr/>
        </p:nvSpPr>
        <p:spPr>
          <a:xfrm>
            <a:off x="7214757" y="3966119"/>
            <a:ext cx="152400" cy="152400"/>
          </a:xfrm>
          <a:prstGeom prst="ellipse">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513389D6-6AA0-493E-BE81-5EE1B7D48EDE}"/>
              </a:ext>
            </a:extLst>
          </p:cNvPr>
          <p:cNvSpPr txBox="1"/>
          <p:nvPr/>
        </p:nvSpPr>
        <p:spPr>
          <a:xfrm>
            <a:off x="7371389" y="3852850"/>
            <a:ext cx="327334" cy="400110"/>
          </a:xfrm>
          <a:prstGeom prst="rect">
            <a:avLst/>
          </a:prstGeom>
          <a:noFill/>
        </p:spPr>
        <p:txBody>
          <a:bodyPr wrap="none" rtlCol="0">
            <a:spAutoFit/>
          </a:bodyPr>
          <a:lstStyle/>
          <a:p>
            <a:r>
              <a:rPr lang="en-US" altLang="zh-CN" dirty="0"/>
              <a:t>a</a:t>
            </a:r>
            <a:endParaRPr lang="zh-CN" altLang="en-US" dirty="0"/>
          </a:p>
        </p:txBody>
      </p:sp>
      <p:sp>
        <p:nvSpPr>
          <p:cNvPr id="49" name="文本框 48">
            <a:extLst>
              <a:ext uri="{FF2B5EF4-FFF2-40B4-BE49-F238E27FC236}">
                <a16:creationId xmlns:a16="http://schemas.microsoft.com/office/drawing/2014/main" id="{98EED785-41CB-4862-A92F-4F77645FA411}"/>
              </a:ext>
            </a:extLst>
          </p:cNvPr>
          <p:cNvSpPr txBox="1"/>
          <p:nvPr/>
        </p:nvSpPr>
        <p:spPr>
          <a:xfrm>
            <a:off x="7319869" y="5065699"/>
            <a:ext cx="327334" cy="400110"/>
          </a:xfrm>
          <a:prstGeom prst="rect">
            <a:avLst/>
          </a:prstGeom>
          <a:noFill/>
        </p:spPr>
        <p:txBody>
          <a:bodyPr wrap="none" rtlCol="0">
            <a:spAutoFit/>
          </a:bodyPr>
          <a:lstStyle/>
          <a:p>
            <a:r>
              <a:rPr lang="en-US" altLang="zh-CN" dirty="0"/>
              <a:t>b</a:t>
            </a:r>
            <a:endParaRPr lang="zh-CN" altLang="en-US" dirty="0"/>
          </a:p>
        </p:txBody>
      </p:sp>
      <p:sp>
        <p:nvSpPr>
          <p:cNvPr id="21" name="文本框 20">
            <a:extLst>
              <a:ext uri="{FF2B5EF4-FFF2-40B4-BE49-F238E27FC236}">
                <a16:creationId xmlns:a16="http://schemas.microsoft.com/office/drawing/2014/main" id="{E1CA00D1-DEB9-49CB-AED7-A5DAD5E8B916}"/>
              </a:ext>
            </a:extLst>
          </p:cNvPr>
          <p:cNvSpPr txBox="1"/>
          <p:nvPr/>
        </p:nvSpPr>
        <p:spPr>
          <a:xfrm>
            <a:off x="828065" y="1562777"/>
            <a:ext cx="7483524" cy="400110"/>
          </a:xfrm>
          <a:prstGeom prst="rect">
            <a:avLst/>
          </a:prstGeom>
          <a:noFill/>
        </p:spPr>
        <p:txBody>
          <a:bodyPr wrap="none" rtlCol="0">
            <a:spAutoFit/>
          </a:bodyPr>
          <a:lstStyle/>
          <a:p>
            <a:r>
              <a:rPr lang="en-US" altLang="zh-CN" dirty="0"/>
              <a:t>Determine the Thevenin’s equivalent resistance at terminals a-b.</a:t>
            </a:r>
            <a:endParaRPr lang="zh-CN" altLang="en-US" dirty="0"/>
          </a:p>
        </p:txBody>
      </p:sp>
    </p:spTree>
    <p:extLst>
      <p:ext uri="{BB962C8B-B14F-4D97-AF65-F5344CB8AC3E}">
        <p14:creationId xmlns:p14="http://schemas.microsoft.com/office/powerpoint/2010/main" val="42573518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a:extLst>
              <a:ext uri="{FF2B5EF4-FFF2-40B4-BE49-F238E27FC236}">
                <a16:creationId xmlns:a16="http://schemas.microsoft.com/office/drawing/2014/main" id="{5EA1F13D-333D-41DC-A669-97BD5354B75D}"/>
              </a:ext>
            </a:extLst>
          </p:cNvPr>
          <p:cNvPicPr>
            <a:picLocks noChangeAspect="1"/>
          </p:cNvPicPr>
          <p:nvPr/>
        </p:nvPicPr>
        <p:blipFill>
          <a:blip r:embed="rId2"/>
          <a:stretch>
            <a:fillRect/>
          </a:stretch>
        </p:blipFill>
        <p:spPr>
          <a:xfrm>
            <a:off x="151621" y="1502195"/>
            <a:ext cx="4258269" cy="2238687"/>
          </a:xfrm>
          <a:prstGeom prst="rect">
            <a:avLst/>
          </a:prstGeom>
        </p:spPr>
      </p:pic>
      <p:sp>
        <p:nvSpPr>
          <p:cNvPr id="2" name="Title 1"/>
          <p:cNvSpPr>
            <a:spLocks noGrp="1"/>
          </p:cNvSpPr>
          <p:nvPr>
            <p:ph type="title"/>
          </p:nvPr>
        </p:nvSpPr>
        <p:spPr>
          <a:xfrm>
            <a:off x="381000" y="533400"/>
            <a:ext cx="8229600" cy="838200"/>
          </a:xfrm>
        </p:spPr>
        <p:txBody>
          <a:bodyPr/>
          <a:lstStyle/>
          <a:p>
            <a:r>
              <a:rPr lang="en-US" dirty="0"/>
              <a:t>Practice 4 (solution)</a:t>
            </a:r>
            <a:endParaRPr lang="en-US" dirty="0">
              <a:solidFill>
                <a:srgbClr val="FF0000"/>
              </a:solidFill>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50C4EA1C-F0BE-4828-B8C1-2C21D1FA1B41}"/>
                  </a:ext>
                </a:extLst>
              </p:cNvPr>
              <p:cNvSpPr txBox="1"/>
              <p:nvPr/>
            </p:nvSpPr>
            <p:spPr>
              <a:xfrm>
                <a:off x="4945773" y="4269852"/>
                <a:ext cx="4115486" cy="2680542"/>
              </a:xfrm>
              <a:prstGeom prst="rect">
                <a:avLst/>
              </a:prstGeom>
              <a:noFill/>
            </p:spPr>
            <p:txBody>
              <a:bodyPr wrap="none" rtlCol="0">
                <a:spAutoFit/>
              </a:bodyPr>
              <a:lstStyle/>
              <a:p>
                <a14:m>
                  <m:oMath xmlns:m="http://schemas.openxmlformats.org/officeDocument/2006/math">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𝑉</m:t>
                        </m:r>
                      </m:e>
                      <m:sub>
                        <m:r>
                          <a:rPr lang="en-US" altLang="zh-CN" i="1">
                            <a:latin typeface="Cambria Math" panose="02040503050406030204" pitchFamily="18" charset="0"/>
                          </a:rPr>
                          <m:t>𝑛</m:t>
                        </m:r>
                      </m:sub>
                    </m:sSub>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 </m:t>
                        </m:r>
                        <m:r>
                          <m:rPr>
                            <m:nor/>
                          </m:rPr>
                          <a:rPr lang="en-US" altLang="zh-CN" kern="100" dirty="0">
                            <a:latin typeface="等线" panose="02010600030101010101" pitchFamily="2" charset="-122"/>
                            <a:ea typeface="等线" panose="02010600030101010101" pitchFamily="2" charset="-122"/>
                            <a:cs typeface="Times New Roman" panose="02020603050405020304" pitchFamily="18" charset="0"/>
                          </a:rPr>
                          <m:t>(</m:t>
                        </m:r>
                        <m:sSub>
                          <m:sSubPr>
                            <m:ctrlPr>
                              <a:rPr lang="en-US" altLang="zh-CN" i="1" kern="100" dirty="0">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i="1" kern="100" dirty="0">
                                <a:latin typeface="Cambria Math" panose="02040503050406030204" pitchFamily="18" charset="0"/>
                                <a:ea typeface="等线" panose="02010600030101010101" pitchFamily="2" charset="-122"/>
                                <a:cs typeface="Times New Roman" panose="02020603050405020304" pitchFamily="18" charset="0"/>
                              </a:rPr>
                              <m:t>𝑖</m:t>
                            </m:r>
                          </m:e>
                          <m:sub>
                            <m:r>
                              <a:rPr lang="en-US" altLang="zh-CN" i="1" kern="100" dirty="0">
                                <a:latin typeface="Cambria Math" panose="02040503050406030204" pitchFamily="18" charset="0"/>
                                <a:ea typeface="等线" panose="02010600030101010101" pitchFamily="2" charset="-122"/>
                                <a:cs typeface="Times New Roman" panose="02020603050405020304" pitchFamily="18" charset="0"/>
                              </a:rPr>
                              <m:t>𝑠</m:t>
                            </m:r>
                          </m:sub>
                        </m:sSub>
                        <m:sSub>
                          <m:sSubPr>
                            <m:ctrlPr>
                              <a:rPr lang="en-US" altLang="zh-CN" i="1" kern="100" dirty="0">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i="1" kern="100" dirty="0">
                                <a:latin typeface="Cambria Math" panose="02040503050406030204" pitchFamily="18" charset="0"/>
                                <a:ea typeface="等线" panose="02010600030101010101" pitchFamily="2" charset="-122"/>
                                <a:cs typeface="Times New Roman" panose="02020603050405020304" pitchFamily="18" charset="0"/>
                              </a:rPr>
                              <m:t>𝑅</m:t>
                            </m:r>
                          </m:e>
                          <m:sub>
                            <m:r>
                              <a:rPr lang="en-US" altLang="zh-CN" i="1" kern="100" dirty="0">
                                <a:latin typeface="Cambria Math" panose="02040503050406030204" pitchFamily="18" charset="0"/>
                                <a:ea typeface="等线" panose="02010600030101010101" pitchFamily="2" charset="-122"/>
                                <a:cs typeface="Times New Roman" panose="02020603050405020304" pitchFamily="18" charset="0"/>
                              </a:rPr>
                              <m:t>2</m:t>
                            </m:r>
                          </m:sub>
                        </m:sSub>
                        <m:r>
                          <m:rPr>
                            <m:nor/>
                          </m:rPr>
                          <a:rPr lang="en-US" altLang="zh-CN" kern="100" dirty="0">
                            <a:latin typeface="等线" panose="02010600030101010101" pitchFamily="2" charset="-122"/>
                            <a:ea typeface="等线" panose="02010600030101010101" pitchFamily="2" charset="-122"/>
                            <a:cs typeface="Times New Roman" panose="020206030504050203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𝑓</m:t>
                            </m:r>
                          </m:sub>
                        </m:sSub>
                      </m:num>
                      <m:den>
                        <m:sSub>
                          <m:sSubPr>
                            <m:ctrlPr>
                              <a:rPr lang="en-US" altLang="zh-CN" i="1" kern="100" dirty="0">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i="1" kern="100" dirty="0">
                                <a:latin typeface="Cambria Math" panose="02040503050406030204" pitchFamily="18" charset="0"/>
                                <a:ea typeface="等线" panose="02010600030101010101" pitchFamily="2" charset="-122"/>
                                <a:cs typeface="Times New Roman" panose="02020603050405020304" pitchFamily="18" charset="0"/>
                              </a:rPr>
                              <m:t>𝑅</m:t>
                            </m:r>
                          </m:e>
                          <m:sub>
                            <m:r>
                              <a:rPr lang="en-US" altLang="zh-CN" i="1" kern="100" dirty="0">
                                <a:latin typeface="Cambria Math" panose="02040503050406030204" pitchFamily="18" charset="0"/>
                                <a:ea typeface="等线" panose="02010600030101010101" pitchFamily="2" charset="-122"/>
                                <a:cs typeface="Times New Roman" panose="02020603050405020304" pitchFamily="18" charset="0"/>
                              </a:rPr>
                              <m:t>1</m:t>
                            </m:r>
                          </m:sub>
                        </m:sSub>
                        <m:r>
                          <m:rPr>
                            <m:nor/>
                          </m:rPr>
                          <a:rPr lang="en-US" altLang="zh-CN" kern="100" dirty="0">
                            <a:latin typeface="等线" panose="02010600030101010101" pitchFamily="2" charset="-122"/>
                            <a:ea typeface="等线" panose="02010600030101010101" pitchFamily="2" charset="-122"/>
                            <a:cs typeface="Times New Roman" panose="02020603050405020304" pitchFamily="18" charset="0"/>
                          </a:rPr>
                          <m:t>+</m:t>
                        </m:r>
                        <m:sSub>
                          <m:sSubPr>
                            <m:ctrlPr>
                              <a:rPr lang="en-US" altLang="zh-CN" i="1" kern="100" dirty="0">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i="1" kern="100" dirty="0">
                                <a:latin typeface="Cambria Math" panose="02040503050406030204" pitchFamily="18" charset="0"/>
                                <a:ea typeface="等线" panose="02010600030101010101" pitchFamily="2" charset="-122"/>
                                <a:cs typeface="Times New Roman" panose="02020603050405020304" pitchFamily="18" charset="0"/>
                              </a:rPr>
                              <m:t>𝑅</m:t>
                            </m:r>
                          </m:e>
                          <m:sub>
                            <m:r>
                              <a:rPr lang="en-US" altLang="zh-CN" i="1" kern="100" dirty="0">
                                <a:latin typeface="Cambria Math" panose="02040503050406030204" pitchFamily="18" charset="0"/>
                                <a:ea typeface="等线" panose="02010600030101010101" pitchFamily="2" charset="-122"/>
                                <a:cs typeface="Times New Roman" panose="02020603050405020304" pitchFamily="18" charset="0"/>
                              </a:rPr>
                              <m:t>2</m:t>
                            </m:r>
                          </m:sub>
                        </m:sSub>
                        <m:r>
                          <m:rPr>
                            <m:nor/>
                          </m:rPr>
                          <a:rPr lang="en-US" altLang="zh-CN" kern="100" dirty="0">
                            <a:latin typeface="等线" panose="02010600030101010101" pitchFamily="2" charset="-122"/>
                            <a:ea typeface="等线" panose="02010600030101010101" pitchFamily="2" charset="-122"/>
                            <a:cs typeface="Times New Roman" panose="020206030504050203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𝑓</m:t>
                            </m:r>
                          </m:sub>
                        </m:sSub>
                      </m:den>
                    </m:f>
                  </m:oMath>
                </a14:m>
                <a:r>
                  <a:rPr lang="en-US" altLang="zh-CN" dirty="0"/>
                  <a:t>,  </a:t>
                </a:r>
                <a14:m>
                  <m:oMath xmlns:m="http://schemas.openxmlformats.org/officeDocument/2006/math">
                    <m:r>
                      <a:rPr lang="en-US" altLang="zh-CN" b="0" i="0" dirty="0" smtClean="0">
                        <a:latin typeface="Cambria Math" panose="02040503050406030204" pitchFamily="18" charset="0"/>
                      </a:rPr>
                      <m:t>(</m:t>
                    </m:r>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𝑅</m:t>
                        </m:r>
                      </m:e>
                      <m:sub>
                        <m:r>
                          <a:rPr lang="en-US" altLang="zh-CN" b="0" i="1" dirty="0" smtClean="0">
                            <a:latin typeface="Cambria Math" panose="02040503050406030204" pitchFamily="18" charset="0"/>
                          </a:rPr>
                          <m:t>𝑖</m:t>
                        </m:r>
                      </m:sub>
                    </m:sSub>
                    <m:r>
                      <a:rPr lang="en-US" altLang="zh-CN" b="0" i="1" dirty="0" smtClean="0">
                        <a:latin typeface="Cambria Math" panose="02040503050406030204" pitchFamily="18" charset="0"/>
                      </a:rPr>
                      <m:t>~</m:t>
                    </m:r>
                    <m:r>
                      <a:rPr lang="en-US" altLang="zh-CN" b="0" i="1" dirty="0" smtClean="0">
                        <a:latin typeface="Cambria Math" panose="02040503050406030204" pitchFamily="18" charset="0"/>
                        <a:ea typeface="Cambria Math" panose="02040503050406030204" pitchFamily="18" charset="0"/>
                      </a:rPr>
                      <m:t>∞)</m:t>
                    </m:r>
                  </m:oMath>
                </a14:m>
                <a:endParaRPr lang="en-US" altLang="zh-CN" dirty="0"/>
              </a:p>
              <a:p>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𝐼</m:t>
                          </m:r>
                        </m:e>
                        <m:sub>
                          <m:r>
                            <m:rPr>
                              <m:sty m:val="p"/>
                            </m:rPr>
                            <a:rPr lang="en-US" altLang="zh-CN" b="0" i="0" smtClean="0">
                              <a:latin typeface="Cambria Math" panose="02040503050406030204" pitchFamily="18" charset="0"/>
                            </a:rPr>
                            <m:t>sc</m:t>
                          </m:r>
                        </m:sub>
                      </m:sSub>
                      <m:r>
                        <a:rPr lang="en-US" altLang="zh-CN" b="0" i="1" smtClean="0">
                          <a:latin typeface="Cambria Math" panose="02040503050406030204" pitchFamily="18" charset="0"/>
                        </a:rPr>
                        <m:t>=</m:t>
                      </m:r>
                      <m:r>
                        <a:rPr lang="en-US" altLang="zh-CN" i="1">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i="1">
                              <a:latin typeface="Cambria Math" panose="02040503050406030204" pitchFamily="18" charset="0"/>
                            </a:rPr>
                            <m:t>𝐴</m:t>
                          </m:r>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i="1">
                                  <a:latin typeface="Cambria Math" panose="02040503050406030204" pitchFamily="18" charset="0"/>
                                </a:rPr>
                                <m:t>𝑛</m:t>
                              </m:r>
                            </m:sub>
                          </m:sSub>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0</m:t>
                              </m:r>
                            </m:sub>
                          </m:sSub>
                        </m:den>
                      </m:f>
                      <m:r>
                        <a:rPr lang="en-US" altLang="zh-CN" b="0" i="1" smtClean="0">
                          <a:latin typeface="Cambria Math" panose="02040503050406030204" pitchFamily="18" charset="0"/>
                        </a:rPr>
                        <m:t>+</m:t>
                      </m:r>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i="1">
                                  <a:latin typeface="Cambria Math" panose="02040503050406030204" pitchFamily="18" charset="0"/>
                                </a:rPr>
                                <m:t>𝑛</m:t>
                              </m:r>
                            </m:sub>
                          </m:sSub>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b="0" i="1" smtClean="0">
                                  <a:latin typeface="Cambria Math" panose="02040503050406030204" pitchFamily="18" charset="0"/>
                                </a:rPr>
                                <m:t>𝑓</m:t>
                              </m:r>
                            </m:sub>
                          </m:sSub>
                        </m:den>
                      </m:f>
                      <m:r>
                        <a:rPr lang="en-US" altLang="zh-CN" b="0" i="1" smtClean="0">
                          <a:latin typeface="Cambria Math" panose="02040503050406030204" pitchFamily="18" charset="0"/>
                          <a:ea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m:t>
                          </m:r>
                          <m:r>
                            <a:rPr lang="en-US" altLang="zh-CN" b="0" i="1" smtClean="0">
                              <a:latin typeface="Cambria Math" panose="02040503050406030204" pitchFamily="18" charset="0"/>
                            </a:rPr>
                            <m:t>𝐴</m:t>
                          </m:r>
                          <m:r>
                            <m:rPr>
                              <m:nor/>
                            </m:rPr>
                            <a:rPr lang="en-US" altLang="zh-CN" kern="100" dirty="0">
                              <a:latin typeface="等线" panose="02010600030101010101" pitchFamily="2" charset="-122"/>
                              <a:ea typeface="等线" panose="02010600030101010101" pitchFamily="2" charset="-122"/>
                              <a:cs typeface="Times New Roman" panose="02020603050405020304" pitchFamily="18" charset="0"/>
                            </a:rPr>
                            <m:t>(</m:t>
                          </m:r>
                          <m:sSub>
                            <m:sSubPr>
                              <m:ctrlPr>
                                <a:rPr lang="en-US" altLang="zh-CN" i="1" kern="100" dirty="0" smtClean="0">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b="0" i="1" kern="100" dirty="0" smtClean="0">
                                  <a:latin typeface="Cambria Math" panose="02040503050406030204" pitchFamily="18" charset="0"/>
                                  <a:ea typeface="等线" panose="02010600030101010101" pitchFamily="2" charset="-122"/>
                                  <a:cs typeface="Times New Roman" panose="02020603050405020304" pitchFamily="18" charset="0"/>
                                </a:rPr>
                                <m:t>𝑖</m:t>
                              </m:r>
                            </m:e>
                            <m:sub>
                              <m:r>
                                <a:rPr lang="en-US" altLang="zh-CN" b="0" i="1" kern="100" dirty="0" smtClean="0">
                                  <a:latin typeface="Cambria Math" panose="02040503050406030204" pitchFamily="18" charset="0"/>
                                  <a:ea typeface="等线" panose="02010600030101010101" pitchFamily="2" charset="-122"/>
                                  <a:cs typeface="Times New Roman" panose="02020603050405020304" pitchFamily="18" charset="0"/>
                                </a:rPr>
                                <m:t>𝑠</m:t>
                              </m:r>
                            </m:sub>
                          </m:sSub>
                          <m:sSub>
                            <m:sSubPr>
                              <m:ctrlPr>
                                <a:rPr lang="en-US" altLang="zh-CN" i="1" kern="100" dirty="0">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i="1" kern="100" dirty="0">
                                  <a:latin typeface="Cambria Math" panose="02040503050406030204" pitchFamily="18" charset="0"/>
                                  <a:ea typeface="等线" panose="02010600030101010101" pitchFamily="2" charset="-122"/>
                                  <a:cs typeface="Times New Roman" panose="02020603050405020304" pitchFamily="18" charset="0"/>
                                </a:rPr>
                                <m:t>𝑅</m:t>
                              </m:r>
                            </m:e>
                            <m:sub>
                              <m:r>
                                <a:rPr lang="en-US" altLang="zh-CN" i="1" kern="100" dirty="0">
                                  <a:latin typeface="Cambria Math" panose="02040503050406030204" pitchFamily="18" charset="0"/>
                                  <a:ea typeface="等线" panose="02010600030101010101" pitchFamily="2" charset="-122"/>
                                  <a:cs typeface="Times New Roman" panose="02020603050405020304" pitchFamily="18" charset="0"/>
                                </a:rPr>
                                <m:t>2</m:t>
                              </m:r>
                            </m:sub>
                          </m:sSub>
                          <m:r>
                            <m:rPr>
                              <m:nor/>
                            </m:rPr>
                            <a:rPr lang="en-US" altLang="zh-CN" kern="100" dirty="0">
                              <a:latin typeface="等线" panose="02010600030101010101" pitchFamily="2" charset="-122"/>
                              <a:ea typeface="等线" panose="02010600030101010101" pitchFamily="2" charset="-122"/>
                              <a:cs typeface="Times New Roman" panose="020206030504050203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𝑓</m:t>
                              </m:r>
                            </m:sub>
                          </m:sSub>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0</m:t>
                              </m:r>
                            </m:sub>
                          </m:sSub>
                          <m:r>
                            <m:rPr>
                              <m:nor/>
                            </m:rPr>
                            <a:rPr lang="en-US" altLang="zh-CN" kern="100" dirty="0">
                              <a:latin typeface="等线" panose="02010600030101010101" pitchFamily="2" charset="-122"/>
                              <a:ea typeface="等线" panose="02010600030101010101" pitchFamily="2" charset="-122"/>
                              <a:cs typeface="Times New Roman" panose="02020603050405020304" pitchFamily="18" charset="0"/>
                            </a:rPr>
                            <m:t>(</m:t>
                          </m:r>
                          <m:sSub>
                            <m:sSubPr>
                              <m:ctrlPr>
                                <a:rPr lang="en-US" altLang="zh-CN" i="1" kern="100" dirty="0">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i="1" kern="100" dirty="0">
                                  <a:latin typeface="Cambria Math" panose="02040503050406030204" pitchFamily="18" charset="0"/>
                                  <a:ea typeface="等线" panose="02010600030101010101" pitchFamily="2" charset="-122"/>
                                  <a:cs typeface="Times New Roman" panose="02020603050405020304" pitchFamily="18" charset="0"/>
                                </a:rPr>
                                <m:t>𝑅</m:t>
                              </m:r>
                            </m:e>
                            <m:sub>
                              <m:r>
                                <a:rPr lang="en-US" altLang="zh-CN" i="1" kern="100" dirty="0">
                                  <a:latin typeface="Cambria Math" panose="02040503050406030204" pitchFamily="18" charset="0"/>
                                  <a:ea typeface="等线" panose="02010600030101010101" pitchFamily="2" charset="-122"/>
                                  <a:cs typeface="Times New Roman" panose="02020603050405020304" pitchFamily="18" charset="0"/>
                                </a:rPr>
                                <m:t>1</m:t>
                              </m:r>
                            </m:sub>
                          </m:sSub>
                          <m:r>
                            <m:rPr>
                              <m:nor/>
                            </m:rPr>
                            <a:rPr lang="en-US" altLang="zh-CN" kern="100" dirty="0">
                              <a:latin typeface="等线" panose="02010600030101010101" pitchFamily="2" charset="-122"/>
                              <a:ea typeface="等线" panose="02010600030101010101" pitchFamily="2" charset="-122"/>
                              <a:cs typeface="Times New Roman" panose="02020603050405020304" pitchFamily="18" charset="0"/>
                            </a:rPr>
                            <m:t>+</m:t>
                          </m:r>
                          <m:sSub>
                            <m:sSubPr>
                              <m:ctrlPr>
                                <a:rPr lang="en-US" altLang="zh-CN" i="1" kern="100" dirty="0">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i="1" kern="100" dirty="0">
                                  <a:latin typeface="Cambria Math" panose="02040503050406030204" pitchFamily="18" charset="0"/>
                                  <a:ea typeface="等线" panose="02010600030101010101" pitchFamily="2" charset="-122"/>
                                  <a:cs typeface="Times New Roman" panose="02020603050405020304" pitchFamily="18" charset="0"/>
                                </a:rPr>
                                <m:t>𝑅</m:t>
                              </m:r>
                            </m:e>
                            <m:sub>
                              <m:r>
                                <a:rPr lang="en-US" altLang="zh-CN" i="1" kern="100" dirty="0">
                                  <a:latin typeface="Cambria Math" panose="02040503050406030204" pitchFamily="18" charset="0"/>
                                  <a:ea typeface="等线" panose="02010600030101010101" pitchFamily="2" charset="-122"/>
                                  <a:cs typeface="Times New Roman" panose="02020603050405020304" pitchFamily="18" charset="0"/>
                                </a:rPr>
                                <m:t>2</m:t>
                              </m:r>
                            </m:sub>
                          </m:sSub>
                          <m:r>
                            <m:rPr>
                              <m:nor/>
                            </m:rPr>
                            <a:rPr lang="en-US" altLang="zh-CN" kern="100" dirty="0">
                              <a:latin typeface="等线" panose="02010600030101010101" pitchFamily="2" charset="-122"/>
                              <a:ea typeface="等线" panose="02010600030101010101" pitchFamily="2" charset="-122"/>
                              <a:cs typeface="Times New Roman" panose="020206030504050203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𝑓</m:t>
                              </m:r>
                            </m:sub>
                          </m:sSub>
                          <m:r>
                            <m:rPr>
                              <m:nor/>
                            </m:rPr>
                            <a:rPr lang="en-US" altLang="zh-CN" kern="100" dirty="0">
                              <a:latin typeface="等线" panose="02010600030101010101" pitchFamily="2" charset="-122"/>
                              <a:ea typeface="等线" panose="02010600030101010101" pitchFamily="2" charset="-122"/>
                              <a:cs typeface="Times New Roman" panose="02020603050405020304" pitchFamily="18" charset="0"/>
                            </a:rPr>
                            <m:t>)</m:t>
                          </m:r>
                          <m:r>
                            <m:rPr>
                              <m:nor/>
                            </m:rPr>
                            <a:rPr lang="en-US" altLang="zh-CN" kern="100" dirty="0">
                              <a:ea typeface="等线" panose="02010600030101010101" pitchFamily="2" charset="-122"/>
                              <a:cs typeface="Times New Roman" panose="02020603050405020304" pitchFamily="18" charset="0"/>
                            </a:rPr>
                            <m:t> </m:t>
                          </m:r>
                        </m:den>
                      </m:f>
                    </m:oMath>
                  </m:oMathPara>
                </a14:m>
                <a:endParaRPr lang="en-US" altLang="zh-CN" dirty="0"/>
              </a:p>
              <a:p>
                <a:endParaRPr lang="en-US" altLang="zh-CN" dirty="0"/>
              </a:p>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𝑅</m:t>
                          </m:r>
                        </m:e>
                        <m:sub>
                          <m:r>
                            <m:rPr>
                              <m:sty m:val="p"/>
                            </m:rPr>
                            <a:rPr lang="en-US" altLang="zh-CN" b="0" i="0" smtClean="0">
                              <a:latin typeface="Cambria Math" panose="02040503050406030204" pitchFamily="18" charset="0"/>
                            </a:rPr>
                            <m:t>Th</m:t>
                          </m:r>
                        </m:sub>
                      </m:sSub>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𝑉</m:t>
                              </m:r>
                            </m:e>
                            <m:sub>
                              <m:r>
                                <m:rPr>
                                  <m:sty m:val="p"/>
                                </m:rPr>
                                <a:rPr lang="en-US" altLang="zh-CN" b="0" i="0" smtClean="0">
                                  <a:latin typeface="Cambria Math" panose="02040503050406030204" pitchFamily="18" charset="0"/>
                                </a:rPr>
                                <m:t>oc</m:t>
                              </m:r>
                            </m:sub>
                          </m:sSub>
                        </m:num>
                        <m:den>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𝐼</m:t>
                              </m:r>
                            </m:e>
                            <m:sub>
                              <m:r>
                                <m:rPr>
                                  <m:sty m:val="p"/>
                                </m:rPr>
                                <a:rPr lang="en-US" altLang="zh-CN" b="0" i="0" smtClean="0">
                                  <a:latin typeface="Cambria Math" panose="02040503050406030204" pitchFamily="18" charset="0"/>
                                </a:rPr>
                                <m:t>sc</m:t>
                              </m:r>
                            </m:sub>
                          </m:sSub>
                        </m:den>
                      </m:f>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𝑅</m:t>
                              </m:r>
                            </m:e>
                            <m:sub>
                              <m:r>
                                <a:rPr lang="en-US" altLang="zh-CN" b="0" i="1" smtClean="0">
                                  <a:latin typeface="Cambria Math" panose="02040503050406030204" pitchFamily="18" charset="0"/>
                                </a:rPr>
                                <m:t>0</m:t>
                              </m:r>
                            </m:sub>
                          </m:sSub>
                          <m:r>
                            <m:rPr>
                              <m:nor/>
                            </m:rPr>
                            <a:rPr lang="en-US" altLang="zh-CN" kern="100" dirty="0">
                              <a:latin typeface="等线" panose="02010600030101010101" pitchFamily="2" charset="-122"/>
                              <a:ea typeface="等线" panose="02010600030101010101" pitchFamily="2" charset="-122"/>
                              <a:cs typeface="Times New Roman" panose="02020603050405020304" pitchFamily="18" charset="0"/>
                            </a:rPr>
                            <m:t>(</m:t>
                          </m:r>
                          <m:sSub>
                            <m:sSubPr>
                              <m:ctrlPr>
                                <a:rPr lang="en-US" altLang="zh-CN" i="1" kern="100" dirty="0">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i="1" kern="100" dirty="0">
                                  <a:latin typeface="Cambria Math" panose="02040503050406030204" pitchFamily="18" charset="0"/>
                                  <a:ea typeface="等线" panose="02010600030101010101" pitchFamily="2" charset="-122"/>
                                  <a:cs typeface="Times New Roman" panose="02020603050405020304" pitchFamily="18" charset="0"/>
                                </a:rPr>
                                <m:t>𝑅</m:t>
                              </m:r>
                            </m:e>
                            <m:sub>
                              <m:r>
                                <a:rPr lang="en-US" altLang="zh-CN" i="1" kern="100" dirty="0">
                                  <a:latin typeface="Cambria Math" panose="02040503050406030204" pitchFamily="18" charset="0"/>
                                  <a:ea typeface="等线" panose="02010600030101010101" pitchFamily="2" charset="-122"/>
                                  <a:cs typeface="Times New Roman" panose="02020603050405020304" pitchFamily="18" charset="0"/>
                                </a:rPr>
                                <m:t>1</m:t>
                              </m:r>
                            </m:sub>
                          </m:sSub>
                          <m:r>
                            <m:rPr>
                              <m:nor/>
                            </m:rPr>
                            <a:rPr lang="en-US" altLang="zh-CN" kern="100" dirty="0">
                              <a:latin typeface="等线" panose="02010600030101010101" pitchFamily="2" charset="-122"/>
                              <a:ea typeface="等线" panose="02010600030101010101" pitchFamily="2" charset="-122"/>
                              <a:cs typeface="Times New Roman" panose="02020603050405020304" pitchFamily="18" charset="0"/>
                            </a:rPr>
                            <m:t>+</m:t>
                          </m:r>
                          <m:sSub>
                            <m:sSubPr>
                              <m:ctrlPr>
                                <a:rPr lang="en-US" altLang="zh-CN" i="1" kern="100" dirty="0">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i="1" kern="100" dirty="0">
                                  <a:latin typeface="Cambria Math" panose="02040503050406030204" pitchFamily="18" charset="0"/>
                                  <a:ea typeface="等线" panose="02010600030101010101" pitchFamily="2" charset="-122"/>
                                  <a:cs typeface="Times New Roman" panose="02020603050405020304" pitchFamily="18" charset="0"/>
                                </a:rPr>
                                <m:t>𝑅</m:t>
                              </m:r>
                            </m:e>
                            <m:sub>
                              <m:r>
                                <a:rPr lang="en-US" altLang="zh-CN" i="1" kern="100" dirty="0">
                                  <a:latin typeface="Cambria Math" panose="02040503050406030204" pitchFamily="18" charset="0"/>
                                  <a:ea typeface="等线" panose="02010600030101010101" pitchFamily="2" charset="-122"/>
                                  <a:cs typeface="Times New Roman" panose="02020603050405020304" pitchFamily="18" charset="0"/>
                                </a:rPr>
                                <m:t>2</m:t>
                              </m:r>
                            </m:sub>
                          </m:sSub>
                          <m:r>
                            <m:rPr>
                              <m:nor/>
                            </m:rPr>
                            <a:rPr lang="en-US" altLang="zh-CN" kern="100" dirty="0">
                              <a:latin typeface="等线" panose="02010600030101010101" pitchFamily="2" charset="-122"/>
                              <a:ea typeface="等线" panose="02010600030101010101" pitchFamily="2" charset="-122"/>
                              <a:cs typeface="Times New Roman" panose="020206030504050203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𝑓</m:t>
                              </m:r>
                            </m:sub>
                          </m:sSub>
                          <m:r>
                            <m:rPr>
                              <m:nor/>
                            </m:rPr>
                            <a:rPr lang="en-US" altLang="zh-CN" kern="100" dirty="0">
                              <a:latin typeface="等线" panose="02010600030101010101" pitchFamily="2" charset="-122"/>
                              <a:ea typeface="等线" panose="02010600030101010101" pitchFamily="2" charset="-122"/>
                              <a:cs typeface="Times New Roman" panose="02020603050405020304" pitchFamily="18" charset="0"/>
                            </a:rPr>
                            <m:t>)</m:t>
                          </m:r>
                        </m:num>
                        <m:den>
                          <m:r>
                            <a:rPr lang="en-US" altLang="zh-CN" b="0" i="1" smtClean="0">
                              <a:latin typeface="Cambria Math" panose="02040503050406030204" pitchFamily="18" charset="0"/>
                            </a:rPr>
                            <m:t>𝐴</m:t>
                          </m:r>
                          <m:r>
                            <m:rPr>
                              <m:nor/>
                            </m:rPr>
                            <a:rPr lang="en-US" altLang="zh-CN" kern="100" dirty="0">
                              <a:latin typeface="等线" panose="02010600030101010101" pitchFamily="2" charset="-122"/>
                              <a:ea typeface="等线" panose="02010600030101010101" pitchFamily="2" charset="-122"/>
                              <a:cs typeface="Times New Roman" panose="02020603050405020304" pitchFamily="18" charset="0"/>
                            </a:rPr>
                            <m:t>(</m:t>
                          </m:r>
                          <m:sSub>
                            <m:sSubPr>
                              <m:ctrlPr>
                                <a:rPr lang="en-US" altLang="zh-CN" i="1" kern="100" dirty="0">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i="1" kern="100" dirty="0">
                                  <a:latin typeface="Cambria Math" panose="02040503050406030204" pitchFamily="18" charset="0"/>
                                  <a:ea typeface="等线" panose="02010600030101010101" pitchFamily="2" charset="-122"/>
                                  <a:cs typeface="Times New Roman" panose="02020603050405020304" pitchFamily="18" charset="0"/>
                                </a:rPr>
                                <m:t>𝑅</m:t>
                              </m:r>
                            </m:e>
                            <m:sub>
                              <m:r>
                                <a:rPr lang="en-US" altLang="zh-CN" i="1" kern="100" dirty="0">
                                  <a:latin typeface="Cambria Math" panose="02040503050406030204" pitchFamily="18" charset="0"/>
                                  <a:ea typeface="等线" panose="02010600030101010101" pitchFamily="2" charset="-122"/>
                                  <a:cs typeface="Times New Roman" panose="02020603050405020304" pitchFamily="18" charset="0"/>
                                </a:rPr>
                                <m:t>1</m:t>
                              </m:r>
                            </m:sub>
                          </m:sSub>
                          <m:r>
                            <m:rPr>
                              <m:nor/>
                            </m:rPr>
                            <a:rPr lang="en-US" altLang="zh-CN" kern="100" dirty="0">
                              <a:latin typeface="等线" panose="02010600030101010101" pitchFamily="2" charset="-122"/>
                              <a:ea typeface="等线" panose="02010600030101010101" pitchFamily="2" charset="-122"/>
                              <a:cs typeface="Times New Roman" panose="02020603050405020304" pitchFamily="18" charset="0"/>
                            </a:rPr>
                            <m:t>+</m:t>
                          </m:r>
                          <m:sSub>
                            <m:sSubPr>
                              <m:ctrlPr>
                                <a:rPr lang="en-US" altLang="zh-CN" i="1" kern="100" dirty="0">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i="1" kern="100" dirty="0">
                                  <a:latin typeface="Cambria Math" panose="02040503050406030204" pitchFamily="18" charset="0"/>
                                  <a:ea typeface="等线" panose="02010600030101010101" pitchFamily="2" charset="-122"/>
                                  <a:cs typeface="Times New Roman" panose="02020603050405020304" pitchFamily="18" charset="0"/>
                                </a:rPr>
                                <m:t>𝑅</m:t>
                              </m:r>
                            </m:e>
                            <m:sub>
                              <m:r>
                                <a:rPr lang="en-US" altLang="zh-CN" i="1" kern="100" dirty="0">
                                  <a:latin typeface="Cambria Math" panose="02040503050406030204" pitchFamily="18" charset="0"/>
                                  <a:ea typeface="等线" panose="02010600030101010101" pitchFamily="2" charset="-122"/>
                                  <a:cs typeface="Times New Roman" panose="02020603050405020304" pitchFamily="18" charset="0"/>
                                </a:rPr>
                                <m:t>2</m:t>
                              </m:r>
                            </m:sub>
                          </m:sSub>
                          <m:r>
                            <m:rPr>
                              <m:nor/>
                            </m:rPr>
                            <a:rPr lang="en-US" altLang="zh-CN" kern="100" dirty="0">
                              <a:latin typeface="等线" panose="02010600030101010101" pitchFamily="2" charset="-122"/>
                              <a:ea typeface="等线" panose="02010600030101010101" pitchFamily="2" charset="-122"/>
                              <a:cs typeface="Times New Roman" panose="02020603050405020304" pitchFamily="18" charset="0"/>
                            </a:rPr>
                            <m:t>)</m:t>
                          </m:r>
                        </m:den>
                      </m:f>
                      <m:r>
                        <a:rPr lang="en-US" altLang="zh-CN" b="0" i="1" smtClean="0">
                          <a:latin typeface="Cambria Math" panose="02040503050406030204" pitchFamily="18" charset="0"/>
                          <a:ea typeface="Cambria Math" panose="02040503050406030204" pitchFamily="18" charset="0"/>
                        </a:rPr>
                        <m:t>~</m:t>
                      </m:r>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0</m:t>
                              </m:r>
                            </m:sub>
                          </m:sSub>
                        </m:num>
                        <m:den>
                          <m:r>
                            <a:rPr lang="en-US" altLang="zh-CN" i="1">
                              <a:latin typeface="Cambria Math" panose="02040503050406030204" pitchFamily="18" charset="0"/>
                            </a:rPr>
                            <m:t>𝐴</m:t>
                          </m:r>
                        </m:den>
                      </m:f>
                    </m:oMath>
                  </m:oMathPara>
                </a14:m>
                <a:endParaRPr lang="en-US" altLang="zh-CN" dirty="0"/>
              </a:p>
              <a:p>
                <a:r>
                  <a:rPr lang="en-US" altLang="zh-CN" dirty="0"/>
                  <a:t>                      </a:t>
                </a:r>
              </a:p>
            </p:txBody>
          </p:sp>
        </mc:Choice>
        <mc:Fallback xmlns="">
          <p:sp>
            <p:nvSpPr>
              <p:cNvPr id="3" name="文本框 2">
                <a:extLst>
                  <a:ext uri="{FF2B5EF4-FFF2-40B4-BE49-F238E27FC236}">
                    <a16:creationId xmlns:a16="http://schemas.microsoft.com/office/drawing/2014/main" id="{50C4EA1C-F0BE-4828-B8C1-2C21D1FA1B41}"/>
                  </a:ext>
                </a:extLst>
              </p:cNvPr>
              <p:cNvSpPr txBox="1">
                <a:spLocks noRot="1" noChangeAspect="1" noMove="1" noResize="1" noEditPoints="1" noAdjustHandles="1" noChangeArrowheads="1" noChangeShapeType="1" noTextEdit="1"/>
              </p:cNvSpPr>
              <p:nvPr/>
            </p:nvSpPr>
            <p:spPr>
              <a:xfrm>
                <a:off x="4945773" y="4269852"/>
                <a:ext cx="4115486" cy="2680542"/>
              </a:xfrm>
              <a:prstGeom prst="rect">
                <a:avLst/>
              </a:prstGeom>
              <a:blipFill>
                <a:blip r:embed="rId3"/>
                <a:stretch>
                  <a:fillRect/>
                </a:stretch>
              </a:blipFill>
            </p:spPr>
            <p:txBody>
              <a:bodyPr/>
              <a:lstStyle/>
              <a:p>
                <a:r>
                  <a:rPr lang="zh-CN" altLang="en-US">
                    <a:noFill/>
                  </a:rPr>
                  <a:t> </a:t>
                </a:r>
              </a:p>
            </p:txBody>
          </p:sp>
        </mc:Fallback>
      </mc:AlternateContent>
      <p:grpSp>
        <p:nvGrpSpPr>
          <p:cNvPr id="25" name="组合 24">
            <a:extLst>
              <a:ext uri="{FF2B5EF4-FFF2-40B4-BE49-F238E27FC236}">
                <a16:creationId xmlns:a16="http://schemas.microsoft.com/office/drawing/2014/main" id="{ED32FE77-D609-4C3B-9B07-DEB211EB67B9}"/>
              </a:ext>
            </a:extLst>
          </p:cNvPr>
          <p:cNvGrpSpPr/>
          <p:nvPr/>
        </p:nvGrpSpPr>
        <p:grpSpPr>
          <a:xfrm>
            <a:off x="199793" y="4354286"/>
            <a:ext cx="4877481" cy="2257740"/>
            <a:chOff x="381000" y="3269123"/>
            <a:chExt cx="4877481" cy="2257740"/>
          </a:xfrm>
        </p:grpSpPr>
        <p:pic>
          <p:nvPicPr>
            <p:cNvPr id="23" name="图片 22">
              <a:extLst>
                <a:ext uri="{FF2B5EF4-FFF2-40B4-BE49-F238E27FC236}">
                  <a16:creationId xmlns:a16="http://schemas.microsoft.com/office/drawing/2014/main" id="{A6E07B48-55D7-429D-94C5-6F63E92143C9}"/>
                </a:ext>
              </a:extLst>
            </p:cNvPr>
            <p:cNvPicPr>
              <a:picLocks noChangeAspect="1"/>
            </p:cNvPicPr>
            <p:nvPr/>
          </p:nvPicPr>
          <p:blipFill>
            <a:blip r:embed="rId4"/>
            <a:stretch>
              <a:fillRect/>
            </a:stretch>
          </p:blipFill>
          <p:spPr>
            <a:xfrm>
              <a:off x="381000" y="3269123"/>
              <a:ext cx="4877481" cy="2257740"/>
            </a:xfrm>
            <a:prstGeom prst="rect">
              <a:avLst/>
            </a:prstGeom>
          </p:spPr>
        </p:pic>
        <p:sp>
          <p:nvSpPr>
            <p:cNvPr id="18" name="矩形 17">
              <a:extLst>
                <a:ext uri="{FF2B5EF4-FFF2-40B4-BE49-F238E27FC236}">
                  <a16:creationId xmlns:a16="http://schemas.microsoft.com/office/drawing/2014/main" id="{E4433F5A-ABF2-4856-9050-18A952EA7A0B}"/>
                </a:ext>
              </a:extLst>
            </p:cNvPr>
            <p:cNvSpPr/>
            <p:nvPr/>
          </p:nvSpPr>
          <p:spPr>
            <a:xfrm>
              <a:off x="928926" y="4742248"/>
              <a:ext cx="981359" cy="400110"/>
            </a:xfrm>
            <a:prstGeom prst="rect">
              <a:avLst/>
            </a:prstGeom>
          </p:spPr>
          <p:txBody>
            <a:bodyPr wrap="none">
              <a:spAutoFit/>
            </a:bodyPr>
            <a:lstStyle/>
            <a:p>
              <a:r>
                <a:rPr lang="en-US" altLang="zh-CN" kern="100" dirty="0">
                  <a:latin typeface="等线" panose="02010600030101010101" pitchFamily="2" charset="-122"/>
                  <a:ea typeface="等线" panose="02010600030101010101" pitchFamily="2" charset="-122"/>
                  <a:cs typeface="Times New Roman" panose="02020603050405020304" pitchFamily="18" charset="0"/>
                </a:rPr>
                <a:t>V</a:t>
              </a:r>
              <a:r>
                <a:rPr lang="en-US" altLang="zh-CN" kern="100" baseline="-25000" dirty="0">
                  <a:latin typeface="等线" panose="02010600030101010101" pitchFamily="2" charset="-122"/>
                  <a:ea typeface="等线" panose="02010600030101010101" pitchFamily="2" charset="-122"/>
                  <a:cs typeface="Times New Roman" panose="02020603050405020304" pitchFamily="18" charset="0"/>
                </a:rPr>
                <a:t>s</a:t>
              </a:r>
              <a:r>
                <a:rPr lang="en-US" altLang="zh-CN" kern="100" dirty="0">
                  <a:latin typeface="等线" panose="02010600030101010101" pitchFamily="2" charset="-122"/>
                  <a:ea typeface="等线" panose="02010600030101010101" pitchFamily="2" charset="-122"/>
                  <a:cs typeface="Times New Roman" panose="02020603050405020304" pitchFamily="18" charset="0"/>
                </a:rPr>
                <a:t>=i</a:t>
              </a:r>
              <a:r>
                <a:rPr lang="en-US" altLang="zh-CN" kern="100" baseline="-25000" dirty="0">
                  <a:latin typeface="等线" panose="02010600030101010101" pitchFamily="2" charset="-122"/>
                  <a:ea typeface="等线" panose="02010600030101010101" pitchFamily="2" charset="-122"/>
                  <a:cs typeface="Times New Roman" panose="02020603050405020304" pitchFamily="18" charset="0"/>
                </a:rPr>
                <a:t>s</a:t>
              </a:r>
              <a:r>
                <a:rPr lang="en-US" altLang="zh-CN" kern="100" dirty="0">
                  <a:latin typeface="等线" panose="02010600030101010101" pitchFamily="2" charset="-122"/>
                  <a:ea typeface="等线" panose="02010600030101010101" pitchFamily="2" charset="-122"/>
                  <a:cs typeface="Times New Roman" panose="02020603050405020304" pitchFamily="18" charset="0"/>
                </a:rPr>
                <a:t>R</a:t>
              </a:r>
              <a:r>
                <a:rPr lang="en-US" altLang="zh-CN" kern="100" baseline="-25000" dirty="0">
                  <a:latin typeface="等线" panose="02010600030101010101" pitchFamily="2" charset="-122"/>
                  <a:ea typeface="等线" panose="02010600030101010101" pitchFamily="2" charset="-122"/>
                  <a:cs typeface="Times New Roman" panose="02020603050405020304" pitchFamily="18" charset="0"/>
                </a:rPr>
                <a:t>2</a:t>
              </a:r>
              <a:endParaRPr lang="zh-CN" altLang="en-US" dirty="0"/>
            </a:p>
          </p:txBody>
        </p:sp>
      </p:grpSp>
      <p:sp>
        <p:nvSpPr>
          <p:cNvPr id="24" name="文本框 23">
            <a:extLst>
              <a:ext uri="{FF2B5EF4-FFF2-40B4-BE49-F238E27FC236}">
                <a16:creationId xmlns:a16="http://schemas.microsoft.com/office/drawing/2014/main" id="{509C9CB9-ADAE-40BB-8F50-60002FB70308}"/>
              </a:ext>
            </a:extLst>
          </p:cNvPr>
          <p:cNvSpPr txBox="1"/>
          <p:nvPr/>
        </p:nvSpPr>
        <p:spPr>
          <a:xfrm>
            <a:off x="1371600" y="1223615"/>
            <a:ext cx="1552028" cy="707886"/>
          </a:xfrm>
          <a:prstGeom prst="rect">
            <a:avLst/>
          </a:prstGeom>
          <a:noFill/>
        </p:spPr>
        <p:txBody>
          <a:bodyPr wrap="none" rtlCol="0">
            <a:spAutoFit/>
          </a:bodyPr>
          <a:lstStyle/>
          <a:p>
            <a:r>
              <a:rPr lang="en-US" altLang="zh-CN" dirty="0"/>
              <a:t>Open circuit</a:t>
            </a:r>
            <a:endParaRPr lang="en-US" altLang="zh-CN" kern="100" dirty="0">
              <a:latin typeface="等线" panose="02010600030101010101" pitchFamily="2" charset="-122"/>
              <a:ea typeface="等线" panose="02010600030101010101" pitchFamily="2" charset="-122"/>
              <a:cs typeface="Times New Roman" panose="02020603050405020304" pitchFamily="18" charset="0"/>
            </a:endParaRPr>
          </a:p>
          <a:p>
            <a:endParaRPr lang="en-US" altLang="zh-CN" dirty="0"/>
          </a:p>
        </p:txBody>
      </p:sp>
      <p:sp>
        <p:nvSpPr>
          <p:cNvPr id="26" name="矩形 25">
            <a:extLst>
              <a:ext uri="{FF2B5EF4-FFF2-40B4-BE49-F238E27FC236}">
                <a16:creationId xmlns:a16="http://schemas.microsoft.com/office/drawing/2014/main" id="{4B476777-EF67-499C-A486-1652F93B0193}"/>
              </a:ext>
            </a:extLst>
          </p:cNvPr>
          <p:cNvSpPr/>
          <p:nvPr/>
        </p:nvSpPr>
        <p:spPr>
          <a:xfrm>
            <a:off x="1668612" y="4069797"/>
            <a:ext cx="1608133" cy="400110"/>
          </a:xfrm>
          <a:prstGeom prst="rect">
            <a:avLst/>
          </a:prstGeom>
        </p:spPr>
        <p:txBody>
          <a:bodyPr wrap="none">
            <a:spAutoFit/>
          </a:bodyPr>
          <a:lstStyle/>
          <a:p>
            <a:r>
              <a:rPr lang="en-US" altLang="zh-CN" dirty="0"/>
              <a:t>Short circuit </a:t>
            </a:r>
            <a:endParaRPr lang="zh-CN" altLang="en-US" dirty="0"/>
          </a:p>
        </p:txBody>
      </p:sp>
      <p:cxnSp>
        <p:nvCxnSpPr>
          <p:cNvPr id="30" name="直接箭头连接符 29">
            <a:extLst>
              <a:ext uri="{FF2B5EF4-FFF2-40B4-BE49-F238E27FC236}">
                <a16:creationId xmlns:a16="http://schemas.microsoft.com/office/drawing/2014/main" id="{A86B2F7B-C3BA-4FFC-80C2-518BBA50790A}"/>
              </a:ext>
            </a:extLst>
          </p:cNvPr>
          <p:cNvCxnSpPr>
            <a:cxnSpLocks/>
          </p:cNvCxnSpPr>
          <p:nvPr/>
        </p:nvCxnSpPr>
        <p:spPr>
          <a:xfrm>
            <a:off x="4152605" y="5407714"/>
            <a:ext cx="21600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矩形 32">
                <a:extLst>
                  <a:ext uri="{FF2B5EF4-FFF2-40B4-BE49-F238E27FC236}">
                    <a16:creationId xmlns:a16="http://schemas.microsoft.com/office/drawing/2014/main" id="{4BA87FF2-7DB1-42F9-AE3C-429E04562716}"/>
                  </a:ext>
                </a:extLst>
              </p:cNvPr>
              <p:cNvSpPr/>
              <p:nvPr/>
            </p:nvSpPr>
            <p:spPr>
              <a:xfrm>
                <a:off x="4113631" y="4996718"/>
                <a:ext cx="534569"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𝐼</m:t>
                          </m:r>
                        </m:e>
                        <m:sub>
                          <m:r>
                            <m:rPr>
                              <m:sty m:val="p"/>
                            </m:rPr>
                            <a:rPr lang="en-US" altLang="zh-CN">
                              <a:latin typeface="Cambria Math" panose="02040503050406030204" pitchFamily="18" charset="0"/>
                            </a:rPr>
                            <m:t>sc</m:t>
                          </m:r>
                        </m:sub>
                      </m:sSub>
                    </m:oMath>
                  </m:oMathPara>
                </a14:m>
                <a:endParaRPr lang="zh-CN" altLang="en-US" dirty="0"/>
              </a:p>
            </p:txBody>
          </p:sp>
        </mc:Choice>
        <mc:Fallback xmlns="">
          <p:sp>
            <p:nvSpPr>
              <p:cNvPr id="33" name="矩形 32">
                <a:extLst>
                  <a:ext uri="{FF2B5EF4-FFF2-40B4-BE49-F238E27FC236}">
                    <a16:creationId xmlns:a16="http://schemas.microsoft.com/office/drawing/2014/main" id="{4BA87FF2-7DB1-42F9-AE3C-429E04562716}"/>
                  </a:ext>
                </a:extLst>
              </p:cNvPr>
              <p:cNvSpPr>
                <a:spLocks noRot="1" noChangeAspect="1" noMove="1" noResize="1" noEditPoints="1" noAdjustHandles="1" noChangeArrowheads="1" noChangeShapeType="1" noTextEdit="1"/>
              </p:cNvSpPr>
              <p:nvPr/>
            </p:nvSpPr>
            <p:spPr>
              <a:xfrm>
                <a:off x="4113631" y="4996718"/>
                <a:ext cx="534569" cy="400110"/>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169626CA-D846-4CF5-88CC-5BE6BB3F9E58}"/>
                  </a:ext>
                </a:extLst>
              </p:cNvPr>
              <p:cNvSpPr txBox="1"/>
              <p:nvPr/>
            </p:nvSpPr>
            <p:spPr>
              <a:xfrm>
                <a:off x="3902695" y="2525484"/>
                <a:ext cx="577209"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𝑉</m:t>
                          </m:r>
                        </m:e>
                        <m:sub>
                          <m:r>
                            <m:rPr>
                              <m:sty m:val="p"/>
                            </m:rPr>
                            <a:rPr lang="en-US" altLang="zh-CN" b="0" i="0" smtClean="0">
                              <a:latin typeface="Cambria Math" panose="02040503050406030204" pitchFamily="18" charset="0"/>
                            </a:rPr>
                            <m:t>oc</m:t>
                          </m:r>
                        </m:sub>
                      </m:sSub>
                    </m:oMath>
                  </m:oMathPara>
                </a14:m>
                <a:endParaRPr lang="zh-CN" altLang="en-US" dirty="0"/>
              </a:p>
            </p:txBody>
          </p:sp>
        </mc:Choice>
        <mc:Fallback xmlns="">
          <p:sp>
            <p:nvSpPr>
              <p:cNvPr id="5" name="文本框 4">
                <a:extLst>
                  <a:ext uri="{FF2B5EF4-FFF2-40B4-BE49-F238E27FC236}">
                    <a16:creationId xmlns:a16="http://schemas.microsoft.com/office/drawing/2014/main" id="{169626CA-D846-4CF5-88CC-5BE6BB3F9E58}"/>
                  </a:ext>
                </a:extLst>
              </p:cNvPr>
              <p:cNvSpPr txBox="1">
                <a:spLocks noRot="1" noChangeAspect="1" noMove="1" noResize="1" noEditPoints="1" noAdjustHandles="1" noChangeArrowheads="1" noChangeShapeType="1" noTextEdit="1"/>
              </p:cNvSpPr>
              <p:nvPr/>
            </p:nvSpPr>
            <p:spPr>
              <a:xfrm>
                <a:off x="3902695" y="2525484"/>
                <a:ext cx="577209" cy="400110"/>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矩形 15">
                <a:extLst>
                  <a:ext uri="{FF2B5EF4-FFF2-40B4-BE49-F238E27FC236}">
                    <a16:creationId xmlns:a16="http://schemas.microsoft.com/office/drawing/2014/main" id="{48213C94-67FB-466B-9D93-AF8111344DDB}"/>
                  </a:ext>
                </a:extLst>
              </p:cNvPr>
              <p:cNvSpPr/>
              <p:nvPr/>
            </p:nvSpPr>
            <p:spPr>
              <a:xfrm>
                <a:off x="4856498" y="1662503"/>
                <a:ext cx="4146272" cy="904863"/>
              </a:xfrm>
              <a:prstGeom prst="rect">
                <a:avLst/>
              </a:prstGeom>
            </p:spPr>
            <p:txBody>
              <a:bodyPr wrap="square">
                <a:spAutoFit/>
              </a:bodyPr>
              <a:lstStyle/>
              <a:p>
                <a:r>
                  <a:rPr lang="en-US" altLang="zh-CN" dirty="0"/>
                  <a:t>From ideal op-amp approximation, we have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m:rPr>
                            <m:sty m:val="p"/>
                          </m:rPr>
                          <a:rPr lang="en-US" altLang="zh-CN">
                            <a:latin typeface="Cambria Math" panose="02040503050406030204" pitchFamily="18" charset="0"/>
                          </a:rPr>
                          <m:t>oc</m:t>
                        </m:r>
                      </m:sub>
                    </m:sSub>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m:t>
                        </m:r>
                        <m:sSub>
                          <m:sSubPr>
                            <m:ctrlPr>
                              <a:rPr lang="en-US" altLang="zh-CN" i="1" kern="100" dirty="0">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i="1" kern="100" dirty="0">
                                <a:latin typeface="Cambria Math" panose="02040503050406030204" pitchFamily="18" charset="0"/>
                                <a:ea typeface="等线" panose="02010600030101010101" pitchFamily="2" charset="-122"/>
                                <a:cs typeface="Times New Roman" panose="02020603050405020304" pitchFamily="18" charset="0"/>
                              </a:rPr>
                              <m:t>𝑖</m:t>
                            </m:r>
                          </m:e>
                          <m:sub>
                            <m:r>
                              <a:rPr lang="en-US" altLang="zh-CN" i="1" kern="100" dirty="0">
                                <a:latin typeface="Cambria Math" panose="02040503050406030204" pitchFamily="18" charset="0"/>
                                <a:ea typeface="等线" panose="02010600030101010101" pitchFamily="2" charset="-122"/>
                                <a:cs typeface="Times New Roman" panose="02020603050405020304" pitchFamily="18" charset="0"/>
                              </a:rPr>
                              <m:t>𝑠</m:t>
                            </m:r>
                          </m:sub>
                        </m:sSub>
                        <m:sSub>
                          <m:sSubPr>
                            <m:ctrlPr>
                              <a:rPr lang="en-US" altLang="zh-CN" i="1" kern="100" dirty="0">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i="1" kern="100" dirty="0">
                                <a:latin typeface="Cambria Math" panose="02040503050406030204" pitchFamily="18" charset="0"/>
                                <a:ea typeface="等线" panose="02010600030101010101" pitchFamily="2" charset="-122"/>
                                <a:cs typeface="Times New Roman" panose="02020603050405020304" pitchFamily="18" charset="0"/>
                              </a:rPr>
                              <m:t>𝑅</m:t>
                            </m:r>
                          </m:e>
                          <m:sub>
                            <m:r>
                              <a:rPr lang="en-US" altLang="zh-CN" i="1" kern="100" dirty="0">
                                <a:latin typeface="Cambria Math" panose="02040503050406030204" pitchFamily="18" charset="0"/>
                                <a:ea typeface="等线" panose="02010600030101010101" pitchFamily="2" charset="-122"/>
                                <a:cs typeface="Times New Roman" panose="02020603050405020304" pitchFamily="18" charset="0"/>
                              </a:rPr>
                              <m:t>2</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𝑓</m:t>
                            </m:r>
                          </m:sub>
                        </m:sSub>
                      </m:num>
                      <m:den>
                        <m:r>
                          <a:rPr lang="en-US" altLang="zh-CN" i="1">
                            <a:latin typeface="Cambria Math" panose="02040503050406030204" pitchFamily="18" charset="0"/>
                          </a:rPr>
                          <m:t> </m:t>
                        </m:r>
                        <m:sSub>
                          <m:sSubPr>
                            <m:ctrlPr>
                              <a:rPr lang="en-US" altLang="zh-CN" i="1" kern="100" dirty="0">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i="1" kern="100" dirty="0">
                                <a:latin typeface="Cambria Math" panose="02040503050406030204" pitchFamily="18" charset="0"/>
                                <a:ea typeface="等线" panose="02010600030101010101" pitchFamily="2" charset="-122"/>
                                <a:cs typeface="Times New Roman" panose="02020603050405020304" pitchFamily="18" charset="0"/>
                              </a:rPr>
                              <m:t>𝑅</m:t>
                            </m:r>
                          </m:e>
                          <m:sub>
                            <m:r>
                              <a:rPr lang="en-US" altLang="zh-CN" i="1" kern="100" dirty="0">
                                <a:latin typeface="Cambria Math" panose="02040503050406030204" pitchFamily="18" charset="0"/>
                                <a:ea typeface="等线" panose="02010600030101010101" pitchFamily="2" charset="-122"/>
                                <a:cs typeface="Times New Roman" panose="02020603050405020304" pitchFamily="18" charset="0"/>
                              </a:rPr>
                              <m:t>1</m:t>
                            </m:r>
                          </m:sub>
                        </m:sSub>
                        <m:r>
                          <m:rPr>
                            <m:nor/>
                          </m:rPr>
                          <a:rPr lang="en-US" altLang="zh-CN" kern="100" dirty="0">
                            <a:latin typeface="等线" panose="02010600030101010101" pitchFamily="2" charset="-122"/>
                            <a:ea typeface="等线" panose="02010600030101010101" pitchFamily="2" charset="-122"/>
                            <a:cs typeface="Times New Roman" panose="02020603050405020304" pitchFamily="18" charset="0"/>
                          </a:rPr>
                          <m:t>+</m:t>
                        </m:r>
                        <m:sSub>
                          <m:sSubPr>
                            <m:ctrlPr>
                              <a:rPr lang="en-US" altLang="zh-CN" i="1" kern="100" dirty="0">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i="1" kern="100" dirty="0">
                                <a:latin typeface="Cambria Math" panose="02040503050406030204" pitchFamily="18" charset="0"/>
                                <a:ea typeface="等线" panose="02010600030101010101" pitchFamily="2" charset="-122"/>
                                <a:cs typeface="Times New Roman" panose="02020603050405020304" pitchFamily="18" charset="0"/>
                              </a:rPr>
                              <m:t>𝑅</m:t>
                            </m:r>
                          </m:e>
                          <m:sub>
                            <m:r>
                              <a:rPr lang="en-US" altLang="zh-CN" i="1" kern="100" dirty="0">
                                <a:latin typeface="Cambria Math" panose="02040503050406030204" pitchFamily="18" charset="0"/>
                                <a:ea typeface="等线" panose="02010600030101010101" pitchFamily="2" charset="-122"/>
                                <a:cs typeface="Times New Roman" panose="02020603050405020304" pitchFamily="18" charset="0"/>
                              </a:rPr>
                              <m:t>2</m:t>
                            </m:r>
                          </m:sub>
                        </m:sSub>
                        <m:r>
                          <m:rPr>
                            <m:nor/>
                          </m:rPr>
                          <a:rPr lang="en-US" altLang="zh-CN" kern="100" dirty="0">
                            <a:ea typeface="等线" panose="02010600030101010101" pitchFamily="2" charset="-122"/>
                            <a:cs typeface="Times New Roman" panose="02020603050405020304" pitchFamily="18" charset="0"/>
                          </a:rPr>
                          <m:t> </m:t>
                        </m:r>
                      </m:den>
                    </m:f>
                  </m:oMath>
                </a14:m>
                <a:endParaRPr lang="zh-CN" altLang="en-US" dirty="0"/>
              </a:p>
            </p:txBody>
          </p:sp>
        </mc:Choice>
        <mc:Fallback xmlns="">
          <p:sp>
            <p:nvSpPr>
              <p:cNvPr id="16" name="矩形 15">
                <a:extLst>
                  <a:ext uri="{FF2B5EF4-FFF2-40B4-BE49-F238E27FC236}">
                    <a16:creationId xmlns:a16="http://schemas.microsoft.com/office/drawing/2014/main" id="{48213C94-67FB-466B-9D93-AF8111344DDB}"/>
                  </a:ext>
                </a:extLst>
              </p:cNvPr>
              <p:cNvSpPr>
                <a:spLocks noRot="1" noChangeAspect="1" noMove="1" noResize="1" noEditPoints="1" noAdjustHandles="1" noChangeArrowheads="1" noChangeShapeType="1" noTextEdit="1"/>
              </p:cNvSpPr>
              <p:nvPr/>
            </p:nvSpPr>
            <p:spPr>
              <a:xfrm>
                <a:off x="4856498" y="1662503"/>
                <a:ext cx="4146272" cy="904863"/>
              </a:xfrm>
              <a:prstGeom prst="rect">
                <a:avLst/>
              </a:prstGeom>
              <a:blipFill>
                <a:blip r:embed="rId7"/>
                <a:stretch>
                  <a:fillRect l="-1618" t="-3378" r="-88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16805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62" name="Rectangle 2"/>
          <p:cNvSpPr>
            <a:spLocks noChangeArrowheads="1"/>
          </p:cNvSpPr>
          <p:nvPr/>
        </p:nvSpPr>
        <p:spPr bwMode="auto">
          <a:xfrm>
            <a:off x="7015405" y="5574671"/>
            <a:ext cx="2154238"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zh-CN" b="1" dirty="0">
                <a:solidFill>
                  <a:srgbClr val="000000"/>
                </a:solidFill>
                <a:latin typeface="Arial" panose="020B0604020202020204" pitchFamily="34" charset="0"/>
                <a:ea typeface="宋体" panose="02010600030101010101" pitchFamily="2" charset="-122"/>
              </a:rPr>
              <a:t>Digital Input </a:t>
            </a:r>
            <a:endParaRPr lang="en-US" altLang="zh-CN" sz="2000" dirty="0">
              <a:latin typeface="Arial" panose="020B0604020202020204" pitchFamily="34" charset="0"/>
              <a:ea typeface="宋体" panose="02010600030101010101" pitchFamily="2" charset="-122"/>
            </a:endParaRPr>
          </a:p>
        </p:txBody>
      </p:sp>
      <p:sp>
        <p:nvSpPr>
          <p:cNvPr id="552963" name="Line 3"/>
          <p:cNvSpPr>
            <a:spLocks noChangeShapeType="1"/>
          </p:cNvSpPr>
          <p:nvPr/>
        </p:nvSpPr>
        <p:spPr bwMode="auto">
          <a:xfrm>
            <a:off x="1225501" y="4660754"/>
            <a:ext cx="69818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2964" name="Line 4"/>
          <p:cNvSpPr>
            <a:spLocks noChangeShapeType="1"/>
          </p:cNvSpPr>
          <p:nvPr/>
        </p:nvSpPr>
        <p:spPr bwMode="auto">
          <a:xfrm>
            <a:off x="1225501" y="4173391"/>
            <a:ext cx="69818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2965" name="Line 5"/>
          <p:cNvSpPr>
            <a:spLocks noChangeShapeType="1"/>
          </p:cNvSpPr>
          <p:nvPr/>
        </p:nvSpPr>
        <p:spPr bwMode="auto">
          <a:xfrm>
            <a:off x="1225501" y="3686029"/>
            <a:ext cx="69818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2966" name="Line 6"/>
          <p:cNvSpPr>
            <a:spLocks noChangeShapeType="1"/>
          </p:cNvSpPr>
          <p:nvPr/>
        </p:nvSpPr>
        <p:spPr bwMode="auto">
          <a:xfrm>
            <a:off x="1225501" y="3197079"/>
            <a:ext cx="69818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2967" name="Line 7"/>
          <p:cNvSpPr>
            <a:spLocks noChangeShapeType="1"/>
          </p:cNvSpPr>
          <p:nvPr/>
        </p:nvSpPr>
        <p:spPr bwMode="auto">
          <a:xfrm>
            <a:off x="1225501" y="2701779"/>
            <a:ext cx="69818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2968" name="Line 8"/>
          <p:cNvSpPr>
            <a:spLocks noChangeShapeType="1"/>
          </p:cNvSpPr>
          <p:nvPr/>
        </p:nvSpPr>
        <p:spPr bwMode="auto">
          <a:xfrm>
            <a:off x="1225501" y="2214416"/>
            <a:ext cx="69818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2969" name="Line 9"/>
          <p:cNvSpPr>
            <a:spLocks noChangeShapeType="1"/>
          </p:cNvSpPr>
          <p:nvPr/>
        </p:nvSpPr>
        <p:spPr bwMode="auto">
          <a:xfrm>
            <a:off x="1225501" y="1727054"/>
            <a:ext cx="6981825"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2970" name="Line 10"/>
          <p:cNvSpPr>
            <a:spLocks noChangeShapeType="1"/>
          </p:cNvSpPr>
          <p:nvPr/>
        </p:nvSpPr>
        <p:spPr bwMode="auto">
          <a:xfrm>
            <a:off x="1225501" y="1239691"/>
            <a:ext cx="69818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2971" name="Line 11"/>
          <p:cNvSpPr>
            <a:spLocks noChangeShapeType="1"/>
          </p:cNvSpPr>
          <p:nvPr/>
        </p:nvSpPr>
        <p:spPr bwMode="auto">
          <a:xfrm>
            <a:off x="2101801" y="1239691"/>
            <a:ext cx="1587" cy="39084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2972" name="Line 12"/>
          <p:cNvSpPr>
            <a:spLocks noChangeShapeType="1"/>
          </p:cNvSpPr>
          <p:nvPr/>
        </p:nvSpPr>
        <p:spPr bwMode="auto">
          <a:xfrm>
            <a:off x="2971751" y="1239691"/>
            <a:ext cx="1587" cy="39084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2973" name="Line 13"/>
          <p:cNvSpPr>
            <a:spLocks noChangeShapeType="1"/>
          </p:cNvSpPr>
          <p:nvPr/>
        </p:nvSpPr>
        <p:spPr bwMode="auto">
          <a:xfrm>
            <a:off x="3848051" y="1239691"/>
            <a:ext cx="1587" cy="39084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2974" name="Line 14"/>
          <p:cNvSpPr>
            <a:spLocks noChangeShapeType="1"/>
          </p:cNvSpPr>
          <p:nvPr/>
        </p:nvSpPr>
        <p:spPr bwMode="auto">
          <a:xfrm>
            <a:off x="4716413" y="1239691"/>
            <a:ext cx="1588" cy="39084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2975" name="Line 15"/>
          <p:cNvSpPr>
            <a:spLocks noChangeShapeType="1"/>
          </p:cNvSpPr>
          <p:nvPr/>
        </p:nvSpPr>
        <p:spPr bwMode="auto">
          <a:xfrm>
            <a:off x="5592713" y="1239691"/>
            <a:ext cx="1588" cy="39084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2976" name="Line 16"/>
          <p:cNvSpPr>
            <a:spLocks noChangeShapeType="1"/>
          </p:cNvSpPr>
          <p:nvPr/>
        </p:nvSpPr>
        <p:spPr bwMode="auto">
          <a:xfrm>
            <a:off x="6461076" y="1239691"/>
            <a:ext cx="1587" cy="39084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2977" name="Line 17"/>
          <p:cNvSpPr>
            <a:spLocks noChangeShapeType="1"/>
          </p:cNvSpPr>
          <p:nvPr/>
        </p:nvSpPr>
        <p:spPr bwMode="auto">
          <a:xfrm>
            <a:off x="7337376" y="1239691"/>
            <a:ext cx="1587" cy="39084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2978" name="Line 18"/>
          <p:cNvSpPr>
            <a:spLocks noChangeShapeType="1"/>
          </p:cNvSpPr>
          <p:nvPr/>
        </p:nvSpPr>
        <p:spPr bwMode="auto">
          <a:xfrm>
            <a:off x="8207326" y="1239691"/>
            <a:ext cx="1587" cy="39084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2979" name="Line 19"/>
          <p:cNvSpPr>
            <a:spLocks noChangeShapeType="1"/>
          </p:cNvSpPr>
          <p:nvPr/>
        </p:nvSpPr>
        <p:spPr bwMode="auto">
          <a:xfrm>
            <a:off x="1225501" y="1239691"/>
            <a:ext cx="1587" cy="3908425"/>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2980" name="Line 20"/>
          <p:cNvSpPr>
            <a:spLocks noChangeShapeType="1"/>
          </p:cNvSpPr>
          <p:nvPr/>
        </p:nvSpPr>
        <p:spPr bwMode="auto">
          <a:xfrm>
            <a:off x="1111201" y="4660754"/>
            <a:ext cx="11430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2981" name="Line 21"/>
          <p:cNvSpPr>
            <a:spLocks noChangeShapeType="1"/>
          </p:cNvSpPr>
          <p:nvPr/>
        </p:nvSpPr>
        <p:spPr bwMode="auto">
          <a:xfrm>
            <a:off x="1111201" y="4173391"/>
            <a:ext cx="11430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2982" name="Line 22"/>
          <p:cNvSpPr>
            <a:spLocks noChangeShapeType="1"/>
          </p:cNvSpPr>
          <p:nvPr/>
        </p:nvSpPr>
        <p:spPr bwMode="auto">
          <a:xfrm>
            <a:off x="1111201" y="3686029"/>
            <a:ext cx="11430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2983" name="Line 23"/>
          <p:cNvSpPr>
            <a:spLocks noChangeShapeType="1"/>
          </p:cNvSpPr>
          <p:nvPr/>
        </p:nvSpPr>
        <p:spPr bwMode="auto">
          <a:xfrm>
            <a:off x="1111201" y="3197079"/>
            <a:ext cx="11430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2984" name="Line 24"/>
          <p:cNvSpPr>
            <a:spLocks noChangeShapeType="1"/>
          </p:cNvSpPr>
          <p:nvPr/>
        </p:nvSpPr>
        <p:spPr bwMode="auto">
          <a:xfrm>
            <a:off x="1111201" y="2701779"/>
            <a:ext cx="11430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2985" name="Line 25"/>
          <p:cNvSpPr>
            <a:spLocks noChangeShapeType="1"/>
          </p:cNvSpPr>
          <p:nvPr/>
        </p:nvSpPr>
        <p:spPr bwMode="auto">
          <a:xfrm>
            <a:off x="1111201" y="2214416"/>
            <a:ext cx="11430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2986" name="Line 26"/>
          <p:cNvSpPr>
            <a:spLocks noChangeShapeType="1"/>
          </p:cNvSpPr>
          <p:nvPr/>
        </p:nvSpPr>
        <p:spPr bwMode="auto">
          <a:xfrm>
            <a:off x="1111201" y="1727054"/>
            <a:ext cx="11430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2987" name="Line 27"/>
          <p:cNvSpPr>
            <a:spLocks noChangeShapeType="1"/>
          </p:cNvSpPr>
          <p:nvPr/>
        </p:nvSpPr>
        <p:spPr bwMode="auto">
          <a:xfrm>
            <a:off x="1111201" y="1544491"/>
            <a:ext cx="114300"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2988" name="Line 28"/>
          <p:cNvSpPr>
            <a:spLocks noChangeShapeType="1"/>
          </p:cNvSpPr>
          <p:nvPr/>
        </p:nvSpPr>
        <p:spPr bwMode="auto">
          <a:xfrm>
            <a:off x="1225501" y="5192566"/>
            <a:ext cx="6981825"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2996" name="Line 36"/>
          <p:cNvSpPr>
            <a:spLocks noChangeShapeType="1"/>
          </p:cNvSpPr>
          <p:nvPr/>
        </p:nvSpPr>
        <p:spPr bwMode="auto">
          <a:xfrm>
            <a:off x="1225501" y="5181454"/>
            <a:ext cx="434975" cy="1587"/>
          </a:xfrm>
          <a:prstGeom prst="line">
            <a:avLst/>
          </a:prstGeom>
          <a:noFill/>
          <a:ln w="22225">
            <a:solidFill>
              <a:srgbClr val="0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2997" name="Line 37"/>
          <p:cNvSpPr>
            <a:spLocks noChangeShapeType="1"/>
          </p:cNvSpPr>
          <p:nvPr/>
        </p:nvSpPr>
        <p:spPr bwMode="auto">
          <a:xfrm flipV="1">
            <a:off x="1660476" y="4905229"/>
            <a:ext cx="7937" cy="242887"/>
          </a:xfrm>
          <a:prstGeom prst="line">
            <a:avLst/>
          </a:prstGeom>
          <a:noFill/>
          <a:ln w="22225">
            <a:solidFill>
              <a:srgbClr val="0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2998" name="Line 38"/>
          <p:cNvSpPr>
            <a:spLocks noChangeShapeType="1"/>
          </p:cNvSpPr>
          <p:nvPr/>
        </p:nvSpPr>
        <p:spPr bwMode="auto">
          <a:xfrm>
            <a:off x="1668413" y="4905229"/>
            <a:ext cx="433388" cy="1587"/>
          </a:xfrm>
          <a:prstGeom prst="line">
            <a:avLst/>
          </a:prstGeom>
          <a:noFill/>
          <a:ln w="22225">
            <a:solidFill>
              <a:srgbClr val="0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2999" name="Line 39"/>
          <p:cNvSpPr>
            <a:spLocks noChangeShapeType="1"/>
          </p:cNvSpPr>
          <p:nvPr/>
        </p:nvSpPr>
        <p:spPr bwMode="auto">
          <a:xfrm flipV="1">
            <a:off x="2101801" y="4660754"/>
            <a:ext cx="1587" cy="244475"/>
          </a:xfrm>
          <a:prstGeom prst="line">
            <a:avLst/>
          </a:prstGeom>
          <a:noFill/>
          <a:ln w="22225">
            <a:solidFill>
              <a:srgbClr val="0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000" name="Line 40"/>
          <p:cNvSpPr>
            <a:spLocks noChangeShapeType="1"/>
          </p:cNvSpPr>
          <p:nvPr/>
        </p:nvSpPr>
        <p:spPr bwMode="auto">
          <a:xfrm>
            <a:off x="2101801" y="4660754"/>
            <a:ext cx="434975" cy="1587"/>
          </a:xfrm>
          <a:prstGeom prst="line">
            <a:avLst/>
          </a:prstGeom>
          <a:noFill/>
          <a:ln w="22225">
            <a:solidFill>
              <a:srgbClr val="0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001" name="Line 41"/>
          <p:cNvSpPr>
            <a:spLocks noChangeShapeType="1"/>
          </p:cNvSpPr>
          <p:nvPr/>
        </p:nvSpPr>
        <p:spPr bwMode="auto">
          <a:xfrm flipV="1">
            <a:off x="2536776" y="4417866"/>
            <a:ext cx="1587" cy="242888"/>
          </a:xfrm>
          <a:prstGeom prst="line">
            <a:avLst/>
          </a:prstGeom>
          <a:noFill/>
          <a:ln w="22225">
            <a:solidFill>
              <a:srgbClr val="0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002" name="Line 42"/>
          <p:cNvSpPr>
            <a:spLocks noChangeShapeType="1"/>
          </p:cNvSpPr>
          <p:nvPr/>
        </p:nvSpPr>
        <p:spPr bwMode="auto">
          <a:xfrm>
            <a:off x="2536776" y="4417866"/>
            <a:ext cx="434975" cy="1588"/>
          </a:xfrm>
          <a:prstGeom prst="line">
            <a:avLst/>
          </a:prstGeom>
          <a:noFill/>
          <a:ln w="22225">
            <a:solidFill>
              <a:srgbClr val="0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003" name="Line 43"/>
          <p:cNvSpPr>
            <a:spLocks noChangeShapeType="1"/>
          </p:cNvSpPr>
          <p:nvPr/>
        </p:nvSpPr>
        <p:spPr bwMode="auto">
          <a:xfrm flipV="1">
            <a:off x="2971751" y="4173391"/>
            <a:ext cx="6350" cy="244475"/>
          </a:xfrm>
          <a:prstGeom prst="line">
            <a:avLst/>
          </a:prstGeom>
          <a:noFill/>
          <a:ln w="22225">
            <a:solidFill>
              <a:srgbClr val="0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004" name="Line 44"/>
          <p:cNvSpPr>
            <a:spLocks noChangeShapeType="1"/>
          </p:cNvSpPr>
          <p:nvPr/>
        </p:nvSpPr>
        <p:spPr bwMode="auto">
          <a:xfrm>
            <a:off x="2978101" y="4173391"/>
            <a:ext cx="427037" cy="1588"/>
          </a:xfrm>
          <a:prstGeom prst="line">
            <a:avLst/>
          </a:prstGeom>
          <a:noFill/>
          <a:ln w="22225">
            <a:solidFill>
              <a:srgbClr val="0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005" name="Line 45"/>
          <p:cNvSpPr>
            <a:spLocks noChangeShapeType="1"/>
          </p:cNvSpPr>
          <p:nvPr/>
        </p:nvSpPr>
        <p:spPr bwMode="auto">
          <a:xfrm flipV="1">
            <a:off x="3405138" y="3928916"/>
            <a:ext cx="7938" cy="244475"/>
          </a:xfrm>
          <a:prstGeom prst="line">
            <a:avLst/>
          </a:prstGeom>
          <a:noFill/>
          <a:ln w="22225">
            <a:solidFill>
              <a:srgbClr val="0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006" name="Line 46"/>
          <p:cNvSpPr>
            <a:spLocks noChangeShapeType="1"/>
          </p:cNvSpPr>
          <p:nvPr/>
        </p:nvSpPr>
        <p:spPr bwMode="auto">
          <a:xfrm>
            <a:off x="3413076" y="3928916"/>
            <a:ext cx="434975" cy="1588"/>
          </a:xfrm>
          <a:prstGeom prst="line">
            <a:avLst/>
          </a:prstGeom>
          <a:noFill/>
          <a:ln w="22225">
            <a:solidFill>
              <a:srgbClr val="0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007" name="Line 47"/>
          <p:cNvSpPr>
            <a:spLocks noChangeShapeType="1"/>
          </p:cNvSpPr>
          <p:nvPr/>
        </p:nvSpPr>
        <p:spPr bwMode="auto">
          <a:xfrm flipV="1">
            <a:off x="3848051" y="3686029"/>
            <a:ext cx="1587" cy="242887"/>
          </a:xfrm>
          <a:prstGeom prst="line">
            <a:avLst/>
          </a:prstGeom>
          <a:noFill/>
          <a:ln w="22225">
            <a:solidFill>
              <a:srgbClr val="0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008" name="Line 48"/>
          <p:cNvSpPr>
            <a:spLocks noChangeShapeType="1"/>
          </p:cNvSpPr>
          <p:nvPr/>
        </p:nvSpPr>
        <p:spPr bwMode="auto">
          <a:xfrm>
            <a:off x="3848051" y="3686029"/>
            <a:ext cx="433387" cy="1587"/>
          </a:xfrm>
          <a:prstGeom prst="line">
            <a:avLst/>
          </a:prstGeom>
          <a:noFill/>
          <a:ln w="22225">
            <a:solidFill>
              <a:srgbClr val="0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009" name="Line 49"/>
          <p:cNvSpPr>
            <a:spLocks noChangeShapeType="1"/>
          </p:cNvSpPr>
          <p:nvPr/>
        </p:nvSpPr>
        <p:spPr bwMode="auto">
          <a:xfrm flipV="1">
            <a:off x="4281438" y="3441554"/>
            <a:ext cx="1588" cy="244475"/>
          </a:xfrm>
          <a:prstGeom prst="line">
            <a:avLst/>
          </a:prstGeom>
          <a:noFill/>
          <a:ln w="22225">
            <a:solidFill>
              <a:srgbClr val="0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010" name="Line 50"/>
          <p:cNvSpPr>
            <a:spLocks noChangeShapeType="1"/>
          </p:cNvSpPr>
          <p:nvPr/>
        </p:nvSpPr>
        <p:spPr bwMode="auto">
          <a:xfrm>
            <a:off x="4281438" y="3441554"/>
            <a:ext cx="434975" cy="1587"/>
          </a:xfrm>
          <a:prstGeom prst="line">
            <a:avLst/>
          </a:prstGeom>
          <a:noFill/>
          <a:ln w="22225">
            <a:solidFill>
              <a:srgbClr val="0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011" name="Line 51"/>
          <p:cNvSpPr>
            <a:spLocks noChangeShapeType="1"/>
          </p:cNvSpPr>
          <p:nvPr/>
        </p:nvSpPr>
        <p:spPr bwMode="auto">
          <a:xfrm flipV="1">
            <a:off x="4716413" y="3197079"/>
            <a:ext cx="7938" cy="244475"/>
          </a:xfrm>
          <a:prstGeom prst="line">
            <a:avLst/>
          </a:prstGeom>
          <a:noFill/>
          <a:ln w="22225">
            <a:solidFill>
              <a:srgbClr val="0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012" name="Line 52"/>
          <p:cNvSpPr>
            <a:spLocks noChangeShapeType="1"/>
          </p:cNvSpPr>
          <p:nvPr/>
        </p:nvSpPr>
        <p:spPr bwMode="auto">
          <a:xfrm>
            <a:off x="4724351" y="3197079"/>
            <a:ext cx="427037" cy="1587"/>
          </a:xfrm>
          <a:prstGeom prst="line">
            <a:avLst/>
          </a:prstGeom>
          <a:noFill/>
          <a:ln w="22225">
            <a:solidFill>
              <a:srgbClr val="0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013" name="Line 53"/>
          <p:cNvSpPr>
            <a:spLocks noChangeShapeType="1"/>
          </p:cNvSpPr>
          <p:nvPr/>
        </p:nvSpPr>
        <p:spPr bwMode="auto">
          <a:xfrm flipV="1">
            <a:off x="5151388" y="2946254"/>
            <a:ext cx="6350" cy="250825"/>
          </a:xfrm>
          <a:prstGeom prst="line">
            <a:avLst/>
          </a:prstGeom>
          <a:noFill/>
          <a:ln w="22225">
            <a:solidFill>
              <a:srgbClr val="0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014" name="Line 54"/>
          <p:cNvSpPr>
            <a:spLocks noChangeShapeType="1"/>
          </p:cNvSpPr>
          <p:nvPr/>
        </p:nvSpPr>
        <p:spPr bwMode="auto">
          <a:xfrm>
            <a:off x="5157738" y="2946254"/>
            <a:ext cx="434975" cy="1587"/>
          </a:xfrm>
          <a:prstGeom prst="line">
            <a:avLst/>
          </a:prstGeom>
          <a:noFill/>
          <a:ln w="22225">
            <a:solidFill>
              <a:srgbClr val="0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015" name="Line 55"/>
          <p:cNvSpPr>
            <a:spLocks noChangeShapeType="1"/>
          </p:cNvSpPr>
          <p:nvPr/>
        </p:nvSpPr>
        <p:spPr bwMode="auto">
          <a:xfrm flipV="1">
            <a:off x="5592713" y="2701779"/>
            <a:ext cx="1588" cy="244475"/>
          </a:xfrm>
          <a:prstGeom prst="line">
            <a:avLst/>
          </a:prstGeom>
          <a:noFill/>
          <a:ln w="22225">
            <a:solidFill>
              <a:srgbClr val="0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016" name="Line 56"/>
          <p:cNvSpPr>
            <a:spLocks noChangeShapeType="1"/>
          </p:cNvSpPr>
          <p:nvPr/>
        </p:nvSpPr>
        <p:spPr bwMode="auto">
          <a:xfrm>
            <a:off x="5592713" y="2701779"/>
            <a:ext cx="434975" cy="1587"/>
          </a:xfrm>
          <a:prstGeom prst="line">
            <a:avLst/>
          </a:prstGeom>
          <a:noFill/>
          <a:ln w="22225">
            <a:solidFill>
              <a:srgbClr val="0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017" name="Line 57"/>
          <p:cNvSpPr>
            <a:spLocks noChangeShapeType="1"/>
          </p:cNvSpPr>
          <p:nvPr/>
        </p:nvSpPr>
        <p:spPr bwMode="auto">
          <a:xfrm flipV="1">
            <a:off x="6027688" y="2458891"/>
            <a:ext cx="1588" cy="242888"/>
          </a:xfrm>
          <a:prstGeom prst="line">
            <a:avLst/>
          </a:prstGeom>
          <a:noFill/>
          <a:ln w="22225">
            <a:solidFill>
              <a:srgbClr val="0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018" name="Line 58"/>
          <p:cNvSpPr>
            <a:spLocks noChangeShapeType="1"/>
          </p:cNvSpPr>
          <p:nvPr/>
        </p:nvSpPr>
        <p:spPr bwMode="auto">
          <a:xfrm>
            <a:off x="6027688" y="2458891"/>
            <a:ext cx="433388" cy="1588"/>
          </a:xfrm>
          <a:prstGeom prst="line">
            <a:avLst/>
          </a:prstGeom>
          <a:noFill/>
          <a:ln w="22225">
            <a:solidFill>
              <a:srgbClr val="0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019" name="Line 59"/>
          <p:cNvSpPr>
            <a:spLocks noChangeShapeType="1"/>
          </p:cNvSpPr>
          <p:nvPr/>
        </p:nvSpPr>
        <p:spPr bwMode="auto">
          <a:xfrm flipV="1">
            <a:off x="6461076" y="2214416"/>
            <a:ext cx="7937" cy="244475"/>
          </a:xfrm>
          <a:prstGeom prst="line">
            <a:avLst/>
          </a:prstGeom>
          <a:noFill/>
          <a:ln w="22225">
            <a:solidFill>
              <a:srgbClr val="0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020" name="Line 60"/>
          <p:cNvSpPr>
            <a:spLocks noChangeShapeType="1"/>
          </p:cNvSpPr>
          <p:nvPr/>
        </p:nvSpPr>
        <p:spPr bwMode="auto">
          <a:xfrm>
            <a:off x="6469013" y="2214416"/>
            <a:ext cx="427038" cy="1588"/>
          </a:xfrm>
          <a:prstGeom prst="line">
            <a:avLst/>
          </a:prstGeom>
          <a:noFill/>
          <a:ln w="22225">
            <a:solidFill>
              <a:srgbClr val="0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021" name="Line 61"/>
          <p:cNvSpPr>
            <a:spLocks noChangeShapeType="1"/>
          </p:cNvSpPr>
          <p:nvPr/>
        </p:nvSpPr>
        <p:spPr bwMode="auto">
          <a:xfrm flipV="1">
            <a:off x="6896051" y="1971529"/>
            <a:ext cx="7937" cy="242887"/>
          </a:xfrm>
          <a:prstGeom prst="line">
            <a:avLst/>
          </a:prstGeom>
          <a:noFill/>
          <a:ln w="22225">
            <a:solidFill>
              <a:srgbClr val="0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022" name="Line 62"/>
          <p:cNvSpPr>
            <a:spLocks noChangeShapeType="1"/>
          </p:cNvSpPr>
          <p:nvPr/>
        </p:nvSpPr>
        <p:spPr bwMode="auto">
          <a:xfrm>
            <a:off x="6903988" y="1971529"/>
            <a:ext cx="433388" cy="1587"/>
          </a:xfrm>
          <a:prstGeom prst="line">
            <a:avLst/>
          </a:prstGeom>
          <a:noFill/>
          <a:ln w="22225">
            <a:solidFill>
              <a:srgbClr val="0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023" name="Line 63"/>
          <p:cNvSpPr>
            <a:spLocks noChangeShapeType="1"/>
          </p:cNvSpPr>
          <p:nvPr/>
        </p:nvSpPr>
        <p:spPr bwMode="auto">
          <a:xfrm flipV="1">
            <a:off x="7337376" y="1727054"/>
            <a:ext cx="1587" cy="244475"/>
          </a:xfrm>
          <a:prstGeom prst="line">
            <a:avLst/>
          </a:prstGeom>
          <a:noFill/>
          <a:ln w="22225">
            <a:solidFill>
              <a:srgbClr val="0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024" name="Line 64"/>
          <p:cNvSpPr>
            <a:spLocks noChangeShapeType="1"/>
          </p:cNvSpPr>
          <p:nvPr/>
        </p:nvSpPr>
        <p:spPr bwMode="auto">
          <a:xfrm>
            <a:off x="7337376" y="1727054"/>
            <a:ext cx="434975" cy="1587"/>
          </a:xfrm>
          <a:prstGeom prst="line">
            <a:avLst/>
          </a:prstGeom>
          <a:noFill/>
          <a:ln w="22225">
            <a:solidFill>
              <a:srgbClr val="0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025" name="Line 65"/>
          <p:cNvSpPr>
            <a:spLocks noChangeShapeType="1"/>
          </p:cNvSpPr>
          <p:nvPr/>
        </p:nvSpPr>
        <p:spPr bwMode="auto">
          <a:xfrm flipV="1">
            <a:off x="7772351" y="1482579"/>
            <a:ext cx="1587" cy="244475"/>
          </a:xfrm>
          <a:prstGeom prst="line">
            <a:avLst/>
          </a:prstGeom>
          <a:noFill/>
          <a:ln w="22225">
            <a:solidFill>
              <a:srgbClr val="0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026" name="Rectangle 66"/>
          <p:cNvSpPr>
            <a:spLocks noChangeArrowheads="1"/>
          </p:cNvSpPr>
          <p:nvPr/>
        </p:nvSpPr>
        <p:spPr bwMode="auto">
          <a:xfrm>
            <a:off x="828626" y="4957616"/>
            <a:ext cx="198437"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zh-CN">
                <a:solidFill>
                  <a:srgbClr val="000000"/>
                </a:solidFill>
                <a:latin typeface="Arial" panose="020B0604020202020204" pitchFamily="34" charset="0"/>
                <a:ea typeface="宋体" panose="02010600030101010101" pitchFamily="2" charset="-122"/>
              </a:rPr>
              <a:t>0</a:t>
            </a:r>
            <a:endParaRPr lang="en-US" altLang="zh-CN" sz="2000">
              <a:latin typeface="Arial" panose="020B0604020202020204" pitchFamily="34" charset="0"/>
              <a:ea typeface="宋体" panose="02010600030101010101" pitchFamily="2" charset="-122"/>
            </a:endParaRPr>
          </a:p>
        </p:txBody>
      </p:sp>
      <p:sp>
        <p:nvSpPr>
          <p:cNvPr id="553027" name="Rectangle 67"/>
          <p:cNvSpPr>
            <a:spLocks noChangeArrowheads="1"/>
          </p:cNvSpPr>
          <p:nvPr/>
        </p:nvSpPr>
        <p:spPr bwMode="auto">
          <a:xfrm>
            <a:off x="828626" y="4470254"/>
            <a:ext cx="19843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zh-CN">
                <a:solidFill>
                  <a:srgbClr val="000000"/>
                </a:solidFill>
                <a:latin typeface="Arial" panose="020B0604020202020204" pitchFamily="34" charset="0"/>
                <a:ea typeface="宋体" panose="02010600030101010101" pitchFamily="2" charset="-122"/>
              </a:rPr>
              <a:t>1</a:t>
            </a:r>
            <a:endParaRPr lang="en-US" altLang="zh-CN" sz="2000">
              <a:latin typeface="Arial" panose="020B0604020202020204" pitchFamily="34" charset="0"/>
              <a:ea typeface="宋体" panose="02010600030101010101" pitchFamily="2" charset="-122"/>
            </a:endParaRPr>
          </a:p>
        </p:txBody>
      </p:sp>
      <p:sp>
        <p:nvSpPr>
          <p:cNvPr id="553028" name="Rectangle 68"/>
          <p:cNvSpPr>
            <a:spLocks noChangeArrowheads="1"/>
          </p:cNvSpPr>
          <p:nvPr/>
        </p:nvSpPr>
        <p:spPr bwMode="auto">
          <a:xfrm>
            <a:off x="828626" y="3982891"/>
            <a:ext cx="198437"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zh-CN">
                <a:solidFill>
                  <a:srgbClr val="000000"/>
                </a:solidFill>
                <a:latin typeface="Arial" panose="020B0604020202020204" pitchFamily="34" charset="0"/>
                <a:ea typeface="宋体" panose="02010600030101010101" pitchFamily="2" charset="-122"/>
              </a:rPr>
              <a:t>2</a:t>
            </a:r>
            <a:endParaRPr lang="en-US" altLang="zh-CN" sz="2000">
              <a:latin typeface="Arial" panose="020B0604020202020204" pitchFamily="34" charset="0"/>
              <a:ea typeface="宋体" panose="02010600030101010101" pitchFamily="2" charset="-122"/>
            </a:endParaRPr>
          </a:p>
        </p:txBody>
      </p:sp>
      <p:sp>
        <p:nvSpPr>
          <p:cNvPr id="553029" name="Rectangle 69"/>
          <p:cNvSpPr>
            <a:spLocks noChangeArrowheads="1"/>
          </p:cNvSpPr>
          <p:nvPr/>
        </p:nvSpPr>
        <p:spPr bwMode="auto">
          <a:xfrm>
            <a:off x="828626" y="3495529"/>
            <a:ext cx="19843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zh-CN">
                <a:solidFill>
                  <a:srgbClr val="000000"/>
                </a:solidFill>
                <a:latin typeface="Arial" panose="020B0604020202020204" pitchFamily="34" charset="0"/>
                <a:ea typeface="宋体" panose="02010600030101010101" pitchFamily="2" charset="-122"/>
              </a:rPr>
              <a:t>3</a:t>
            </a:r>
            <a:endParaRPr lang="en-US" altLang="zh-CN" sz="2000">
              <a:latin typeface="Arial" panose="020B0604020202020204" pitchFamily="34" charset="0"/>
              <a:ea typeface="宋体" panose="02010600030101010101" pitchFamily="2" charset="-122"/>
            </a:endParaRPr>
          </a:p>
        </p:txBody>
      </p:sp>
      <p:sp>
        <p:nvSpPr>
          <p:cNvPr id="553030" name="Rectangle 70"/>
          <p:cNvSpPr>
            <a:spLocks noChangeArrowheads="1"/>
          </p:cNvSpPr>
          <p:nvPr/>
        </p:nvSpPr>
        <p:spPr bwMode="auto">
          <a:xfrm>
            <a:off x="828626" y="3006579"/>
            <a:ext cx="19843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zh-CN">
                <a:solidFill>
                  <a:srgbClr val="000000"/>
                </a:solidFill>
                <a:latin typeface="Arial" panose="020B0604020202020204" pitchFamily="34" charset="0"/>
                <a:ea typeface="宋体" panose="02010600030101010101" pitchFamily="2" charset="-122"/>
              </a:rPr>
              <a:t>4</a:t>
            </a:r>
            <a:endParaRPr lang="en-US" altLang="zh-CN" sz="2000">
              <a:latin typeface="Arial" panose="020B0604020202020204" pitchFamily="34" charset="0"/>
              <a:ea typeface="宋体" panose="02010600030101010101" pitchFamily="2" charset="-122"/>
            </a:endParaRPr>
          </a:p>
        </p:txBody>
      </p:sp>
      <p:sp>
        <p:nvSpPr>
          <p:cNvPr id="553031" name="Rectangle 71"/>
          <p:cNvSpPr>
            <a:spLocks noChangeArrowheads="1"/>
          </p:cNvSpPr>
          <p:nvPr/>
        </p:nvSpPr>
        <p:spPr bwMode="auto">
          <a:xfrm>
            <a:off x="828626" y="2511279"/>
            <a:ext cx="19843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zh-CN">
                <a:solidFill>
                  <a:srgbClr val="000000"/>
                </a:solidFill>
                <a:latin typeface="Arial" panose="020B0604020202020204" pitchFamily="34" charset="0"/>
                <a:ea typeface="宋体" panose="02010600030101010101" pitchFamily="2" charset="-122"/>
              </a:rPr>
              <a:t>5</a:t>
            </a:r>
            <a:endParaRPr lang="en-US" altLang="zh-CN" sz="2000">
              <a:latin typeface="Arial" panose="020B0604020202020204" pitchFamily="34" charset="0"/>
              <a:ea typeface="宋体" panose="02010600030101010101" pitchFamily="2" charset="-122"/>
            </a:endParaRPr>
          </a:p>
        </p:txBody>
      </p:sp>
      <p:sp>
        <p:nvSpPr>
          <p:cNvPr id="553032" name="Rectangle 72"/>
          <p:cNvSpPr>
            <a:spLocks noChangeArrowheads="1"/>
          </p:cNvSpPr>
          <p:nvPr/>
        </p:nvSpPr>
        <p:spPr bwMode="auto">
          <a:xfrm>
            <a:off x="828626" y="2023916"/>
            <a:ext cx="198437"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zh-CN">
                <a:solidFill>
                  <a:srgbClr val="000000"/>
                </a:solidFill>
                <a:latin typeface="Arial" panose="020B0604020202020204" pitchFamily="34" charset="0"/>
                <a:ea typeface="宋体" panose="02010600030101010101" pitchFamily="2" charset="-122"/>
              </a:rPr>
              <a:t>6</a:t>
            </a:r>
            <a:endParaRPr lang="en-US" altLang="zh-CN" sz="2000">
              <a:latin typeface="Arial" panose="020B0604020202020204" pitchFamily="34" charset="0"/>
              <a:ea typeface="宋体" panose="02010600030101010101" pitchFamily="2" charset="-122"/>
            </a:endParaRPr>
          </a:p>
        </p:txBody>
      </p:sp>
      <p:sp>
        <p:nvSpPr>
          <p:cNvPr id="553033" name="Rectangle 73"/>
          <p:cNvSpPr>
            <a:spLocks noChangeArrowheads="1"/>
          </p:cNvSpPr>
          <p:nvPr/>
        </p:nvSpPr>
        <p:spPr bwMode="auto">
          <a:xfrm>
            <a:off x="828626" y="1536554"/>
            <a:ext cx="198437"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zh-CN">
                <a:solidFill>
                  <a:srgbClr val="000000"/>
                </a:solidFill>
                <a:latin typeface="Arial" panose="020B0604020202020204" pitchFamily="34" charset="0"/>
                <a:ea typeface="宋体" panose="02010600030101010101" pitchFamily="2" charset="-122"/>
              </a:rPr>
              <a:t>7</a:t>
            </a:r>
            <a:endParaRPr lang="en-US" altLang="zh-CN" sz="2000">
              <a:latin typeface="Arial" panose="020B0604020202020204" pitchFamily="34" charset="0"/>
              <a:ea typeface="宋体" panose="02010600030101010101" pitchFamily="2" charset="-122"/>
            </a:endParaRPr>
          </a:p>
        </p:txBody>
      </p:sp>
      <p:sp>
        <p:nvSpPr>
          <p:cNvPr id="553034" name="Rectangle 74"/>
          <p:cNvSpPr>
            <a:spLocks noChangeArrowheads="1"/>
          </p:cNvSpPr>
          <p:nvPr/>
        </p:nvSpPr>
        <p:spPr bwMode="auto">
          <a:xfrm>
            <a:off x="828626" y="1087291"/>
            <a:ext cx="198437"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zh-CN">
                <a:solidFill>
                  <a:srgbClr val="000000"/>
                </a:solidFill>
                <a:latin typeface="Arial" panose="020B0604020202020204" pitchFamily="34" charset="0"/>
                <a:ea typeface="宋体" panose="02010600030101010101" pitchFamily="2" charset="-122"/>
              </a:rPr>
              <a:t>8</a:t>
            </a:r>
            <a:endParaRPr lang="en-US" altLang="zh-CN" sz="2000">
              <a:latin typeface="Arial" panose="020B0604020202020204" pitchFamily="34" charset="0"/>
              <a:ea typeface="宋体" panose="02010600030101010101" pitchFamily="2" charset="-122"/>
            </a:endParaRPr>
          </a:p>
        </p:txBody>
      </p:sp>
      <p:sp>
        <p:nvSpPr>
          <p:cNvPr id="553044" name="Rectangle 84"/>
          <p:cNvSpPr>
            <a:spLocks noChangeArrowheads="1"/>
          </p:cNvSpPr>
          <p:nvPr/>
        </p:nvSpPr>
        <p:spPr bwMode="auto">
          <a:xfrm rot="16200000">
            <a:off x="-1081931" y="2791473"/>
            <a:ext cx="3044825"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zh-CN" b="1" dirty="0">
                <a:solidFill>
                  <a:srgbClr val="000000"/>
                </a:solidFill>
                <a:latin typeface="Arial" panose="020B0604020202020204" pitchFamily="34" charset="0"/>
                <a:ea typeface="宋体" panose="02010600030101010101" pitchFamily="2" charset="-122"/>
              </a:rPr>
              <a:t>Analog Output (V)</a:t>
            </a:r>
            <a:endParaRPr lang="en-US" altLang="zh-CN" sz="2000" dirty="0">
              <a:latin typeface="Arial" panose="020B0604020202020204" pitchFamily="34" charset="0"/>
              <a:ea typeface="宋体" panose="02010600030101010101" pitchFamily="2" charset="-122"/>
            </a:endParaRPr>
          </a:p>
        </p:txBody>
      </p:sp>
      <p:sp>
        <p:nvSpPr>
          <p:cNvPr id="553046" name="Text Box 86"/>
          <p:cNvSpPr txBox="1">
            <a:spLocks noChangeArrowheads="1"/>
          </p:cNvSpPr>
          <p:nvPr/>
        </p:nvSpPr>
        <p:spPr bwMode="auto">
          <a:xfrm>
            <a:off x="7187110" y="5176752"/>
            <a:ext cx="478929" cy="369332"/>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1905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spcBef>
                <a:spcPct val="50000"/>
              </a:spcBef>
            </a:pPr>
            <a:r>
              <a:rPr lang="en-US" altLang="zh-CN" sz="1800" dirty="0">
                <a:solidFill>
                  <a:srgbClr val="FF0000"/>
                </a:solidFill>
                <a:latin typeface="Arial" panose="020B0604020202020204" pitchFamily="34" charset="0"/>
                <a:ea typeface="宋体" panose="02010600030101010101" pitchFamily="2" charset="-122"/>
              </a:rPr>
              <a:t>14</a:t>
            </a:r>
          </a:p>
        </p:txBody>
      </p:sp>
      <p:sp>
        <p:nvSpPr>
          <p:cNvPr id="553048" name="Text Box 88"/>
          <p:cNvSpPr txBox="1">
            <a:spLocks noChangeArrowheads="1"/>
          </p:cNvSpPr>
          <p:nvPr/>
        </p:nvSpPr>
        <p:spPr bwMode="auto">
          <a:xfrm>
            <a:off x="4580926" y="5175921"/>
            <a:ext cx="434975" cy="369332"/>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1905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spcBef>
                <a:spcPct val="50000"/>
              </a:spcBef>
            </a:pPr>
            <a:r>
              <a:rPr lang="en-US" altLang="zh-CN" sz="1800" dirty="0">
                <a:solidFill>
                  <a:srgbClr val="FF0000"/>
                </a:solidFill>
                <a:latin typeface="Arial" panose="020B0604020202020204" pitchFamily="34" charset="0"/>
                <a:ea typeface="宋体" panose="02010600030101010101" pitchFamily="2" charset="-122"/>
              </a:rPr>
              <a:t>8</a:t>
            </a:r>
          </a:p>
        </p:txBody>
      </p:sp>
      <p:sp>
        <p:nvSpPr>
          <p:cNvPr id="553050" name="Text Box 90"/>
          <p:cNvSpPr txBox="1">
            <a:spLocks noChangeArrowheads="1"/>
          </p:cNvSpPr>
          <p:nvPr/>
        </p:nvSpPr>
        <p:spPr bwMode="auto">
          <a:xfrm>
            <a:off x="2799411" y="5199988"/>
            <a:ext cx="873125" cy="369332"/>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1905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spcBef>
                <a:spcPct val="50000"/>
              </a:spcBef>
            </a:pPr>
            <a:r>
              <a:rPr lang="en-US" altLang="zh-CN" sz="1800" dirty="0">
                <a:solidFill>
                  <a:srgbClr val="FF0000"/>
                </a:solidFill>
                <a:latin typeface="Arial" panose="020B0604020202020204" pitchFamily="34" charset="0"/>
                <a:ea typeface="宋体" panose="02010600030101010101" pitchFamily="2" charset="-122"/>
              </a:rPr>
              <a:t>4</a:t>
            </a:r>
          </a:p>
        </p:txBody>
      </p:sp>
      <p:sp>
        <p:nvSpPr>
          <p:cNvPr id="553052" name="Text Box 92"/>
          <p:cNvSpPr txBox="1">
            <a:spLocks noChangeArrowheads="1"/>
          </p:cNvSpPr>
          <p:nvPr/>
        </p:nvSpPr>
        <p:spPr bwMode="auto">
          <a:xfrm>
            <a:off x="1069429" y="5200434"/>
            <a:ext cx="873125" cy="369332"/>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1905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spcBef>
                <a:spcPct val="50000"/>
              </a:spcBef>
            </a:pPr>
            <a:r>
              <a:rPr lang="en-US" altLang="zh-CN" sz="1800" dirty="0">
                <a:solidFill>
                  <a:srgbClr val="FF0000"/>
                </a:solidFill>
                <a:latin typeface="Arial" panose="020B0604020202020204" pitchFamily="34" charset="0"/>
                <a:ea typeface="宋体" panose="02010600030101010101" pitchFamily="2" charset="-122"/>
              </a:rPr>
              <a:t>0</a:t>
            </a:r>
          </a:p>
        </p:txBody>
      </p:sp>
      <p:sp>
        <p:nvSpPr>
          <p:cNvPr id="553053" name="Text Box 93"/>
          <p:cNvSpPr txBox="1">
            <a:spLocks noChangeArrowheads="1"/>
          </p:cNvSpPr>
          <p:nvPr/>
        </p:nvSpPr>
        <p:spPr bwMode="auto">
          <a:xfrm>
            <a:off x="1487606" y="5216379"/>
            <a:ext cx="1128712" cy="369332"/>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1905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800" dirty="0">
                <a:solidFill>
                  <a:srgbClr val="FF0000"/>
                </a:solidFill>
                <a:latin typeface="Arial" panose="020B0604020202020204" pitchFamily="34" charset="0"/>
                <a:ea typeface="宋体" panose="02010600030101010101" pitchFamily="2" charset="-122"/>
              </a:rPr>
              <a:t>1</a:t>
            </a:r>
          </a:p>
        </p:txBody>
      </p:sp>
      <p:sp>
        <p:nvSpPr>
          <p:cNvPr id="553055" name="Rectangle 95"/>
          <p:cNvSpPr>
            <a:spLocks noGrp="1" noChangeArrowheads="1"/>
          </p:cNvSpPr>
          <p:nvPr>
            <p:ph type="title"/>
          </p:nvPr>
        </p:nvSpPr>
        <p:spPr>
          <a:xfrm>
            <a:off x="190940" y="381794"/>
            <a:ext cx="8229600" cy="838200"/>
          </a:xfrm>
        </p:spPr>
        <p:txBody>
          <a:bodyPr/>
          <a:lstStyle/>
          <a:p>
            <a:r>
              <a:rPr lang="en-US" altLang="zh-CN" sz="2800" dirty="0">
                <a:ea typeface="宋体" panose="02010600030101010101" pitchFamily="2" charset="-122"/>
              </a:rPr>
              <a:t>Application - DAC</a:t>
            </a:r>
          </a:p>
        </p:txBody>
      </p:sp>
      <p:sp>
        <p:nvSpPr>
          <p:cNvPr id="98" name="Text Box 2"/>
          <p:cNvSpPr txBox="1">
            <a:spLocks noChangeArrowheads="1"/>
          </p:cNvSpPr>
          <p:nvPr/>
        </p:nvSpPr>
        <p:spPr bwMode="auto">
          <a:xfrm>
            <a:off x="1064861" y="5521186"/>
            <a:ext cx="6402740" cy="13234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marL="1143000" indent="-1143000" defTabSz="1027113">
              <a:defRPr sz="2400">
                <a:solidFill>
                  <a:schemeClr val="tx1"/>
                </a:solidFill>
                <a:latin typeface="Times New Roman" panose="02020603050405020304" pitchFamily="18" charset="0"/>
              </a:defRPr>
            </a:lvl1pPr>
            <a:lvl2pPr marL="1314450" defTabSz="1027113">
              <a:defRPr sz="2400">
                <a:solidFill>
                  <a:schemeClr val="tx1"/>
                </a:solidFill>
                <a:latin typeface="Times New Roman" panose="02020603050405020304" pitchFamily="18" charset="0"/>
              </a:defRPr>
            </a:lvl2pPr>
            <a:lvl3pPr marL="1428750" defTabSz="1027113">
              <a:defRPr sz="2400">
                <a:solidFill>
                  <a:schemeClr val="tx1"/>
                </a:solidFill>
                <a:latin typeface="Times New Roman" panose="02020603050405020304" pitchFamily="18" charset="0"/>
              </a:defRPr>
            </a:lvl3pPr>
            <a:lvl4pPr marL="1543050" defTabSz="1027113">
              <a:defRPr sz="2400">
                <a:solidFill>
                  <a:schemeClr val="tx1"/>
                </a:solidFill>
                <a:latin typeface="Times New Roman" panose="02020603050405020304" pitchFamily="18" charset="0"/>
              </a:defRPr>
            </a:lvl4pPr>
            <a:lvl5pPr defTabSz="1027113">
              <a:defRPr sz="2400">
                <a:solidFill>
                  <a:schemeClr val="tx1"/>
                </a:solidFill>
                <a:latin typeface="Times New Roman" panose="02020603050405020304" pitchFamily="18" charset="0"/>
              </a:defRPr>
            </a:lvl5pPr>
            <a:lvl6pPr defTabSz="1027113" eaLnBrk="0" fontAlgn="base" hangingPunct="0">
              <a:spcBef>
                <a:spcPct val="0"/>
              </a:spcBef>
              <a:spcAft>
                <a:spcPct val="0"/>
              </a:spcAft>
              <a:defRPr sz="2400">
                <a:solidFill>
                  <a:schemeClr val="tx1"/>
                </a:solidFill>
                <a:latin typeface="Times New Roman" panose="02020603050405020304" pitchFamily="18" charset="0"/>
              </a:defRPr>
            </a:lvl6pPr>
            <a:lvl7pPr defTabSz="1027113" eaLnBrk="0" fontAlgn="base" hangingPunct="0">
              <a:spcBef>
                <a:spcPct val="0"/>
              </a:spcBef>
              <a:spcAft>
                <a:spcPct val="0"/>
              </a:spcAft>
              <a:defRPr sz="2400">
                <a:solidFill>
                  <a:schemeClr val="tx1"/>
                </a:solidFill>
                <a:latin typeface="Times New Roman" panose="02020603050405020304" pitchFamily="18" charset="0"/>
              </a:defRPr>
            </a:lvl7pPr>
            <a:lvl8pPr defTabSz="1027113" eaLnBrk="0" fontAlgn="base" hangingPunct="0">
              <a:spcBef>
                <a:spcPct val="0"/>
              </a:spcBef>
              <a:spcAft>
                <a:spcPct val="0"/>
              </a:spcAft>
              <a:defRPr sz="2400">
                <a:solidFill>
                  <a:schemeClr val="tx1"/>
                </a:solidFill>
                <a:latin typeface="Times New Roman" panose="02020603050405020304" pitchFamily="18" charset="0"/>
              </a:defRPr>
            </a:lvl8pPr>
            <a:lvl9pPr defTabSz="1027113" eaLnBrk="0" fontAlgn="base" hangingPunct="0">
              <a:spcBef>
                <a:spcPct val="0"/>
              </a:spcBef>
              <a:spcAft>
                <a:spcPct val="0"/>
              </a:spcAft>
              <a:defRPr sz="2400">
                <a:solidFill>
                  <a:schemeClr val="tx1"/>
                </a:solidFill>
                <a:latin typeface="Times New Roman" panose="02020603050405020304" pitchFamily="18" charset="0"/>
              </a:defRPr>
            </a:lvl9pPr>
          </a:lstStyle>
          <a:p>
            <a:pPr marL="285750" indent="-285750">
              <a:spcBef>
                <a:spcPct val="50000"/>
              </a:spcBef>
              <a:buFont typeface="Wingdings" panose="05000000000000000000" pitchFamily="2" charset="2"/>
              <a:buChar char="Ø"/>
            </a:pPr>
            <a:r>
              <a:rPr lang="en-US" altLang="zh-CN" sz="2000" dirty="0">
                <a:latin typeface="Arial" panose="020B0604020202020204" pitchFamily="34" charset="0"/>
                <a:ea typeface="宋体" panose="02010600030101010101" pitchFamily="2" charset="-122"/>
              </a:rPr>
              <a:t>The voltage levels are discrete</a:t>
            </a:r>
          </a:p>
          <a:p>
            <a:pPr marL="285750" indent="-285750">
              <a:spcBef>
                <a:spcPct val="50000"/>
              </a:spcBef>
              <a:buFont typeface="Wingdings" panose="05000000000000000000" pitchFamily="2" charset="2"/>
              <a:buChar char="Ø"/>
            </a:pPr>
            <a:r>
              <a:rPr lang="en-US" altLang="zh-CN" sz="2000" dirty="0">
                <a:latin typeface="Arial" panose="020B0604020202020204" pitchFamily="34" charset="0"/>
                <a:ea typeface="宋体" panose="02010600030101010101" pitchFamily="2" charset="-122"/>
              </a:rPr>
              <a:t>It is proportional to the digital value</a:t>
            </a:r>
          </a:p>
          <a:p>
            <a:pPr marL="285750" indent="-285750">
              <a:spcBef>
                <a:spcPct val="50000"/>
              </a:spcBef>
              <a:buFont typeface="Wingdings" panose="05000000000000000000" pitchFamily="2" charset="2"/>
              <a:buChar char="Ø"/>
            </a:pPr>
            <a:r>
              <a:rPr lang="en-US" altLang="zh-CN" sz="2000" dirty="0">
                <a:latin typeface="Arial" panose="020B0604020202020204" pitchFamily="34" charset="0"/>
                <a:ea typeface="宋体" panose="02010600030101010101" pitchFamily="2" charset="-122"/>
              </a:rPr>
              <a:t>Approximately continuous if the step is small enough</a:t>
            </a:r>
          </a:p>
        </p:txBody>
      </p:sp>
      <p:sp>
        <p:nvSpPr>
          <p:cNvPr id="99" name="Line 64">
            <a:extLst>
              <a:ext uri="{FF2B5EF4-FFF2-40B4-BE49-F238E27FC236}">
                <a16:creationId xmlns:a16="http://schemas.microsoft.com/office/drawing/2014/main" id="{7591B103-BFD9-4694-A181-4B978F4D233F}"/>
              </a:ext>
            </a:extLst>
          </p:cNvPr>
          <p:cNvSpPr>
            <a:spLocks noChangeShapeType="1"/>
          </p:cNvSpPr>
          <p:nvPr/>
        </p:nvSpPr>
        <p:spPr bwMode="auto">
          <a:xfrm>
            <a:off x="7772351" y="1497268"/>
            <a:ext cx="434975" cy="1587"/>
          </a:xfrm>
          <a:prstGeom prst="line">
            <a:avLst/>
          </a:prstGeom>
          <a:noFill/>
          <a:ln w="22225">
            <a:solidFill>
              <a:srgbClr val="0000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 name="Text Box 90">
            <a:extLst>
              <a:ext uri="{FF2B5EF4-FFF2-40B4-BE49-F238E27FC236}">
                <a16:creationId xmlns:a16="http://schemas.microsoft.com/office/drawing/2014/main" id="{8C5B1691-22EA-4B21-A471-61A177A76C62}"/>
              </a:ext>
            </a:extLst>
          </p:cNvPr>
          <p:cNvSpPr txBox="1">
            <a:spLocks noChangeArrowheads="1"/>
          </p:cNvSpPr>
          <p:nvPr/>
        </p:nvSpPr>
        <p:spPr bwMode="auto">
          <a:xfrm>
            <a:off x="1943878" y="5206714"/>
            <a:ext cx="353822" cy="369332"/>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1905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spcBef>
                <a:spcPct val="50000"/>
              </a:spcBef>
            </a:pPr>
            <a:r>
              <a:rPr lang="en-US" altLang="zh-CN" sz="1800" dirty="0">
                <a:solidFill>
                  <a:srgbClr val="FF0000"/>
                </a:solidFill>
                <a:ea typeface="宋体" panose="02010600030101010101" pitchFamily="2" charset="-122"/>
              </a:rPr>
              <a:t>2</a:t>
            </a:r>
            <a:endParaRPr lang="en-US" altLang="zh-CN" sz="1800" dirty="0">
              <a:solidFill>
                <a:srgbClr val="FF0000"/>
              </a:solidFill>
              <a:latin typeface="Arial" panose="020B0604020202020204" pitchFamily="34" charset="0"/>
              <a:ea typeface="宋体" panose="02010600030101010101" pitchFamily="2" charset="-122"/>
            </a:endParaRPr>
          </a:p>
        </p:txBody>
      </p:sp>
      <p:sp>
        <p:nvSpPr>
          <p:cNvPr id="79" name="Text Box 86">
            <a:extLst>
              <a:ext uri="{FF2B5EF4-FFF2-40B4-BE49-F238E27FC236}">
                <a16:creationId xmlns:a16="http://schemas.microsoft.com/office/drawing/2014/main" id="{14937611-D0F8-490B-9AB9-DC23BAE0DE1E}"/>
              </a:ext>
            </a:extLst>
          </p:cNvPr>
          <p:cNvSpPr txBox="1">
            <a:spLocks noChangeArrowheads="1"/>
          </p:cNvSpPr>
          <p:nvPr/>
        </p:nvSpPr>
        <p:spPr bwMode="auto">
          <a:xfrm>
            <a:off x="7979252" y="5173215"/>
            <a:ext cx="478929" cy="369332"/>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1905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spcBef>
                <a:spcPct val="50000"/>
              </a:spcBef>
            </a:pPr>
            <a:r>
              <a:rPr lang="en-US" altLang="zh-CN" sz="1800" dirty="0">
                <a:solidFill>
                  <a:srgbClr val="FF0000"/>
                </a:solidFill>
                <a:latin typeface="Arial" panose="020B0604020202020204" pitchFamily="34" charset="0"/>
                <a:ea typeface="宋体" panose="02010600030101010101" pitchFamily="2" charset="-122"/>
              </a:rPr>
              <a:t>16</a:t>
            </a:r>
          </a:p>
        </p:txBody>
      </p:sp>
    </p:spTree>
    <p:extLst>
      <p:ext uri="{BB962C8B-B14F-4D97-AF65-F5344CB8AC3E}">
        <p14:creationId xmlns:p14="http://schemas.microsoft.com/office/powerpoint/2010/main" val="7804959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US" altLang="zh-CN" dirty="0">
                <a:ea typeface="宋体" panose="02010600030101010101" pitchFamily="2" charset="-122"/>
              </a:rPr>
              <a:t>Binary representation</a:t>
            </a:r>
          </a:p>
        </p:txBody>
      </p:sp>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E6A62542-12D5-49D6-9899-91BD143588AB}"/>
                  </a:ext>
                </a:extLst>
              </p:cNvPr>
              <p:cNvSpPr/>
              <p:nvPr/>
            </p:nvSpPr>
            <p:spPr>
              <a:xfrm>
                <a:off x="762000" y="2905780"/>
                <a:ext cx="6698244" cy="523220"/>
              </a:xfrm>
              <a:prstGeom prst="rect">
                <a:avLst/>
              </a:prstGeom>
            </p:spPr>
            <p:txBody>
              <a:bodyPr wrap="none">
                <a:spAutoFit/>
              </a:bodyPr>
              <a:lstStyle/>
              <a:p>
                <a:r>
                  <a:rPr lang="en-US" altLang="zh-CN" sz="2800" dirty="0"/>
                  <a:t>Digital value =</a:t>
                </a:r>
                <a14:m>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𝑣</m:t>
                        </m:r>
                      </m:e>
                      <m:sub>
                        <m:r>
                          <a:rPr lang="en-US" altLang="zh-CN" sz="2800" b="0" i="1" smtClean="0">
                            <a:latin typeface="Cambria Math" panose="02040503050406030204" pitchFamily="18" charset="0"/>
                          </a:rPr>
                          <m:t>1</m:t>
                        </m:r>
                      </m:sub>
                    </m:sSub>
                    <m:r>
                      <a:rPr lang="en-US" altLang="zh-CN" sz="2800" i="1">
                        <a:latin typeface="Cambria Math" panose="02040503050406030204" pitchFamily="18" charset="0"/>
                      </a:rPr>
                      <m:t>+2</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𝑣</m:t>
                        </m:r>
                      </m:e>
                      <m:sub>
                        <m:r>
                          <a:rPr lang="en-US" altLang="zh-CN" sz="2800" b="0" i="1" smtClean="0">
                            <a:latin typeface="Cambria Math" panose="02040503050406030204" pitchFamily="18" charset="0"/>
                          </a:rPr>
                          <m:t>2</m:t>
                        </m:r>
                      </m:sub>
                    </m:sSub>
                    <m:r>
                      <a:rPr lang="en-US" altLang="zh-CN" sz="2800" i="1">
                        <a:latin typeface="Cambria Math" panose="02040503050406030204" pitchFamily="18" charset="0"/>
                      </a:rPr>
                      <m:t>+4</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𝑣</m:t>
                        </m:r>
                      </m:e>
                      <m:sub>
                        <m:r>
                          <a:rPr lang="en-US" altLang="zh-CN" sz="2800" b="0" i="1" smtClean="0">
                            <a:latin typeface="Cambria Math" panose="02040503050406030204" pitchFamily="18" charset="0"/>
                          </a:rPr>
                          <m:t>3</m:t>
                        </m:r>
                      </m:sub>
                    </m:sSub>
                    <m:r>
                      <a:rPr lang="en-US" altLang="zh-CN" sz="2800" i="1">
                        <a:latin typeface="Cambria Math" panose="02040503050406030204" pitchFamily="18" charset="0"/>
                      </a:rPr>
                      <m:t>+</m:t>
                    </m:r>
                    <m:r>
                      <a:rPr lang="en-US" altLang="zh-CN" sz="2800" b="0" i="1" smtClean="0">
                        <a:latin typeface="Cambria Math" panose="02040503050406030204" pitchFamily="18" charset="0"/>
                      </a:rPr>
                      <m:t>…</m:t>
                    </m:r>
                    <m:sSup>
                      <m:sSupPr>
                        <m:ctrlPr>
                          <a:rPr lang="en-US" altLang="zh-CN" sz="2800" b="0" i="1" smtClean="0">
                            <a:latin typeface="Cambria Math" panose="02040503050406030204" pitchFamily="18" charset="0"/>
                          </a:rPr>
                        </m:ctrlPr>
                      </m:sSupPr>
                      <m:e>
                        <m:r>
                          <a:rPr lang="en-US" altLang="zh-CN" sz="2800" b="0" i="1" smtClean="0">
                            <a:latin typeface="Cambria Math" panose="02040503050406030204" pitchFamily="18" charset="0"/>
                          </a:rPr>
                          <m:t>2</m:t>
                        </m:r>
                      </m:e>
                      <m:sup>
                        <m:r>
                          <a:rPr lang="en-US" altLang="zh-CN" sz="2800" b="0" i="1" smtClean="0">
                            <a:latin typeface="Cambria Math" panose="02040503050406030204" pitchFamily="18" charset="0"/>
                          </a:rPr>
                          <m:t>𝑛</m:t>
                        </m:r>
                        <m:r>
                          <a:rPr lang="en-US" altLang="zh-CN" sz="2800" b="0" i="1" smtClean="0">
                            <a:latin typeface="Cambria Math" panose="02040503050406030204" pitchFamily="18" charset="0"/>
                          </a:rPr>
                          <m:t>−1</m:t>
                        </m:r>
                      </m:sup>
                    </m:sSup>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𝑣</m:t>
                        </m:r>
                      </m:e>
                      <m:sub>
                        <m:r>
                          <a:rPr lang="en-US" altLang="zh-CN" sz="2800" b="0" i="1" smtClean="0">
                            <a:latin typeface="Cambria Math" panose="02040503050406030204" pitchFamily="18" charset="0"/>
                          </a:rPr>
                          <m:t>𝑛</m:t>
                        </m:r>
                      </m:sub>
                    </m:sSub>
                  </m:oMath>
                </a14:m>
                <a:endParaRPr lang="zh-CN" altLang="en-US" sz="2800" dirty="0"/>
              </a:p>
            </p:txBody>
          </p:sp>
        </mc:Choice>
        <mc:Fallback xmlns="">
          <p:sp>
            <p:nvSpPr>
              <p:cNvPr id="9" name="矩形 8">
                <a:extLst>
                  <a:ext uri="{FF2B5EF4-FFF2-40B4-BE49-F238E27FC236}">
                    <a16:creationId xmlns:a16="http://schemas.microsoft.com/office/drawing/2014/main" id="{E6A62542-12D5-49D6-9899-91BD143588AB}"/>
                  </a:ext>
                </a:extLst>
              </p:cNvPr>
              <p:cNvSpPr>
                <a:spLocks noRot="1" noChangeAspect="1" noMove="1" noResize="1" noEditPoints="1" noAdjustHandles="1" noChangeArrowheads="1" noChangeShapeType="1" noTextEdit="1"/>
              </p:cNvSpPr>
              <p:nvPr/>
            </p:nvSpPr>
            <p:spPr>
              <a:xfrm>
                <a:off x="762000" y="2905780"/>
                <a:ext cx="6698244" cy="523220"/>
              </a:xfrm>
              <a:prstGeom prst="rect">
                <a:avLst/>
              </a:prstGeom>
              <a:blipFill>
                <a:blip r:embed="rId3"/>
                <a:stretch>
                  <a:fillRect l="-1820" t="-12791" b="-3139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950A7B68-00EE-479D-8C66-29D315782539}"/>
                  </a:ext>
                </a:extLst>
              </p:cNvPr>
              <p:cNvSpPr txBox="1"/>
              <p:nvPr/>
            </p:nvSpPr>
            <p:spPr>
              <a:xfrm>
                <a:off x="976745" y="1752600"/>
                <a:ext cx="4372992" cy="430887"/>
              </a:xfrm>
              <a:prstGeom prst="rect">
                <a:avLst/>
              </a:prstGeom>
              <a:noFill/>
            </p:spPr>
            <p:txBody>
              <a:bodyPr wrap="none" lIns="0" tIns="0" rIns="0" bIns="0" rtlCol="0">
                <a:spAutoFit/>
              </a:bodyPr>
              <a:lstStyle/>
              <a:p>
                <a14:m>
                  <m:oMath xmlns:m="http://schemas.openxmlformats.org/officeDocument/2006/math">
                    <m:d>
                      <m:dPr>
                        <m:begChr m:val="["/>
                        <m:endChr m:val="]"/>
                        <m:ctrlPr>
                          <a:rPr lang="en-US" altLang="zh-CN" sz="2800" b="0" i="1" smtClean="0">
                            <a:latin typeface="Cambria Math" panose="02040503050406030204" pitchFamily="18" charset="0"/>
                          </a:rPr>
                        </m:ctrlPr>
                      </m:dPr>
                      <m:e>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𝑣</m:t>
                            </m:r>
                          </m:e>
                          <m:sub>
                            <m:r>
                              <a:rPr lang="en-US" altLang="zh-CN" sz="2800" b="0" i="1" smtClean="0">
                                <a:latin typeface="Cambria Math" panose="02040503050406030204" pitchFamily="18" charset="0"/>
                              </a:rPr>
                              <m:t>𝑛</m:t>
                            </m:r>
                          </m:sub>
                        </m:sSub>
                        <m:r>
                          <a:rPr lang="en-US" altLang="zh-CN" sz="2800" b="0" i="1" smtClean="0">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𝑣</m:t>
                            </m:r>
                          </m:e>
                          <m:sub>
                            <m:r>
                              <a:rPr lang="en-US" altLang="zh-CN" sz="2800" b="0" i="1" smtClean="0">
                                <a:latin typeface="Cambria Math" panose="02040503050406030204" pitchFamily="18" charset="0"/>
                              </a:rPr>
                              <m:t>3</m:t>
                            </m:r>
                          </m:sub>
                        </m:sSub>
                        <m:sSub>
                          <m:sSubPr>
                            <m:ctrlPr>
                              <a:rPr lang="en-US" altLang="zh-CN" sz="2800" i="1" smtClean="0">
                                <a:latin typeface="Cambria Math" panose="02040503050406030204" pitchFamily="18" charset="0"/>
                              </a:rPr>
                            </m:ctrlPr>
                          </m:sSubPr>
                          <m:e>
                            <m:r>
                              <a:rPr lang="en-US" altLang="zh-CN" sz="2800" i="1">
                                <a:latin typeface="Cambria Math" panose="02040503050406030204" pitchFamily="18" charset="0"/>
                              </a:rPr>
                              <m:t>𝑣</m:t>
                            </m:r>
                          </m:e>
                          <m:sub>
                            <m:r>
                              <a:rPr lang="en-US" altLang="zh-CN" sz="2800" b="0" i="1" smtClean="0">
                                <a:latin typeface="Cambria Math" panose="02040503050406030204" pitchFamily="18" charset="0"/>
                              </a:rPr>
                              <m:t>2</m:t>
                            </m:r>
                          </m:sub>
                        </m:sSub>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𝑣</m:t>
                            </m:r>
                          </m:e>
                          <m:sub>
                            <m:r>
                              <a:rPr lang="en-US" altLang="zh-CN" sz="2800" i="1">
                                <a:latin typeface="Cambria Math" panose="02040503050406030204" pitchFamily="18" charset="0"/>
                              </a:rPr>
                              <m:t>1</m:t>
                            </m:r>
                          </m:sub>
                        </m:sSub>
                      </m:e>
                    </m:d>
                  </m:oMath>
                </a14:m>
                <a:r>
                  <a:rPr lang="en-US" altLang="zh-CN" sz="2800" dirty="0"/>
                  <a:t>,</a:t>
                </a:r>
                <a:r>
                  <a:rPr lang="zh-CN" altLang="en-US" sz="2800" dirty="0"/>
                  <a:t> </a:t>
                </a:r>
                <a14:m>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𝑣</m:t>
                        </m:r>
                      </m:e>
                      <m:sub>
                        <m:r>
                          <a:rPr lang="en-US" altLang="zh-CN" sz="2800" b="0" i="1" smtClean="0">
                            <a:latin typeface="Cambria Math" panose="02040503050406030204" pitchFamily="18" charset="0"/>
                          </a:rPr>
                          <m:t>𝑖</m:t>
                        </m:r>
                      </m:sub>
                    </m:sSub>
                    <m:r>
                      <a:rPr lang="en-US" altLang="zh-CN" sz="2800" b="0" i="1" smtClean="0">
                        <a:latin typeface="Cambria Math" panose="02040503050406030204" pitchFamily="18" charset="0"/>
                      </a:rPr>
                      <m:t>=0 </m:t>
                    </m:r>
                  </m:oMath>
                </a14:m>
                <a:r>
                  <a:rPr lang="en-US" altLang="zh-CN" sz="2800" dirty="0"/>
                  <a:t>or 1.</a:t>
                </a:r>
                <a:endParaRPr lang="zh-CN" altLang="en-US" sz="2800" dirty="0"/>
              </a:p>
            </p:txBody>
          </p:sp>
        </mc:Choice>
        <mc:Fallback xmlns="">
          <p:sp>
            <p:nvSpPr>
              <p:cNvPr id="10" name="文本框 9">
                <a:extLst>
                  <a:ext uri="{FF2B5EF4-FFF2-40B4-BE49-F238E27FC236}">
                    <a16:creationId xmlns:a16="http://schemas.microsoft.com/office/drawing/2014/main" id="{950A7B68-00EE-479D-8C66-29D315782539}"/>
                  </a:ext>
                </a:extLst>
              </p:cNvPr>
              <p:cNvSpPr txBox="1">
                <a:spLocks noRot="1" noChangeAspect="1" noMove="1" noResize="1" noEditPoints="1" noAdjustHandles="1" noChangeArrowheads="1" noChangeShapeType="1" noTextEdit="1"/>
              </p:cNvSpPr>
              <p:nvPr/>
            </p:nvSpPr>
            <p:spPr>
              <a:xfrm>
                <a:off x="976745" y="1752600"/>
                <a:ext cx="4372992" cy="430887"/>
              </a:xfrm>
              <a:prstGeom prst="rect">
                <a:avLst/>
              </a:prstGeom>
              <a:blipFill>
                <a:blip r:embed="rId4"/>
                <a:stretch>
                  <a:fillRect t="-25714" r="-3900" b="-50000"/>
                </a:stretch>
              </a:blipFill>
            </p:spPr>
            <p:txBody>
              <a:bodyPr/>
              <a:lstStyle/>
              <a:p>
                <a:r>
                  <a:rPr lang="zh-CN" altLang="en-US">
                    <a:noFill/>
                  </a:rPr>
                  <a:t> </a:t>
                </a:r>
              </a:p>
            </p:txBody>
          </p:sp>
        </mc:Fallback>
      </mc:AlternateContent>
      <p:sp>
        <p:nvSpPr>
          <p:cNvPr id="12" name="文本框 11">
            <a:extLst>
              <a:ext uri="{FF2B5EF4-FFF2-40B4-BE49-F238E27FC236}">
                <a16:creationId xmlns:a16="http://schemas.microsoft.com/office/drawing/2014/main" id="{14C2773B-6788-49FD-AC4F-B4D04864A37B}"/>
              </a:ext>
            </a:extLst>
          </p:cNvPr>
          <p:cNvSpPr txBox="1"/>
          <p:nvPr/>
        </p:nvSpPr>
        <p:spPr>
          <a:xfrm>
            <a:off x="2971800" y="2313405"/>
            <a:ext cx="670376" cy="400110"/>
          </a:xfrm>
          <a:prstGeom prst="rect">
            <a:avLst/>
          </a:prstGeom>
          <a:noFill/>
        </p:spPr>
        <p:txBody>
          <a:bodyPr wrap="none" rtlCol="0">
            <a:spAutoFit/>
          </a:bodyPr>
          <a:lstStyle/>
          <a:p>
            <a:r>
              <a:rPr lang="en-US" altLang="zh-CN" dirty="0"/>
              <a:t>LSB</a:t>
            </a:r>
            <a:endParaRPr lang="zh-CN" altLang="en-US" dirty="0"/>
          </a:p>
        </p:txBody>
      </p:sp>
      <p:sp>
        <p:nvSpPr>
          <p:cNvPr id="14" name="文本框 13">
            <a:extLst>
              <a:ext uri="{FF2B5EF4-FFF2-40B4-BE49-F238E27FC236}">
                <a16:creationId xmlns:a16="http://schemas.microsoft.com/office/drawing/2014/main" id="{E3AC56A8-988F-45B1-B5A2-AB71BA62604C}"/>
              </a:ext>
            </a:extLst>
          </p:cNvPr>
          <p:cNvSpPr txBox="1"/>
          <p:nvPr/>
        </p:nvSpPr>
        <p:spPr>
          <a:xfrm>
            <a:off x="694621" y="2313405"/>
            <a:ext cx="740908" cy="400110"/>
          </a:xfrm>
          <a:prstGeom prst="rect">
            <a:avLst/>
          </a:prstGeom>
          <a:noFill/>
        </p:spPr>
        <p:txBody>
          <a:bodyPr wrap="none" rtlCol="0">
            <a:spAutoFit/>
          </a:bodyPr>
          <a:lstStyle/>
          <a:p>
            <a:r>
              <a:rPr lang="en-US" altLang="zh-CN" dirty="0"/>
              <a:t>MSB</a:t>
            </a:r>
            <a:endParaRPr lang="zh-CN" altLang="en-US" dirty="0"/>
          </a:p>
        </p:txBody>
      </p:sp>
    </p:spTree>
    <p:extLst>
      <p:ext uri="{BB962C8B-B14F-4D97-AF65-F5344CB8AC3E}">
        <p14:creationId xmlns:p14="http://schemas.microsoft.com/office/powerpoint/2010/main" val="30063224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US" altLang="zh-CN" dirty="0">
                <a:ea typeface="宋体" panose="02010600030101010101" pitchFamily="2" charset="-122"/>
              </a:rPr>
              <a:t>DAC</a:t>
            </a:r>
          </a:p>
        </p:txBody>
      </p:sp>
      <p:pic>
        <p:nvPicPr>
          <p:cNvPr id="6" name="Picture 5"/>
          <p:cNvPicPr>
            <a:picLocks noChangeAspect="1"/>
          </p:cNvPicPr>
          <p:nvPr/>
        </p:nvPicPr>
        <p:blipFill>
          <a:blip r:embed="rId3"/>
          <a:stretch>
            <a:fillRect/>
          </a:stretch>
        </p:blipFill>
        <p:spPr>
          <a:xfrm>
            <a:off x="457200" y="1609725"/>
            <a:ext cx="3495675" cy="771525"/>
          </a:xfrm>
          <a:prstGeom prst="rect">
            <a:avLst/>
          </a:prstGeom>
        </p:spPr>
      </p:pic>
      <p:pic>
        <p:nvPicPr>
          <p:cNvPr id="7" name="Picture 6"/>
          <p:cNvPicPr>
            <a:picLocks noChangeAspect="1"/>
          </p:cNvPicPr>
          <p:nvPr/>
        </p:nvPicPr>
        <p:blipFill>
          <a:blip r:embed="rId4"/>
          <a:stretch>
            <a:fillRect/>
          </a:stretch>
        </p:blipFill>
        <p:spPr>
          <a:xfrm>
            <a:off x="457200" y="2609850"/>
            <a:ext cx="3495675" cy="1885950"/>
          </a:xfrm>
          <a:prstGeom prst="rect">
            <a:avLst/>
          </a:prstGeom>
        </p:spPr>
      </p:pic>
      <p:grpSp>
        <p:nvGrpSpPr>
          <p:cNvPr id="8" name="组合 7">
            <a:extLst>
              <a:ext uri="{FF2B5EF4-FFF2-40B4-BE49-F238E27FC236}">
                <a16:creationId xmlns:a16="http://schemas.microsoft.com/office/drawing/2014/main" id="{34438EA7-9063-4ECE-B15D-CCCB6EF49880}"/>
              </a:ext>
            </a:extLst>
          </p:cNvPr>
          <p:cNvGrpSpPr/>
          <p:nvPr/>
        </p:nvGrpSpPr>
        <p:grpSpPr>
          <a:xfrm>
            <a:off x="152400" y="4495800"/>
            <a:ext cx="8305631" cy="2234235"/>
            <a:chOff x="152400" y="4495800"/>
            <a:chExt cx="8305631" cy="2234235"/>
          </a:xfrm>
        </p:grpSpPr>
        <mc:AlternateContent xmlns:mc="http://schemas.openxmlformats.org/markup-compatibility/2006" xmlns:a14="http://schemas.microsoft.com/office/drawing/2010/main">
          <mc:Choice Requires="a14">
            <p:sp>
              <p:nvSpPr>
                <p:cNvPr id="2" name="Rectangle 1"/>
                <p:cNvSpPr/>
                <p:nvPr/>
              </p:nvSpPr>
              <p:spPr>
                <a:xfrm>
                  <a:off x="152400" y="4495800"/>
                  <a:ext cx="7730706" cy="587790"/>
                </a:xfrm>
                <a:prstGeom prst="rect">
                  <a:avLst/>
                </a:prstGeom>
              </p:spPr>
              <p:txBody>
                <a:bodyPr wrap="none">
                  <a:spAutoFit/>
                </a:bodyPr>
                <a:lstStyle/>
                <a:p>
                  <a14:m>
                    <m:oMath xmlns:m="http://schemas.openxmlformats.org/officeDocument/2006/math">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𝑉</m:t>
                          </m:r>
                        </m:e>
                        <m:sub>
                          <m:r>
                            <a:rPr lang="en-US" altLang="zh-CN" i="1">
                              <a:latin typeface="Cambria Math" panose="02040503050406030204" pitchFamily="18" charset="0"/>
                            </a:rPr>
                            <m:t>𝑜</m:t>
                          </m:r>
                        </m:sub>
                      </m:sSub>
                      <m:r>
                        <a:rPr lang="en-US" altLang="zh-CN" i="1">
                          <a:latin typeface="Cambria Math" panose="02040503050406030204" pitchFamily="18" charset="0"/>
                        </a:rPr>
                        <m:t>=</m:t>
                      </m:r>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𝑓</m:t>
                              </m:r>
                            </m:sub>
                          </m:sSub>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1</m:t>
                              </m:r>
                            </m:sub>
                          </m:sSub>
                        </m:den>
                      </m:f>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𝑉</m:t>
                          </m:r>
                        </m:e>
                        <m:sub>
                          <m:r>
                            <a:rPr lang="en-US" altLang="zh-CN" i="1">
                              <a:latin typeface="Cambria Math" panose="02040503050406030204" pitchFamily="18" charset="0"/>
                            </a:rPr>
                            <m:t>1</m:t>
                          </m:r>
                        </m:sub>
                      </m:sSub>
                      <m:r>
                        <a:rPr lang="en-US" altLang="zh-CN" i="1">
                          <a:latin typeface="Cambria Math" panose="02040503050406030204" pitchFamily="18" charset="0"/>
                        </a:rPr>
                        <m:t>+</m:t>
                      </m:r>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𝑓</m:t>
                              </m:r>
                            </m:sub>
                          </m:sSub>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2</m:t>
                              </m:r>
                            </m:sub>
                          </m:sSub>
                        </m:den>
                      </m:f>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𝑉</m:t>
                          </m:r>
                        </m:e>
                        <m:sub>
                          <m:r>
                            <a:rPr lang="en-US" altLang="zh-CN" i="1">
                              <a:latin typeface="Cambria Math" panose="02040503050406030204" pitchFamily="18" charset="0"/>
                            </a:rPr>
                            <m:t>2</m:t>
                          </m:r>
                        </m:sub>
                      </m:sSub>
                      <m:r>
                        <a:rPr lang="en-US" altLang="zh-CN" i="1">
                          <a:latin typeface="Cambria Math" panose="02040503050406030204" pitchFamily="18" charset="0"/>
                        </a:rPr>
                        <m:t>+</m:t>
                      </m:r>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𝑓</m:t>
                              </m:r>
                            </m:sub>
                          </m:sSub>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3</m:t>
                              </m:r>
                            </m:sub>
                          </m:sSub>
                        </m:den>
                      </m:f>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𝑉</m:t>
                          </m:r>
                        </m:e>
                        <m:sub>
                          <m:r>
                            <a:rPr lang="en-US" altLang="zh-CN" i="1">
                              <a:latin typeface="Cambria Math" panose="02040503050406030204" pitchFamily="18" charset="0"/>
                            </a:rPr>
                            <m:t>3</m:t>
                          </m:r>
                        </m:sub>
                      </m:sSub>
                      <m:r>
                        <a:rPr lang="en-US" altLang="zh-CN" i="1">
                          <a:latin typeface="Cambria Math" panose="02040503050406030204" pitchFamily="18" charset="0"/>
                        </a:rPr>
                        <m:t>+</m:t>
                      </m:r>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𝑓</m:t>
                              </m:r>
                            </m:sub>
                          </m:sSub>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b="0" i="1" smtClean="0">
                                  <a:latin typeface="Cambria Math" panose="02040503050406030204" pitchFamily="18" charset="0"/>
                                </a:rPr>
                                <m:t>4</m:t>
                              </m:r>
                            </m:sub>
                          </m:sSub>
                        </m:den>
                      </m:f>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b="0" i="1" smtClean="0">
                              <a:latin typeface="Cambria Math" panose="02040503050406030204" pitchFamily="18" charset="0"/>
                            </a:rPr>
                            <m:t>4</m:t>
                          </m:r>
                        </m:sub>
                      </m:sSub>
                      <m:r>
                        <a:rPr lang="en-US" altLang="zh-CN" b="0" i="1" smtClean="0">
                          <a:latin typeface="Cambria Math" panose="02040503050406030204" pitchFamily="18" charset="0"/>
                        </a:rPr>
                        <m:t>=</m:t>
                      </m:r>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𝑓</m:t>
                              </m:r>
                            </m:sub>
                          </m:sSub>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1</m:t>
                              </m:r>
                            </m:sub>
                          </m:sSub>
                        </m:den>
                      </m:f>
                      <m:r>
                        <a:rPr lang="zh-CN" altLang="en-US"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i="1">
                              <a:latin typeface="Cambria Math" panose="02040503050406030204" pitchFamily="18" charset="0"/>
                            </a:rPr>
                            <m:t>1</m:t>
                          </m:r>
                        </m:sub>
                      </m:sSub>
                      <m:r>
                        <a:rPr lang="en-US" altLang="zh-CN" i="1">
                          <a:latin typeface="Cambria Math" panose="02040503050406030204" pitchFamily="18" charset="0"/>
                        </a:rPr>
                        <m:t>+</m:t>
                      </m:r>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b="0" i="1" smtClean="0">
                                  <a:latin typeface="Cambria Math" panose="02040503050406030204" pitchFamily="18" charset="0"/>
                                </a:rPr>
                                <m:t>1</m:t>
                              </m:r>
                            </m:sub>
                          </m:sSub>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2</m:t>
                              </m:r>
                            </m:sub>
                          </m:sSub>
                        </m:den>
                      </m:f>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i="1">
                              <a:latin typeface="Cambria Math" panose="02040503050406030204" pitchFamily="18" charset="0"/>
                            </a:rPr>
                            <m:t>2</m:t>
                          </m:r>
                        </m:sub>
                      </m:sSub>
                      <m:r>
                        <a:rPr lang="en-US" altLang="zh-CN" i="1">
                          <a:latin typeface="Cambria Math" panose="02040503050406030204" pitchFamily="18" charset="0"/>
                        </a:rPr>
                        <m:t>+</m:t>
                      </m:r>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b="0" i="1" smtClean="0">
                                  <a:latin typeface="Cambria Math" panose="02040503050406030204" pitchFamily="18" charset="0"/>
                                </a:rPr>
                                <m:t>1</m:t>
                              </m:r>
                            </m:sub>
                          </m:sSub>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3</m:t>
                              </m:r>
                            </m:sub>
                          </m:sSub>
                        </m:den>
                      </m:f>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i="1">
                              <a:latin typeface="Cambria Math" panose="02040503050406030204" pitchFamily="18" charset="0"/>
                            </a:rPr>
                            <m:t>3</m:t>
                          </m:r>
                        </m:sub>
                      </m:sSub>
                      <m:r>
                        <a:rPr lang="en-US" altLang="zh-CN" i="1">
                          <a:latin typeface="Cambria Math" panose="02040503050406030204" pitchFamily="18" charset="0"/>
                        </a:rPr>
                        <m:t>+</m:t>
                      </m:r>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b="0" i="1" smtClean="0">
                                  <a:latin typeface="Cambria Math" panose="02040503050406030204" pitchFamily="18" charset="0"/>
                                </a:rPr>
                                <m:t>1</m:t>
                              </m:r>
                            </m:sub>
                          </m:sSub>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4</m:t>
                              </m:r>
                            </m:sub>
                          </m:sSub>
                        </m:den>
                      </m:f>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i="1">
                              <a:latin typeface="Cambria Math" panose="02040503050406030204" pitchFamily="18" charset="0"/>
                            </a:rPr>
                            <m:t>4</m:t>
                          </m:r>
                        </m:sub>
                      </m:sSub>
                    </m:oMath>
                  </a14:m>
                  <a:r>
                    <a:rPr lang="zh-CN" altLang="en-US" dirty="0"/>
                    <a:t>）</a:t>
                  </a:r>
                </a:p>
              </p:txBody>
            </p:sp>
          </mc:Choice>
          <mc:Fallback xmlns="">
            <p:sp>
              <p:nvSpPr>
                <p:cNvPr id="2" name="Rectangle 1"/>
                <p:cNvSpPr>
                  <a:spLocks noRot="1" noChangeAspect="1" noMove="1" noResize="1" noEditPoints="1" noAdjustHandles="1" noChangeArrowheads="1" noChangeShapeType="1" noTextEdit="1"/>
                </p:cNvSpPr>
                <p:nvPr/>
              </p:nvSpPr>
              <p:spPr>
                <a:xfrm>
                  <a:off x="152400" y="4495800"/>
                  <a:ext cx="7730706" cy="587790"/>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A6E630D0-5B57-40D7-A67A-B815D675D8DB}"/>
                    </a:ext>
                  </a:extLst>
                </p:cNvPr>
                <p:cNvSpPr/>
                <p:nvPr/>
              </p:nvSpPr>
              <p:spPr>
                <a:xfrm>
                  <a:off x="609600" y="5410200"/>
                  <a:ext cx="7848431" cy="586379"/>
                </a:xfrm>
                <a:prstGeom prst="rect">
                  <a:avLst/>
                </a:prstGeom>
              </p:spPr>
              <p:txBody>
                <a:bodyPr wrap="none">
                  <a:spAutoFit/>
                </a:bodyPr>
                <a:lstStyle/>
                <a:p>
                  <a:r>
                    <a:rPr lang="en-US" altLang="zh-CN" dirty="0"/>
                    <a:t>If</a:t>
                  </a:r>
                  <a14:m>
                    <m:oMath xmlns:m="http://schemas.openxmlformats.org/officeDocument/2006/math">
                      <m:r>
                        <a:rPr lang="en-US" altLang="zh-CN" b="0" i="0" smtClean="0">
                          <a:latin typeface="Cambria Math" panose="02040503050406030204" pitchFamily="18" charset="0"/>
                        </a:rPr>
                        <m:t> </m:t>
                      </m:r>
                      <m:f>
                        <m:fPr>
                          <m:ctrlPr>
                            <a:rPr lang="en-US" altLang="zh-CN" i="1" smtClean="0">
                              <a:latin typeface="Cambria Math" panose="02040503050406030204" pitchFamily="18" charset="0"/>
                            </a:rPr>
                          </m:ctrlPr>
                        </m:fPr>
                        <m:num>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𝑅</m:t>
                              </m:r>
                            </m:e>
                            <m:sub>
                              <m:r>
                                <a:rPr lang="en-US" altLang="zh-CN" b="0" i="1" smtClean="0">
                                  <a:latin typeface="Cambria Math" panose="02040503050406030204" pitchFamily="18" charset="0"/>
                                </a:rPr>
                                <m:t>1</m:t>
                              </m:r>
                            </m:sub>
                          </m:sSub>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b="0" i="1" smtClean="0">
                                  <a:latin typeface="Cambria Math" panose="02040503050406030204" pitchFamily="18" charset="0"/>
                                </a:rPr>
                                <m:t>2</m:t>
                              </m:r>
                            </m:sub>
                          </m:sSub>
                        </m:den>
                      </m:f>
                      <m:r>
                        <a:rPr lang="en-US" altLang="zh-CN" b="0" i="1" smtClean="0">
                          <a:latin typeface="Cambria Math" panose="02040503050406030204" pitchFamily="18" charset="0"/>
                        </a:rPr>
                        <m:t>=2</m:t>
                      </m:r>
                      <m:r>
                        <a:rPr lang="zh-CN" altLang="en-US" i="1">
                          <a:latin typeface="Cambria Math" panose="02040503050406030204" pitchFamily="18" charset="0"/>
                        </a:rPr>
                        <m:t>，</m:t>
                      </m:r>
                    </m:oMath>
                  </a14:m>
                  <a:r>
                    <a:rPr lang="en-US" altLang="zh-CN" dirty="0"/>
                    <a:t> </a:t>
                  </a:r>
                  <a14:m>
                    <m:oMath xmlns:m="http://schemas.openxmlformats.org/officeDocument/2006/math">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1</m:t>
                              </m:r>
                            </m:sub>
                          </m:sSub>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b="0" i="1" smtClean="0">
                                  <a:latin typeface="Cambria Math" panose="02040503050406030204" pitchFamily="18" charset="0"/>
                                </a:rPr>
                                <m:t>3</m:t>
                              </m:r>
                            </m:sub>
                          </m:sSub>
                        </m:den>
                      </m:f>
                      <m:r>
                        <a:rPr lang="en-US" altLang="zh-CN" i="1">
                          <a:latin typeface="Cambria Math" panose="02040503050406030204" pitchFamily="18" charset="0"/>
                        </a:rPr>
                        <m:t>=</m:t>
                      </m:r>
                      <m:r>
                        <a:rPr lang="en-US" altLang="zh-CN" b="0" i="1" smtClean="0">
                          <a:latin typeface="Cambria Math" panose="02040503050406030204" pitchFamily="18" charset="0"/>
                        </a:rPr>
                        <m:t>4</m:t>
                      </m:r>
                    </m:oMath>
                  </a14:m>
                  <a:r>
                    <a:rPr lang="zh-CN" altLang="en-US" dirty="0"/>
                    <a:t>，</a:t>
                  </a:r>
                  <a:r>
                    <a:rPr lang="en-US" altLang="zh-CN" dirty="0"/>
                    <a:t> </a:t>
                  </a:r>
                  <a14:m>
                    <m:oMath xmlns:m="http://schemas.openxmlformats.org/officeDocument/2006/math">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1</m:t>
                              </m:r>
                            </m:sub>
                          </m:sSub>
                        </m:num>
                        <m:den>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𝑅</m:t>
                              </m:r>
                            </m:e>
                            <m:sub>
                              <m:r>
                                <a:rPr lang="en-US" altLang="zh-CN" b="0" i="1" smtClean="0">
                                  <a:latin typeface="Cambria Math" panose="02040503050406030204" pitchFamily="18" charset="0"/>
                                </a:rPr>
                                <m:t>4</m:t>
                              </m:r>
                            </m:sub>
                          </m:sSub>
                        </m:den>
                      </m:f>
                      <m:r>
                        <a:rPr lang="en-US" altLang="zh-CN" i="1">
                          <a:latin typeface="Cambria Math" panose="02040503050406030204" pitchFamily="18" charset="0"/>
                        </a:rPr>
                        <m:t>=</m:t>
                      </m:r>
                      <m:r>
                        <a:rPr lang="en-US" altLang="zh-CN" b="0" i="1" smtClean="0">
                          <a:latin typeface="Cambria Math" panose="02040503050406030204" pitchFamily="18" charset="0"/>
                        </a:rPr>
                        <m:t>8</m:t>
                      </m:r>
                    </m:oMath>
                  </a14:m>
                  <a:r>
                    <a:rPr lang="zh-CN" altLang="en-US" dirty="0"/>
                    <a:t>， </a:t>
                  </a:r>
                  <a:r>
                    <a:rPr lang="en-US" altLang="zh-CN" dirty="0"/>
                    <a:t>then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i="1">
                              <a:latin typeface="Cambria Math" panose="02040503050406030204" pitchFamily="18" charset="0"/>
                            </a:rPr>
                            <m:t>𝑜</m:t>
                          </m:r>
                        </m:sub>
                      </m:sSub>
                    </m:oMath>
                  </a14:m>
                  <a:r>
                    <a:rPr lang="en-US" altLang="zh-CN" dirty="0"/>
                    <a:t>=</a:t>
                  </a:r>
                  <a14:m>
                    <m:oMath xmlns:m="http://schemas.openxmlformats.org/officeDocument/2006/math">
                      <m:r>
                        <a:rPr lang="en-US" altLang="zh-CN" b="0" i="0" smtClean="0">
                          <a:latin typeface="Cambria Math" panose="02040503050406030204" pitchFamily="18" charset="0"/>
                        </a:rPr>
                        <m:t>−</m:t>
                      </m:r>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𝑓</m:t>
                              </m:r>
                            </m:sub>
                          </m:sSub>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1</m:t>
                              </m:r>
                            </m:sub>
                          </m:sSub>
                        </m:den>
                      </m:f>
                      <m:r>
                        <a:rPr lang="zh-CN" altLang="en-US"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i="1">
                              <a:latin typeface="Cambria Math" panose="02040503050406030204" pitchFamily="18" charset="0"/>
                            </a:rPr>
                            <m:t>1</m:t>
                          </m:r>
                        </m:sub>
                      </m:sSub>
                      <m:r>
                        <a:rPr lang="en-US" altLang="zh-CN" i="1">
                          <a:latin typeface="Cambria Math" panose="02040503050406030204" pitchFamily="18" charset="0"/>
                        </a:rPr>
                        <m:t>+</m:t>
                      </m:r>
                      <m:r>
                        <a:rPr lang="en-US" altLang="zh-CN" b="0" i="1" smtClean="0">
                          <a:latin typeface="Cambria Math" panose="02040503050406030204" pitchFamily="18" charset="0"/>
                        </a:rPr>
                        <m:t>2</m:t>
                      </m:r>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i="1">
                              <a:latin typeface="Cambria Math" panose="02040503050406030204" pitchFamily="18" charset="0"/>
                            </a:rPr>
                            <m:t>2</m:t>
                          </m:r>
                        </m:sub>
                      </m:sSub>
                      <m:r>
                        <a:rPr lang="en-US" altLang="zh-CN" i="1">
                          <a:latin typeface="Cambria Math" panose="02040503050406030204" pitchFamily="18" charset="0"/>
                        </a:rPr>
                        <m:t>+</m:t>
                      </m:r>
                      <m:r>
                        <a:rPr lang="en-US" altLang="zh-CN" b="0" i="1" smtClean="0">
                          <a:latin typeface="Cambria Math" panose="02040503050406030204" pitchFamily="18" charset="0"/>
                        </a:rPr>
                        <m:t>4</m:t>
                      </m:r>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i="1">
                              <a:latin typeface="Cambria Math" panose="02040503050406030204" pitchFamily="18" charset="0"/>
                            </a:rPr>
                            <m:t>3</m:t>
                          </m:r>
                        </m:sub>
                      </m:sSub>
                      <m:r>
                        <a:rPr lang="en-US" altLang="zh-CN" i="1">
                          <a:latin typeface="Cambria Math" panose="02040503050406030204" pitchFamily="18" charset="0"/>
                        </a:rPr>
                        <m:t>+</m:t>
                      </m:r>
                      <m:r>
                        <a:rPr lang="en-US" altLang="zh-CN" b="0" i="1" smtClean="0">
                          <a:latin typeface="Cambria Math" panose="02040503050406030204" pitchFamily="18" charset="0"/>
                        </a:rPr>
                        <m:t>8</m:t>
                      </m:r>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i="1">
                              <a:latin typeface="Cambria Math" panose="02040503050406030204" pitchFamily="18" charset="0"/>
                            </a:rPr>
                            <m:t>4</m:t>
                          </m:r>
                        </m:sub>
                      </m:sSub>
                    </m:oMath>
                  </a14:m>
                  <a:r>
                    <a:rPr lang="zh-CN" altLang="en-US" dirty="0"/>
                    <a:t>）</a:t>
                  </a:r>
                </a:p>
              </p:txBody>
            </p:sp>
          </mc:Choice>
          <mc:Fallback xmlns="">
            <p:sp>
              <p:nvSpPr>
                <p:cNvPr id="3" name="矩形 2">
                  <a:extLst>
                    <a:ext uri="{FF2B5EF4-FFF2-40B4-BE49-F238E27FC236}">
                      <a16:creationId xmlns:a16="http://schemas.microsoft.com/office/drawing/2014/main" id="{A6E630D0-5B57-40D7-A67A-B815D675D8DB}"/>
                    </a:ext>
                  </a:extLst>
                </p:cNvPr>
                <p:cNvSpPr>
                  <a:spLocks noRot="1" noChangeAspect="1" noMove="1" noResize="1" noEditPoints="1" noAdjustHandles="1" noChangeArrowheads="1" noChangeShapeType="1" noTextEdit="1"/>
                </p:cNvSpPr>
                <p:nvPr/>
              </p:nvSpPr>
              <p:spPr>
                <a:xfrm>
                  <a:off x="609600" y="5410200"/>
                  <a:ext cx="7848431" cy="586379"/>
                </a:xfrm>
                <a:prstGeom prst="rect">
                  <a:avLst/>
                </a:prstGeom>
                <a:blipFill>
                  <a:blip r:embed="rId6"/>
                  <a:stretch>
                    <a:fillRect l="-777"/>
                  </a:stretch>
                </a:blipFill>
              </p:spPr>
              <p:txBody>
                <a:bodyPr/>
                <a:lstStyle/>
                <a:p>
                  <a:r>
                    <a:rPr lang="zh-CN" altLang="en-US">
                      <a:noFill/>
                    </a:rPr>
                    <a:t> </a:t>
                  </a:r>
                </a:p>
              </p:txBody>
            </p:sp>
          </mc:Fallback>
        </mc:AlternateContent>
        <p:sp>
          <p:nvSpPr>
            <p:cNvPr id="4" name="右大括号 3">
              <a:extLst>
                <a:ext uri="{FF2B5EF4-FFF2-40B4-BE49-F238E27FC236}">
                  <a16:creationId xmlns:a16="http://schemas.microsoft.com/office/drawing/2014/main" id="{F8D6615B-D0CD-433C-B904-052BDD88C25E}"/>
                </a:ext>
              </a:extLst>
            </p:cNvPr>
            <p:cNvSpPr/>
            <p:nvPr/>
          </p:nvSpPr>
          <p:spPr>
            <a:xfrm rot="5400000">
              <a:off x="6566444" y="4939756"/>
              <a:ext cx="380999" cy="2388689"/>
            </a:xfrm>
            <a:prstGeom prst="rightBrac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292B92F6-E455-40F0-9B02-66BA4DECA51B}"/>
                </a:ext>
              </a:extLst>
            </p:cNvPr>
            <p:cNvSpPr txBox="1"/>
            <p:nvPr/>
          </p:nvSpPr>
          <p:spPr>
            <a:xfrm>
              <a:off x="5872799" y="6329925"/>
              <a:ext cx="2052165" cy="400110"/>
            </a:xfrm>
            <a:prstGeom prst="rect">
              <a:avLst/>
            </a:prstGeom>
            <a:noFill/>
          </p:spPr>
          <p:txBody>
            <a:bodyPr wrap="none" rtlCol="0">
              <a:spAutoFit/>
            </a:bodyPr>
            <a:lstStyle/>
            <a:p>
              <a:r>
                <a:rPr lang="zh-CN" altLang="en-US" dirty="0"/>
                <a:t>二进制数字的值</a:t>
              </a:r>
            </a:p>
          </p:txBody>
        </p:sp>
      </p:grpSp>
    </p:spTree>
    <p:extLst>
      <p:ext uri="{BB962C8B-B14F-4D97-AF65-F5344CB8AC3E}">
        <p14:creationId xmlns:p14="http://schemas.microsoft.com/office/powerpoint/2010/main" val="318486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52025" name="Group 89"/>
          <p:cNvGrpSpPr>
            <a:grpSpLocks/>
          </p:cNvGrpSpPr>
          <p:nvPr/>
        </p:nvGrpSpPr>
        <p:grpSpPr bwMode="auto">
          <a:xfrm>
            <a:off x="1879600" y="1580139"/>
            <a:ext cx="4556125" cy="2671763"/>
            <a:chOff x="175" y="1765"/>
            <a:chExt cx="2870" cy="1683"/>
          </a:xfrm>
        </p:grpSpPr>
        <p:sp>
          <p:nvSpPr>
            <p:cNvPr id="552026" name="Text Box 90"/>
            <p:cNvSpPr txBox="1">
              <a:spLocks noChangeArrowheads="1"/>
            </p:cNvSpPr>
            <p:nvPr/>
          </p:nvSpPr>
          <p:spPr bwMode="auto">
            <a:xfrm>
              <a:off x="837" y="3198"/>
              <a:ext cx="865"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spcBef>
                  <a:spcPct val="50000"/>
                </a:spcBef>
              </a:pPr>
              <a:r>
                <a:rPr lang="en-US" altLang="zh-CN" sz="2000">
                  <a:latin typeface="Arial" panose="020B0604020202020204" pitchFamily="34" charset="0"/>
                  <a:ea typeface="宋体" panose="02010600030101010101" pitchFamily="2" charset="-122"/>
                </a:rPr>
                <a:t>4-Bit D/A</a:t>
              </a:r>
            </a:p>
          </p:txBody>
        </p:sp>
        <p:grpSp>
          <p:nvGrpSpPr>
            <p:cNvPr id="552027" name="Group 91"/>
            <p:cNvGrpSpPr>
              <a:grpSpLocks noChangeAspect="1"/>
            </p:cNvGrpSpPr>
            <p:nvPr/>
          </p:nvGrpSpPr>
          <p:grpSpPr bwMode="auto">
            <a:xfrm rot="-5400000">
              <a:off x="1493" y="1684"/>
              <a:ext cx="98" cy="616"/>
              <a:chOff x="1939" y="2585"/>
              <a:chExt cx="131" cy="788"/>
            </a:xfrm>
          </p:grpSpPr>
          <p:grpSp>
            <p:nvGrpSpPr>
              <p:cNvPr id="552028" name="Group 92"/>
              <p:cNvGrpSpPr>
                <a:grpSpLocks noChangeAspect="1"/>
              </p:cNvGrpSpPr>
              <p:nvPr/>
            </p:nvGrpSpPr>
            <p:grpSpPr bwMode="auto">
              <a:xfrm rot="5400000">
                <a:off x="1913" y="2916"/>
                <a:ext cx="184" cy="131"/>
                <a:chOff x="1777" y="2942"/>
                <a:chExt cx="345" cy="245"/>
              </a:xfrm>
            </p:grpSpPr>
            <p:sp>
              <p:nvSpPr>
                <p:cNvPr id="552029" name="Line 93"/>
                <p:cNvSpPr>
                  <a:spLocks noChangeAspect="1" noChangeShapeType="1"/>
                </p:cNvSpPr>
                <p:nvPr/>
              </p:nvSpPr>
              <p:spPr bwMode="auto">
                <a:xfrm rot="-5400000">
                  <a:off x="1724" y="2996"/>
                  <a:ext cx="158" cy="5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52030" name="Line 94"/>
                <p:cNvSpPr>
                  <a:spLocks noChangeAspect="1" noChangeShapeType="1"/>
                </p:cNvSpPr>
                <p:nvPr/>
              </p:nvSpPr>
              <p:spPr bwMode="auto">
                <a:xfrm rot="16200000" flipH="1">
                  <a:off x="1743" y="3027"/>
                  <a:ext cx="245" cy="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52031" name="Line 95"/>
                <p:cNvSpPr>
                  <a:spLocks noChangeAspect="1" noChangeShapeType="1"/>
                </p:cNvSpPr>
                <p:nvPr/>
              </p:nvSpPr>
              <p:spPr bwMode="auto">
                <a:xfrm rot="-5400000">
                  <a:off x="1815" y="3048"/>
                  <a:ext cx="227" cy="5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52032" name="Line 96"/>
                <p:cNvSpPr>
                  <a:spLocks noChangeAspect="1" noChangeShapeType="1"/>
                </p:cNvSpPr>
                <p:nvPr/>
              </p:nvSpPr>
              <p:spPr bwMode="auto">
                <a:xfrm rot="16200000" flipH="1">
                  <a:off x="1875" y="3039"/>
                  <a:ext cx="227" cy="7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52033" name="Line 97"/>
                <p:cNvSpPr>
                  <a:spLocks noChangeAspect="1" noChangeShapeType="1"/>
                </p:cNvSpPr>
                <p:nvPr/>
              </p:nvSpPr>
              <p:spPr bwMode="auto">
                <a:xfrm rot="-5400000">
                  <a:off x="1936" y="3048"/>
                  <a:ext cx="227" cy="5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52034" name="Line 98"/>
                <p:cNvSpPr>
                  <a:spLocks noChangeAspect="1" noChangeShapeType="1"/>
                </p:cNvSpPr>
                <p:nvPr/>
              </p:nvSpPr>
              <p:spPr bwMode="auto">
                <a:xfrm rot="16200000" flipH="1">
                  <a:off x="2028" y="3007"/>
                  <a:ext cx="141" cy="4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552035" name="Line 99"/>
              <p:cNvSpPr>
                <a:spLocks noChangeAspect="1" noChangeShapeType="1"/>
              </p:cNvSpPr>
              <p:nvPr/>
            </p:nvSpPr>
            <p:spPr bwMode="auto">
              <a:xfrm flipV="1">
                <a:off x="1993" y="2585"/>
                <a:ext cx="0" cy="30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52036" name="Line 100"/>
              <p:cNvSpPr>
                <a:spLocks noChangeAspect="1" noChangeShapeType="1"/>
              </p:cNvSpPr>
              <p:nvPr/>
            </p:nvSpPr>
            <p:spPr bwMode="auto">
              <a:xfrm flipV="1">
                <a:off x="1988" y="3068"/>
                <a:ext cx="0" cy="30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552037" name="Rectangle 101"/>
            <p:cNvSpPr>
              <a:spLocks noChangeArrowheads="1"/>
            </p:cNvSpPr>
            <p:nvPr/>
          </p:nvSpPr>
          <p:spPr bwMode="auto">
            <a:xfrm>
              <a:off x="175" y="2426"/>
              <a:ext cx="19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zh-CN" sz="2000">
                  <a:latin typeface="Arial" panose="020B0604020202020204" pitchFamily="34" charset="0"/>
                  <a:ea typeface="宋体" panose="02010600030101010101" pitchFamily="2" charset="-122"/>
                </a:rPr>
                <a:t>8V</a:t>
              </a:r>
            </a:p>
          </p:txBody>
        </p:sp>
        <p:grpSp>
          <p:nvGrpSpPr>
            <p:cNvPr id="552038" name="Group 102"/>
            <p:cNvGrpSpPr>
              <a:grpSpLocks/>
            </p:cNvGrpSpPr>
            <p:nvPr/>
          </p:nvGrpSpPr>
          <p:grpSpPr bwMode="auto">
            <a:xfrm>
              <a:off x="2286" y="2625"/>
              <a:ext cx="100" cy="375"/>
              <a:chOff x="2482" y="2793"/>
              <a:chExt cx="100" cy="375"/>
            </a:xfrm>
          </p:grpSpPr>
          <p:sp>
            <p:nvSpPr>
              <p:cNvPr id="552039" name="Rectangle 103"/>
              <p:cNvSpPr>
                <a:spLocks noChangeArrowheads="1"/>
              </p:cNvSpPr>
              <p:nvPr/>
            </p:nvSpPr>
            <p:spPr bwMode="auto">
              <a:xfrm>
                <a:off x="2482" y="2793"/>
                <a:ext cx="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zh-CN" sz="2200">
                    <a:solidFill>
                      <a:srgbClr val="000000"/>
                    </a:solidFill>
                    <a:latin typeface="Symbol" panose="05050102010706020507" pitchFamily="18" charset="2"/>
                    <a:ea typeface="宋体" panose="02010600030101010101" pitchFamily="2" charset="-122"/>
                  </a:rPr>
                  <a:t>-</a:t>
                </a:r>
                <a:endParaRPr lang="en-US" altLang="zh-CN" sz="2000">
                  <a:latin typeface="Arial" panose="020B0604020202020204" pitchFamily="34" charset="0"/>
                  <a:ea typeface="宋体" panose="02010600030101010101" pitchFamily="2" charset="-122"/>
                </a:endParaRPr>
              </a:p>
            </p:txBody>
          </p:sp>
          <p:sp>
            <p:nvSpPr>
              <p:cNvPr id="552040" name="Rectangle 104"/>
              <p:cNvSpPr>
                <a:spLocks noChangeArrowheads="1"/>
              </p:cNvSpPr>
              <p:nvPr/>
            </p:nvSpPr>
            <p:spPr bwMode="auto">
              <a:xfrm>
                <a:off x="2483" y="2957"/>
                <a:ext cx="99"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zh-CN" sz="2200">
                    <a:solidFill>
                      <a:srgbClr val="000000"/>
                    </a:solidFill>
                    <a:latin typeface="Times" panose="02020603050405020304" pitchFamily="18" charset="0"/>
                    <a:ea typeface="宋体" panose="02010600030101010101" pitchFamily="2" charset="-122"/>
                  </a:rPr>
                  <a:t>+</a:t>
                </a:r>
                <a:endParaRPr lang="en-US" altLang="zh-CN" sz="2000">
                  <a:latin typeface="Arial" panose="020B0604020202020204" pitchFamily="34" charset="0"/>
                  <a:ea typeface="宋体" panose="02010600030101010101" pitchFamily="2" charset="-122"/>
                </a:endParaRPr>
              </a:p>
            </p:txBody>
          </p:sp>
        </p:grpSp>
        <p:grpSp>
          <p:nvGrpSpPr>
            <p:cNvPr id="552041" name="Group 105"/>
            <p:cNvGrpSpPr>
              <a:grpSpLocks/>
            </p:cNvGrpSpPr>
            <p:nvPr/>
          </p:nvGrpSpPr>
          <p:grpSpPr bwMode="auto">
            <a:xfrm>
              <a:off x="2001" y="2519"/>
              <a:ext cx="726" cy="98"/>
              <a:chOff x="2225" y="2344"/>
              <a:chExt cx="726" cy="98"/>
            </a:xfrm>
          </p:grpSpPr>
          <p:grpSp>
            <p:nvGrpSpPr>
              <p:cNvPr id="552042" name="Group 106"/>
              <p:cNvGrpSpPr>
                <a:grpSpLocks noChangeAspect="1"/>
              </p:cNvGrpSpPr>
              <p:nvPr/>
            </p:nvGrpSpPr>
            <p:grpSpPr bwMode="auto">
              <a:xfrm>
                <a:off x="2463" y="2344"/>
                <a:ext cx="144" cy="98"/>
                <a:chOff x="1777" y="2942"/>
                <a:chExt cx="345" cy="245"/>
              </a:xfrm>
            </p:grpSpPr>
            <p:sp>
              <p:nvSpPr>
                <p:cNvPr id="552043" name="Line 107"/>
                <p:cNvSpPr>
                  <a:spLocks noChangeAspect="1" noChangeShapeType="1"/>
                </p:cNvSpPr>
                <p:nvPr/>
              </p:nvSpPr>
              <p:spPr bwMode="auto">
                <a:xfrm rot="-5400000">
                  <a:off x="1724" y="2996"/>
                  <a:ext cx="158" cy="5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52044" name="Line 108"/>
                <p:cNvSpPr>
                  <a:spLocks noChangeAspect="1" noChangeShapeType="1"/>
                </p:cNvSpPr>
                <p:nvPr/>
              </p:nvSpPr>
              <p:spPr bwMode="auto">
                <a:xfrm rot="16200000" flipH="1">
                  <a:off x="1743" y="3027"/>
                  <a:ext cx="245" cy="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52045" name="Line 109"/>
                <p:cNvSpPr>
                  <a:spLocks noChangeAspect="1" noChangeShapeType="1"/>
                </p:cNvSpPr>
                <p:nvPr/>
              </p:nvSpPr>
              <p:spPr bwMode="auto">
                <a:xfrm rot="-5400000">
                  <a:off x="1815" y="3048"/>
                  <a:ext cx="227" cy="5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52046" name="Line 110"/>
                <p:cNvSpPr>
                  <a:spLocks noChangeAspect="1" noChangeShapeType="1"/>
                </p:cNvSpPr>
                <p:nvPr/>
              </p:nvSpPr>
              <p:spPr bwMode="auto">
                <a:xfrm rot="16200000" flipH="1">
                  <a:off x="1875" y="3039"/>
                  <a:ext cx="227" cy="7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52047" name="Line 111"/>
                <p:cNvSpPr>
                  <a:spLocks noChangeAspect="1" noChangeShapeType="1"/>
                </p:cNvSpPr>
                <p:nvPr/>
              </p:nvSpPr>
              <p:spPr bwMode="auto">
                <a:xfrm rot="-5400000">
                  <a:off x="1936" y="3048"/>
                  <a:ext cx="227" cy="5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52048" name="Line 112"/>
                <p:cNvSpPr>
                  <a:spLocks noChangeAspect="1" noChangeShapeType="1"/>
                </p:cNvSpPr>
                <p:nvPr/>
              </p:nvSpPr>
              <p:spPr bwMode="auto">
                <a:xfrm rot="16200000" flipH="1">
                  <a:off x="2028" y="3007"/>
                  <a:ext cx="141" cy="4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552049" name="Line 113"/>
              <p:cNvSpPr>
                <a:spLocks noChangeAspect="1" noChangeShapeType="1"/>
              </p:cNvSpPr>
              <p:nvPr/>
            </p:nvSpPr>
            <p:spPr bwMode="auto">
              <a:xfrm rot="16200000" flipV="1">
                <a:off x="2344" y="2283"/>
                <a:ext cx="0" cy="23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52050" name="Line 114"/>
              <p:cNvSpPr>
                <a:spLocks noChangeAspect="1" noChangeShapeType="1"/>
              </p:cNvSpPr>
              <p:nvPr/>
            </p:nvSpPr>
            <p:spPr bwMode="auto">
              <a:xfrm rot="16200000" flipV="1">
                <a:off x="2777" y="2231"/>
                <a:ext cx="0" cy="3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grpSp>
          <p:nvGrpSpPr>
            <p:cNvPr id="552051" name="Group 115"/>
            <p:cNvGrpSpPr>
              <a:grpSpLocks/>
            </p:cNvGrpSpPr>
            <p:nvPr/>
          </p:nvGrpSpPr>
          <p:grpSpPr bwMode="auto">
            <a:xfrm>
              <a:off x="1848" y="2314"/>
              <a:ext cx="1197" cy="690"/>
              <a:chOff x="2072" y="2482"/>
              <a:chExt cx="1197" cy="690"/>
            </a:xfrm>
          </p:grpSpPr>
          <p:sp>
            <p:nvSpPr>
              <p:cNvPr id="552052" name="AutoShape 116"/>
              <p:cNvSpPr>
                <a:spLocks noChangeAspect="1" noChangeArrowheads="1"/>
              </p:cNvSpPr>
              <p:nvPr/>
            </p:nvSpPr>
            <p:spPr bwMode="auto">
              <a:xfrm rot="5400000">
                <a:off x="2485" y="2827"/>
                <a:ext cx="345" cy="345"/>
              </a:xfrm>
              <a:prstGeom prst="triangle">
                <a:avLst>
                  <a:gd name="adj" fmla="val 50000"/>
                </a:avLst>
              </a:prstGeom>
              <a:solidFill>
                <a:srgbClr val="FF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52053" name="Line 117"/>
              <p:cNvSpPr>
                <a:spLocks noChangeShapeType="1"/>
              </p:cNvSpPr>
              <p:nvPr/>
            </p:nvSpPr>
            <p:spPr bwMode="auto">
              <a:xfrm flipV="1">
                <a:off x="2951" y="2751"/>
                <a:ext cx="0" cy="24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52054" name="Line 118"/>
              <p:cNvSpPr>
                <a:spLocks noChangeShapeType="1"/>
              </p:cNvSpPr>
              <p:nvPr/>
            </p:nvSpPr>
            <p:spPr bwMode="auto">
              <a:xfrm flipH="1">
                <a:off x="2072" y="2916"/>
                <a:ext cx="41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52055" name="Rectangle 119"/>
              <p:cNvSpPr>
                <a:spLocks noChangeArrowheads="1"/>
              </p:cNvSpPr>
              <p:nvPr/>
            </p:nvSpPr>
            <p:spPr bwMode="auto">
              <a:xfrm>
                <a:off x="3101" y="2916"/>
                <a:ext cx="16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zh-CN" sz="2000">
                    <a:solidFill>
                      <a:srgbClr val="000000"/>
                    </a:solidFill>
                    <a:latin typeface="Times" panose="02020603050405020304" pitchFamily="18" charset="0"/>
                    <a:ea typeface="宋体" panose="02010600030101010101" pitchFamily="2" charset="-122"/>
                  </a:rPr>
                  <a:t>V</a:t>
                </a:r>
                <a:r>
                  <a:rPr lang="en-US" altLang="zh-CN" sz="2000" baseline="-25000">
                    <a:solidFill>
                      <a:srgbClr val="000000"/>
                    </a:solidFill>
                    <a:latin typeface="Times" panose="02020603050405020304" pitchFamily="18" charset="0"/>
                    <a:ea typeface="宋体" panose="02010600030101010101" pitchFamily="2" charset="-122"/>
                  </a:rPr>
                  <a:t>0</a:t>
                </a:r>
                <a:endParaRPr lang="en-US" altLang="zh-CN" sz="2000">
                  <a:latin typeface="Arial" panose="020B0604020202020204" pitchFamily="34" charset="0"/>
                  <a:ea typeface="宋体" panose="02010600030101010101" pitchFamily="2" charset="-122"/>
                </a:endParaRPr>
              </a:p>
            </p:txBody>
          </p:sp>
          <p:sp>
            <p:nvSpPr>
              <p:cNvPr id="552056" name="Rectangle 120"/>
              <p:cNvSpPr>
                <a:spLocks noChangeArrowheads="1"/>
              </p:cNvSpPr>
              <p:nvPr/>
            </p:nvSpPr>
            <p:spPr bwMode="auto">
              <a:xfrm>
                <a:off x="2449" y="2482"/>
                <a:ext cx="19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zh-CN" sz="2000">
                    <a:solidFill>
                      <a:srgbClr val="000000"/>
                    </a:solidFill>
                    <a:latin typeface="Times" panose="02020603050405020304" pitchFamily="18" charset="0"/>
                    <a:ea typeface="宋体" panose="02010600030101010101" pitchFamily="2" charset="-122"/>
                  </a:rPr>
                  <a:t>5K</a:t>
                </a:r>
                <a:endParaRPr lang="en-US" altLang="zh-CN" sz="2000">
                  <a:latin typeface="Arial" panose="020B0604020202020204" pitchFamily="34" charset="0"/>
                  <a:ea typeface="宋体" panose="02010600030101010101" pitchFamily="2" charset="-122"/>
                </a:endParaRPr>
              </a:p>
            </p:txBody>
          </p:sp>
          <p:sp>
            <p:nvSpPr>
              <p:cNvPr id="552057" name="Line 121"/>
              <p:cNvSpPr>
                <a:spLocks noChangeShapeType="1"/>
              </p:cNvSpPr>
              <p:nvPr/>
            </p:nvSpPr>
            <p:spPr bwMode="auto">
              <a:xfrm>
                <a:off x="2838" y="3000"/>
                <a:ext cx="211"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grpSp>
          <p:nvGrpSpPr>
            <p:cNvPr id="552058" name="Group 122"/>
            <p:cNvGrpSpPr>
              <a:grpSpLocks noChangeAspect="1"/>
            </p:cNvGrpSpPr>
            <p:nvPr/>
          </p:nvGrpSpPr>
          <p:grpSpPr bwMode="auto">
            <a:xfrm rot="-5400000">
              <a:off x="1492" y="2430"/>
              <a:ext cx="98" cy="616"/>
              <a:chOff x="1939" y="2585"/>
              <a:chExt cx="131" cy="788"/>
            </a:xfrm>
          </p:grpSpPr>
          <p:grpSp>
            <p:nvGrpSpPr>
              <p:cNvPr id="552059" name="Group 123"/>
              <p:cNvGrpSpPr>
                <a:grpSpLocks noChangeAspect="1"/>
              </p:cNvGrpSpPr>
              <p:nvPr/>
            </p:nvGrpSpPr>
            <p:grpSpPr bwMode="auto">
              <a:xfrm rot="5400000">
                <a:off x="1913" y="2916"/>
                <a:ext cx="184" cy="131"/>
                <a:chOff x="1777" y="2942"/>
                <a:chExt cx="345" cy="245"/>
              </a:xfrm>
            </p:grpSpPr>
            <p:sp>
              <p:nvSpPr>
                <p:cNvPr id="552060" name="Line 124"/>
                <p:cNvSpPr>
                  <a:spLocks noChangeAspect="1" noChangeShapeType="1"/>
                </p:cNvSpPr>
                <p:nvPr/>
              </p:nvSpPr>
              <p:spPr bwMode="auto">
                <a:xfrm rot="-5400000">
                  <a:off x="1724" y="2996"/>
                  <a:ext cx="158" cy="5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52061" name="Line 125"/>
                <p:cNvSpPr>
                  <a:spLocks noChangeAspect="1" noChangeShapeType="1"/>
                </p:cNvSpPr>
                <p:nvPr/>
              </p:nvSpPr>
              <p:spPr bwMode="auto">
                <a:xfrm rot="16200000" flipH="1">
                  <a:off x="1743" y="3027"/>
                  <a:ext cx="245" cy="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52062" name="Line 126"/>
                <p:cNvSpPr>
                  <a:spLocks noChangeAspect="1" noChangeShapeType="1"/>
                </p:cNvSpPr>
                <p:nvPr/>
              </p:nvSpPr>
              <p:spPr bwMode="auto">
                <a:xfrm rot="-5400000">
                  <a:off x="1815" y="3048"/>
                  <a:ext cx="227" cy="5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52063" name="Line 127"/>
                <p:cNvSpPr>
                  <a:spLocks noChangeAspect="1" noChangeShapeType="1"/>
                </p:cNvSpPr>
                <p:nvPr/>
              </p:nvSpPr>
              <p:spPr bwMode="auto">
                <a:xfrm rot="16200000" flipH="1">
                  <a:off x="1875" y="3039"/>
                  <a:ext cx="227" cy="7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52064" name="Line 128"/>
                <p:cNvSpPr>
                  <a:spLocks noChangeAspect="1" noChangeShapeType="1"/>
                </p:cNvSpPr>
                <p:nvPr/>
              </p:nvSpPr>
              <p:spPr bwMode="auto">
                <a:xfrm rot="-5400000">
                  <a:off x="1936" y="3048"/>
                  <a:ext cx="227" cy="5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52065" name="Line 129"/>
                <p:cNvSpPr>
                  <a:spLocks noChangeAspect="1" noChangeShapeType="1"/>
                </p:cNvSpPr>
                <p:nvPr/>
              </p:nvSpPr>
              <p:spPr bwMode="auto">
                <a:xfrm rot="16200000" flipH="1">
                  <a:off x="2028" y="3007"/>
                  <a:ext cx="141" cy="4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552066" name="Line 130"/>
              <p:cNvSpPr>
                <a:spLocks noChangeAspect="1" noChangeShapeType="1"/>
              </p:cNvSpPr>
              <p:nvPr/>
            </p:nvSpPr>
            <p:spPr bwMode="auto">
              <a:xfrm flipV="1">
                <a:off x="1993" y="2585"/>
                <a:ext cx="0" cy="30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52067" name="Line 131"/>
              <p:cNvSpPr>
                <a:spLocks noChangeAspect="1" noChangeShapeType="1"/>
              </p:cNvSpPr>
              <p:nvPr/>
            </p:nvSpPr>
            <p:spPr bwMode="auto">
              <a:xfrm flipV="1">
                <a:off x="1988" y="3068"/>
                <a:ext cx="0" cy="30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552068" name="Group 132"/>
            <p:cNvGrpSpPr>
              <a:grpSpLocks noChangeAspect="1"/>
            </p:cNvGrpSpPr>
            <p:nvPr/>
          </p:nvGrpSpPr>
          <p:grpSpPr bwMode="auto">
            <a:xfrm rot="-5400000">
              <a:off x="1492" y="1939"/>
              <a:ext cx="98" cy="616"/>
              <a:chOff x="1939" y="2585"/>
              <a:chExt cx="131" cy="788"/>
            </a:xfrm>
          </p:grpSpPr>
          <p:grpSp>
            <p:nvGrpSpPr>
              <p:cNvPr id="552069" name="Group 133"/>
              <p:cNvGrpSpPr>
                <a:grpSpLocks noChangeAspect="1"/>
              </p:cNvGrpSpPr>
              <p:nvPr/>
            </p:nvGrpSpPr>
            <p:grpSpPr bwMode="auto">
              <a:xfrm rot="5400000">
                <a:off x="1913" y="2916"/>
                <a:ext cx="184" cy="131"/>
                <a:chOff x="1777" y="2942"/>
                <a:chExt cx="345" cy="245"/>
              </a:xfrm>
            </p:grpSpPr>
            <p:sp>
              <p:nvSpPr>
                <p:cNvPr id="552070" name="Line 134"/>
                <p:cNvSpPr>
                  <a:spLocks noChangeAspect="1" noChangeShapeType="1"/>
                </p:cNvSpPr>
                <p:nvPr/>
              </p:nvSpPr>
              <p:spPr bwMode="auto">
                <a:xfrm rot="-5400000">
                  <a:off x="1724" y="2996"/>
                  <a:ext cx="158" cy="5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52071" name="Line 135"/>
                <p:cNvSpPr>
                  <a:spLocks noChangeAspect="1" noChangeShapeType="1"/>
                </p:cNvSpPr>
                <p:nvPr/>
              </p:nvSpPr>
              <p:spPr bwMode="auto">
                <a:xfrm rot="16200000" flipH="1">
                  <a:off x="1743" y="3027"/>
                  <a:ext cx="245" cy="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52072" name="Line 136"/>
                <p:cNvSpPr>
                  <a:spLocks noChangeAspect="1" noChangeShapeType="1"/>
                </p:cNvSpPr>
                <p:nvPr/>
              </p:nvSpPr>
              <p:spPr bwMode="auto">
                <a:xfrm rot="-5400000">
                  <a:off x="1815" y="3048"/>
                  <a:ext cx="227" cy="5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52073" name="Line 137"/>
                <p:cNvSpPr>
                  <a:spLocks noChangeAspect="1" noChangeShapeType="1"/>
                </p:cNvSpPr>
                <p:nvPr/>
              </p:nvSpPr>
              <p:spPr bwMode="auto">
                <a:xfrm rot="16200000" flipH="1">
                  <a:off x="1875" y="3039"/>
                  <a:ext cx="227" cy="7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52074" name="Line 138"/>
                <p:cNvSpPr>
                  <a:spLocks noChangeAspect="1" noChangeShapeType="1"/>
                </p:cNvSpPr>
                <p:nvPr/>
              </p:nvSpPr>
              <p:spPr bwMode="auto">
                <a:xfrm rot="-5400000">
                  <a:off x="1936" y="3048"/>
                  <a:ext cx="227" cy="5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52075" name="Line 139"/>
                <p:cNvSpPr>
                  <a:spLocks noChangeAspect="1" noChangeShapeType="1"/>
                </p:cNvSpPr>
                <p:nvPr/>
              </p:nvSpPr>
              <p:spPr bwMode="auto">
                <a:xfrm rot="16200000" flipH="1">
                  <a:off x="2028" y="3007"/>
                  <a:ext cx="141" cy="4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552076" name="Line 140"/>
              <p:cNvSpPr>
                <a:spLocks noChangeAspect="1" noChangeShapeType="1"/>
              </p:cNvSpPr>
              <p:nvPr/>
            </p:nvSpPr>
            <p:spPr bwMode="auto">
              <a:xfrm flipV="1">
                <a:off x="1993" y="2585"/>
                <a:ext cx="0" cy="30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52077" name="Line 141"/>
              <p:cNvSpPr>
                <a:spLocks noChangeAspect="1" noChangeShapeType="1"/>
              </p:cNvSpPr>
              <p:nvPr/>
            </p:nvSpPr>
            <p:spPr bwMode="auto">
              <a:xfrm flipV="1">
                <a:off x="1988" y="3068"/>
                <a:ext cx="0" cy="30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grpSp>
          <p:nvGrpSpPr>
            <p:cNvPr id="552078" name="Group 142"/>
            <p:cNvGrpSpPr>
              <a:grpSpLocks noChangeAspect="1"/>
            </p:cNvGrpSpPr>
            <p:nvPr/>
          </p:nvGrpSpPr>
          <p:grpSpPr bwMode="auto">
            <a:xfrm rot="-5400000">
              <a:off x="1492" y="2186"/>
              <a:ext cx="98" cy="616"/>
              <a:chOff x="1939" y="2585"/>
              <a:chExt cx="131" cy="788"/>
            </a:xfrm>
          </p:grpSpPr>
          <p:grpSp>
            <p:nvGrpSpPr>
              <p:cNvPr id="552079" name="Group 143"/>
              <p:cNvGrpSpPr>
                <a:grpSpLocks noChangeAspect="1"/>
              </p:cNvGrpSpPr>
              <p:nvPr/>
            </p:nvGrpSpPr>
            <p:grpSpPr bwMode="auto">
              <a:xfrm rot="5400000">
                <a:off x="1913" y="2916"/>
                <a:ext cx="184" cy="131"/>
                <a:chOff x="1777" y="2942"/>
                <a:chExt cx="345" cy="245"/>
              </a:xfrm>
            </p:grpSpPr>
            <p:sp>
              <p:nvSpPr>
                <p:cNvPr id="552080" name="Line 144"/>
                <p:cNvSpPr>
                  <a:spLocks noChangeAspect="1" noChangeShapeType="1"/>
                </p:cNvSpPr>
                <p:nvPr/>
              </p:nvSpPr>
              <p:spPr bwMode="auto">
                <a:xfrm rot="-5400000">
                  <a:off x="1724" y="2996"/>
                  <a:ext cx="158" cy="5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52081" name="Line 145"/>
                <p:cNvSpPr>
                  <a:spLocks noChangeAspect="1" noChangeShapeType="1"/>
                </p:cNvSpPr>
                <p:nvPr/>
              </p:nvSpPr>
              <p:spPr bwMode="auto">
                <a:xfrm rot="16200000" flipH="1">
                  <a:off x="1743" y="3027"/>
                  <a:ext cx="245" cy="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52082" name="Line 146"/>
                <p:cNvSpPr>
                  <a:spLocks noChangeAspect="1" noChangeShapeType="1"/>
                </p:cNvSpPr>
                <p:nvPr/>
              </p:nvSpPr>
              <p:spPr bwMode="auto">
                <a:xfrm rot="-5400000">
                  <a:off x="1815" y="3048"/>
                  <a:ext cx="227" cy="5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52083" name="Line 147"/>
                <p:cNvSpPr>
                  <a:spLocks noChangeAspect="1" noChangeShapeType="1"/>
                </p:cNvSpPr>
                <p:nvPr/>
              </p:nvSpPr>
              <p:spPr bwMode="auto">
                <a:xfrm rot="16200000" flipH="1">
                  <a:off x="1875" y="3039"/>
                  <a:ext cx="227" cy="7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52084" name="Line 148"/>
                <p:cNvSpPr>
                  <a:spLocks noChangeAspect="1" noChangeShapeType="1"/>
                </p:cNvSpPr>
                <p:nvPr/>
              </p:nvSpPr>
              <p:spPr bwMode="auto">
                <a:xfrm rot="-5400000">
                  <a:off x="1936" y="3048"/>
                  <a:ext cx="227" cy="5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52085" name="Line 149"/>
                <p:cNvSpPr>
                  <a:spLocks noChangeAspect="1" noChangeShapeType="1"/>
                </p:cNvSpPr>
                <p:nvPr/>
              </p:nvSpPr>
              <p:spPr bwMode="auto">
                <a:xfrm rot="16200000" flipH="1">
                  <a:off x="2028" y="3007"/>
                  <a:ext cx="141" cy="4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552086" name="Line 150"/>
              <p:cNvSpPr>
                <a:spLocks noChangeAspect="1" noChangeShapeType="1"/>
              </p:cNvSpPr>
              <p:nvPr/>
            </p:nvSpPr>
            <p:spPr bwMode="auto">
              <a:xfrm flipV="1">
                <a:off x="1993" y="2585"/>
                <a:ext cx="0" cy="30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52087" name="Line 151"/>
              <p:cNvSpPr>
                <a:spLocks noChangeAspect="1" noChangeShapeType="1"/>
              </p:cNvSpPr>
              <p:nvPr/>
            </p:nvSpPr>
            <p:spPr bwMode="auto">
              <a:xfrm flipV="1">
                <a:off x="1988" y="3068"/>
                <a:ext cx="0" cy="30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552088" name="Line 152"/>
            <p:cNvSpPr>
              <a:spLocks noChangeShapeType="1"/>
            </p:cNvSpPr>
            <p:nvPr/>
          </p:nvSpPr>
          <p:spPr bwMode="auto">
            <a:xfrm>
              <a:off x="1849" y="2000"/>
              <a:ext cx="0" cy="7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52089" name="Line 153"/>
            <p:cNvSpPr>
              <a:spLocks noChangeShapeType="1"/>
            </p:cNvSpPr>
            <p:nvPr/>
          </p:nvSpPr>
          <p:spPr bwMode="auto">
            <a:xfrm flipH="1">
              <a:off x="1122" y="1998"/>
              <a:ext cx="115" cy="11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52090" name="Line 154"/>
            <p:cNvSpPr>
              <a:spLocks noChangeShapeType="1"/>
            </p:cNvSpPr>
            <p:nvPr/>
          </p:nvSpPr>
          <p:spPr bwMode="auto">
            <a:xfrm>
              <a:off x="2008" y="2567"/>
              <a:ext cx="0" cy="18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52091" name="Line 155"/>
            <p:cNvSpPr>
              <a:spLocks noChangeShapeType="1"/>
            </p:cNvSpPr>
            <p:nvPr/>
          </p:nvSpPr>
          <p:spPr bwMode="auto">
            <a:xfrm flipH="1">
              <a:off x="2080" y="2880"/>
              <a:ext cx="17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52092" name="Line 156"/>
            <p:cNvSpPr>
              <a:spLocks noChangeShapeType="1"/>
            </p:cNvSpPr>
            <p:nvPr/>
          </p:nvSpPr>
          <p:spPr bwMode="auto">
            <a:xfrm>
              <a:off x="2080" y="2880"/>
              <a:ext cx="0" cy="28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nvGrpSpPr>
            <p:cNvPr id="552093" name="Group 157"/>
            <p:cNvGrpSpPr>
              <a:grpSpLocks/>
            </p:cNvGrpSpPr>
            <p:nvPr/>
          </p:nvGrpSpPr>
          <p:grpSpPr bwMode="auto">
            <a:xfrm>
              <a:off x="1962" y="3165"/>
              <a:ext cx="242" cy="64"/>
              <a:chOff x="670" y="4183"/>
              <a:chExt cx="242" cy="64"/>
            </a:xfrm>
          </p:grpSpPr>
          <p:sp>
            <p:nvSpPr>
              <p:cNvPr id="552094" name="Line 158"/>
              <p:cNvSpPr>
                <a:spLocks noChangeAspect="1" noChangeShapeType="1"/>
              </p:cNvSpPr>
              <p:nvPr/>
            </p:nvSpPr>
            <p:spPr bwMode="auto">
              <a:xfrm>
                <a:off x="670" y="4183"/>
                <a:ext cx="24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52095" name="Line 159"/>
              <p:cNvSpPr>
                <a:spLocks noChangeAspect="1" noChangeShapeType="1"/>
              </p:cNvSpPr>
              <p:nvPr/>
            </p:nvSpPr>
            <p:spPr bwMode="auto">
              <a:xfrm>
                <a:off x="709" y="4216"/>
                <a:ext cx="164"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52096" name="Line 160"/>
              <p:cNvSpPr>
                <a:spLocks noChangeAspect="1" noChangeShapeType="1"/>
              </p:cNvSpPr>
              <p:nvPr/>
            </p:nvSpPr>
            <p:spPr bwMode="auto">
              <a:xfrm>
                <a:off x="734" y="4247"/>
                <a:ext cx="12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552097" name="Rectangle 161"/>
            <p:cNvSpPr>
              <a:spLocks noChangeArrowheads="1"/>
            </p:cNvSpPr>
            <p:nvPr/>
          </p:nvSpPr>
          <p:spPr bwMode="auto">
            <a:xfrm>
              <a:off x="1424" y="2530"/>
              <a:ext cx="25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zh-CN" sz="1800" dirty="0">
                  <a:latin typeface="Arial" panose="020B0604020202020204" pitchFamily="34" charset="0"/>
                  <a:ea typeface="宋体" panose="02010600030101010101" pitchFamily="2" charset="-122"/>
                </a:rPr>
                <a:t>80K</a:t>
              </a:r>
              <a:endParaRPr lang="en-US" altLang="zh-CN" sz="2000" dirty="0">
                <a:latin typeface="Arial" panose="020B0604020202020204" pitchFamily="34" charset="0"/>
                <a:ea typeface="宋体" panose="02010600030101010101" pitchFamily="2" charset="-122"/>
              </a:endParaRPr>
            </a:p>
          </p:txBody>
        </p:sp>
        <p:sp>
          <p:nvSpPr>
            <p:cNvPr id="552098" name="Rectangle 162"/>
            <p:cNvSpPr>
              <a:spLocks noChangeArrowheads="1"/>
            </p:cNvSpPr>
            <p:nvPr/>
          </p:nvSpPr>
          <p:spPr bwMode="auto">
            <a:xfrm>
              <a:off x="1424" y="2283"/>
              <a:ext cx="25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zh-CN" sz="1800">
                  <a:latin typeface="Arial" panose="020B0604020202020204" pitchFamily="34" charset="0"/>
                  <a:ea typeface="宋体" panose="02010600030101010101" pitchFamily="2" charset="-122"/>
                </a:rPr>
                <a:t>40K</a:t>
              </a:r>
              <a:endParaRPr lang="en-US" altLang="zh-CN" sz="2000">
                <a:latin typeface="Arial" panose="020B0604020202020204" pitchFamily="34" charset="0"/>
                <a:ea typeface="宋体" panose="02010600030101010101" pitchFamily="2" charset="-122"/>
              </a:endParaRPr>
            </a:p>
          </p:txBody>
        </p:sp>
        <p:sp>
          <p:nvSpPr>
            <p:cNvPr id="552099" name="Rectangle 163"/>
            <p:cNvSpPr>
              <a:spLocks noChangeArrowheads="1"/>
            </p:cNvSpPr>
            <p:nvPr/>
          </p:nvSpPr>
          <p:spPr bwMode="auto">
            <a:xfrm>
              <a:off x="1424" y="2033"/>
              <a:ext cx="25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zh-CN" sz="1800" dirty="0">
                  <a:latin typeface="Arial" panose="020B0604020202020204" pitchFamily="34" charset="0"/>
                  <a:ea typeface="宋体" panose="02010600030101010101" pitchFamily="2" charset="-122"/>
                </a:rPr>
                <a:t>20K</a:t>
              </a:r>
              <a:endParaRPr lang="en-US" altLang="zh-CN" sz="2000" dirty="0">
                <a:latin typeface="Arial" panose="020B0604020202020204" pitchFamily="34" charset="0"/>
                <a:ea typeface="宋体" panose="02010600030101010101" pitchFamily="2" charset="-122"/>
              </a:endParaRPr>
            </a:p>
          </p:txBody>
        </p:sp>
        <p:sp>
          <p:nvSpPr>
            <p:cNvPr id="552100" name="Rectangle 164"/>
            <p:cNvSpPr>
              <a:spLocks noChangeArrowheads="1"/>
            </p:cNvSpPr>
            <p:nvPr/>
          </p:nvSpPr>
          <p:spPr bwMode="auto">
            <a:xfrm>
              <a:off x="1424" y="1765"/>
              <a:ext cx="25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zh-CN" sz="1800">
                  <a:latin typeface="Arial" panose="020B0604020202020204" pitchFamily="34" charset="0"/>
                  <a:ea typeface="宋体" panose="02010600030101010101" pitchFamily="2" charset="-122"/>
                </a:rPr>
                <a:t>10K</a:t>
              </a:r>
              <a:endParaRPr lang="en-US" altLang="zh-CN" sz="2000">
                <a:latin typeface="Arial" panose="020B0604020202020204" pitchFamily="34" charset="0"/>
                <a:ea typeface="宋体" panose="02010600030101010101" pitchFamily="2" charset="-122"/>
              </a:endParaRPr>
            </a:p>
          </p:txBody>
        </p:sp>
        <p:sp>
          <p:nvSpPr>
            <p:cNvPr id="552101" name="Rectangle 165"/>
            <p:cNvSpPr>
              <a:spLocks noChangeArrowheads="1"/>
            </p:cNvSpPr>
            <p:nvPr/>
          </p:nvSpPr>
          <p:spPr bwMode="auto">
            <a:xfrm>
              <a:off x="1073" y="2922"/>
              <a:ext cx="15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zh-CN" sz="1800" i="1" dirty="0">
                  <a:solidFill>
                    <a:srgbClr val="FF0000"/>
                  </a:solidFill>
                  <a:latin typeface="Arial" panose="020B0604020202020204" pitchFamily="34" charset="0"/>
                  <a:ea typeface="宋体" panose="02010600030101010101" pitchFamily="2" charset="-122"/>
                </a:rPr>
                <a:t>S</a:t>
              </a:r>
              <a:r>
                <a:rPr lang="en-US" altLang="zh-CN" sz="1800" baseline="-25000" dirty="0">
                  <a:solidFill>
                    <a:srgbClr val="FF0000"/>
                  </a:solidFill>
                  <a:latin typeface="Arial" panose="020B0604020202020204" pitchFamily="34" charset="0"/>
                  <a:ea typeface="宋体" panose="02010600030101010101" pitchFamily="2" charset="-122"/>
                </a:rPr>
                <a:t>1</a:t>
              </a:r>
              <a:endParaRPr lang="en-US" altLang="zh-CN" sz="2000" baseline="-25000" dirty="0">
                <a:solidFill>
                  <a:srgbClr val="FF0000"/>
                </a:solidFill>
                <a:latin typeface="Arial" panose="020B0604020202020204" pitchFamily="34" charset="0"/>
                <a:ea typeface="宋体" panose="02010600030101010101" pitchFamily="2" charset="-122"/>
              </a:endParaRPr>
            </a:p>
          </p:txBody>
        </p:sp>
        <p:sp>
          <p:nvSpPr>
            <p:cNvPr id="552102" name="Oval 166"/>
            <p:cNvSpPr>
              <a:spLocks noChangeAspect="1" noChangeArrowheads="1"/>
            </p:cNvSpPr>
            <p:nvPr/>
          </p:nvSpPr>
          <p:spPr bwMode="auto">
            <a:xfrm>
              <a:off x="1082" y="2729"/>
              <a:ext cx="40" cy="41"/>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52103" name="Line 167"/>
            <p:cNvSpPr>
              <a:spLocks noChangeShapeType="1"/>
            </p:cNvSpPr>
            <p:nvPr/>
          </p:nvSpPr>
          <p:spPr bwMode="auto">
            <a:xfrm>
              <a:off x="513" y="1999"/>
              <a:ext cx="0" cy="117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52104" name="Oval 168"/>
            <p:cNvSpPr>
              <a:spLocks noChangeAspect="1" noChangeArrowheads="1"/>
            </p:cNvSpPr>
            <p:nvPr/>
          </p:nvSpPr>
          <p:spPr bwMode="auto">
            <a:xfrm>
              <a:off x="416" y="2426"/>
              <a:ext cx="173" cy="173"/>
            </a:xfrm>
            <a:prstGeom prst="ellipse">
              <a:avLst/>
            </a:prstGeom>
            <a:solidFill>
              <a:srgbClr val="FFFFFF"/>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52105" name="Text Box 169"/>
            <p:cNvSpPr txBox="1">
              <a:spLocks noChangeArrowheads="1"/>
            </p:cNvSpPr>
            <p:nvPr/>
          </p:nvSpPr>
          <p:spPr bwMode="auto">
            <a:xfrm flipV="1">
              <a:off x="416" y="2445"/>
              <a:ext cx="168" cy="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lnSpc>
                  <a:spcPct val="25000"/>
                </a:lnSpc>
              </a:pPr>
              <a:r>
                <a:rPr lang="en-US" altLang="zh-CN" sz="2000" baseline="-25000" dirty="0">
                  <a:latin typeface="Arial" panose="020B0604020202020204" pitchFamily="34" charset="0"/>
                  <a:ea typeface="宋体" panose="02010600030101010101" pitchFamily="2" charset="-122"/>
                </a:rPr>
                <a:t>+ -</a:t>
              </a:r>
            </a:p>
          </p:txBody>
        </p:sp>
        <p:sp>
          <p:nvSpPr>
            <p:cNvPr id="552106" name="Line 170"/>
            <p:cNvSpPr>
              <a:spLocks noChangeShapeType="1"/>
            </p:cNvSpPr>
            <p:nvPr/>
          </p:nvSpPr>
          <p:spPr bwMode="auto">
            <a:xfrm>
              <a:off x="909" y="1998"/>
              <a:ext cx="0" cy="75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52107" name="Line 171"/>
            <p:cNvSpPr>
              <a:spLocks noChangeShapeType="1"/>
            </p:cNvSpPr>
            <p:nvPr/>
          </p:nvSpPr>
          <p:spPr bwMode="auto">
            <a:xfrm>
              <a:off x="905" y="2000"/>
              <a:ext cx="19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52108" name="Line 172"/>
            <p:cNvSpPr>
              <a:spLocks noChangeShapeType="1"/>
            </p:cNvSpPr>
            <p:nvPr/>
          </p:nvSpPr>
          <p:spPr bwMode="auto">
            <a:xfrm>
              <a:off x="911" y="2746"/>
              <a:ext cx="19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52109" name="Line 173"/>
            <p:cNvSpPr>
              <a:spLocks noChangeShapeType="1"/>
            </p:cNvSpPr>
            <p:nvPr/>
          </p:nvSpPr>
          <p:spPr bwMode="auto">
            <a:xfrm>
              <a:off x="908" y="2255"/>
              <a:ext cx="19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52110" name="Line 174"/>
            <p:cNvSpPr>
              <a:spLocks noChangeShapeType="1"/>
            </p:cNvSpPr>
            <p:nvPr/>
          </p:nvSpPr>
          <p:spPr bwMode="auto">
            <a:xfrm>
              <a:off x="910" y="2502"/>
              <a:ext cx="19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52111" name="Oval 175"/>
            <p:cNvSpPr>
              <a:spLocks noChangeAspect="1" noChangeArrowheads="1"/>
            </p:cNvSpPr>
            <p:nvPr/>
          </p:nvSpPr>
          <p:spPr bwMode="auto">
            <a:xfrm>
              <a:off x="1087" y="2482"/>
              <a:ext cx="40" cy="41"/>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52112" name="Oval 176"/>
            <p:cNvSpPr>
              <a:spLocks noChangeAspect="1" noChangeArrowheads="1"/>
            </p:cNvSpPr>
            <p:nvPr/>
          </p:nvSpPr>
          <p:spPr bwMode="auto">
            <a:xfrm>
              <a:off x="1090" y="2233"/>
              <a:ext cx="40" cy="41"/>
            </a:xfrm>
            <a:prstGeom prst="ellipse">
              <a:avLst/>
            </a:prstGeom>
            <a:solidFill>
              <a:schemeClr val="tx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52113" name="Oval 177"/>
            <p:cNvSpPr>
              <a:spLocks noChangeAspect="1" noChangeArrowheads="1"/>
            </p:cNvSpPr>
            <p:nvPr/>
          </p:nvSpPr>
          <p:spPr bwMode="auto">
            <a:xfrm>
              <a:off x="1086" y="1979"/>
              <a:ext cx="40" cy="41"/>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nvGrpSpPr>
            <p:cNvPr id="552114" name="Group 178"/>
            <p:cNvGrpSpPr>
              <a:grpSpLocks/>
            </p:cNvGrpSpPr>
            <p:nvPr/>
          </p:nvGrpSpPr>
          <p:grpSpPr bwMode="auto">
            <a:xfrm>
              <a:off x="391" y="3166"/>
              <a:ext cx="242" cy="64"/>
              <a:chOff x="670" y="4183"/>
              <a:chExt cx="242" cy="64"/>
            </a:xfrm>
          </p:grpSpPr>
          <p:sp>
            <p:nvSpPr>
              <p:cNvPr id="552115" name="Line 179"/>
              <p:cNvSpPr>
                <a:spLocks noChangeAspect="1" noChangeShapeType="1"/>
              </p:cNvSpPr>
              <p:nvPr/>
            </p:nvSpPr>
            <p:spPr bwMode="auto">
              <a:xfrm>
                <a:off x="670" y="4183"/>
                <a:ext cx="24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52116" name="Line 180"/>
              <p:cNvSpPr>
                <a:spLocks noChangeAspect="1" noChangeShapeType="1"/>
              </p:cNvSpPr>
              <p:nvPr/>
            </p:nvSpPr>
            <p:spPr bwMode="auto">
              <a:xfrm>
                <a:off x="709" y="4216"/>
                <a:ext cx="164"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52117" name="Line 181"/>
              <p:cNvSpPr>
                <a:spLocks noChangeAspect="1" noChangeShapeType="1"/>
              </p:cNvSpPr>
              <p:nvPr/>
            </p:nvSpPr>
            <p:spPr bwMode="auto">
              <a:xfrm>
                <a:off x="734" y="4247"/>
                <a:ext cx="12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pSp>
        <p:sp>
          <p:nvSpPr>
            <p:cNvPr id="552118" name="Line 182"/>
            <p:cNvSpPr>
              <a:spLocks noChangeShapeType="1"/>
            </p:cNvSpPr>
            <p:nvPr/>
          </p:nvSpPr>
          <p:spPr bwMode="auto">
            <a:xfrm flipH="1">
              <a:off x="513" y="2000"/>
              <a:ext cx="39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552119" name="Rectangle 183"/>
            <p:cNvSpPr>
              <a:spLocks noChangeArrowheads="1"/>
            </p:cNvSpPr>
            <p:nvPr/>
          </p:nvSpPr>
          <p:spPr bwMode="auto">
            <a:xfrm>
              <a:off x="698" y="2154"/>
              <a:ext cx="15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zh-CN" sz="1800" i="1" dirty="0">
                  <a:solidFill>
                    <a:schemeClr val="accent2"/>
                  </a:solidFill>
                  <a:latin typeface="Arial" panose="020B0604020202020204" pitchFamily="34" charset="0"/>
                  <a:ea typeface="宋体" panose="02010600030101010101" pitchFamily="2" charset="-122"/>
                </a:rPr>
                <a:t>S</a:t>
              </a:r>
              <a:r>
                <a:rPr lang="en-US" altLang="zh-CN" sz="1800" baseline="-25000" dirty="0">
                  <a:solidFill>
                    <a:schemeClr val="accent2"/>
                  </a:solidFill>
                  <a:latin typeface="Arial" panose="020B0604020202020204" pitchFamily="34" charset="0"/>
                  <a:ea typeface="宋体" panose="02010600030101010101" pitchFamily="2" charset="-122"/>
                </a:rPr>
                <a:t>3</a:t>
              </a:r>
              <a:endParaRPr lang="en-US" altLang="zh-CN" sz="2000" baseline="-25000" dirty="0">
                <a:solidFill>
                  <a:schemeClr val="accent2"/>
                </a:solidFill>
                <a:latin typeface="Arial" panose="020B0604020202020204" pitchFamily="34" charset="0"/>
                <a:ea typeface="宋体" panose="02010600030101010101" pitchFamily="2" charset="-122"/>
              </a:endParaRPr>
            </a:p>
          </p:txBody>
        </p:sp>
        <p:sp>
          <p:nvSpPr>
            <p:cNvPr id="552120" name="Rectangle 184"/>
            <p:cNvSpPr>
              <a:spLocks noChangeArrowheads="1"/>
            </p:cNvSpPr>
            <p:nvPr/>
          </p:nvSpPr>
          <p:spPr bwMode="auto">
            <a:xfrm>
              <a:off x="702" y="2391"/>
              <a:ext cx="15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zh-CN" sz="1800" i="1" dirty="0">
                  <a:solidFill>
                    <a:schemeClr val="accent1"/>
                  </a:solidFill>
                  <a:latin typeface="Arial" panose="020B0604020202020204" pitchFamily="34" charset="0"/>
                  <a:ea typeface="宋体" panose="02010600030101010101" pitchFamily="2" charset="-122"/>
                </a:rPr>
                <a:t>S</a:t>
              </a:r>
              <a:r>
                <a:rPr lang="en-US" altLang="zh-CN" sz="1800" baseline="-25000" dirty="0">
                  <a:solidFill>
                    <a:schemeClr val="accent1"/>
                  </a:solidFill>
                  <a:latin typeface="Arial" panose="020B0604020202020204" pitchFamily="34" charset="0"/>
                  <a:ea typeface="宋体" panose="02010600030101010101" pitchFamily="2" charset="-122"/>
                </a:rPr>
                <a:t>2</a:t>
              </a:r>
              <a:endParaRPr lang="en-US" altLang="zh-CN" sz="2000" baseline="-25000" dirty="0">
                <a:solidFill>
                  <a:schemeClr val="accent1"/>
                </a:solidFill>
                <a:latin typeface="Arial" panose="020B0604020202020204" pitchFamily="34" charset="0"/>
                <a:ea typeface="宋体" panose="02010600030101010101" pitchFamily="2" charset="-122"/>
              </a:endParaRPr>
            </a:p>
          </p:txBody>
        </p:sp>
        <p:sp>
          <p:nvSpPr>
            <p:cNvPr id="552121" name="Rectangle 185"/>
            <p:cNvSpPr>
              <a:spLocks noChangeArrowheads="1"/>
            </p:cNvSpPr>
            <p:nvPr/>
          </p:nvSpPr>
          <p:spPr bwMode="auto">
            <a:xfrm>
              <a:off x="1100" y="1804"/>
              <a:ext cx="150"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zh-CN" sz="1800" i="1" dirty="0">
                  <a:solidFill>
                    <a:srgbClr val="CC00CC"/>
                  </a:solidFill>
                  <a:latin typeface="Arial" panose="020B0604020202020204" pitchFamily="34" charset="0"/>
                  <a:ea typeface="宋体" panose="02010600030101010101" pitchFamily="2" charset="-122"/>
                </a:rPr>
                <a:t>S</a:t>
              </a:r>
              <a:r>
                <a:rPr lang="en-US" altLang="zh-CN" sz="1800" baseline="-25000" dirty="0">
                  <a:solidFill>
                    <a:srgbClr val="CC00CC"/>
                  </a:solidFill>
                  <a:latin typeface="Arial" panose="020B0604020202020204" pitchFamily="34" charset="0"/>
                  <a:ea typeface="宋体" panose="02010600030101010101" pitchFamily="2" charset="-122"/>
                </a:rPr>
                <a:t>4</a:t>
              </a:r>
              <a:endParaRPr lang="en-US" altLang="zh-CN" sz="2000" baseline="-25000" dirty="0">
                <a:solidFill>
                  <a:srgbClr val="CC00CC"/>
                </a:solidFill>
                <a:latin typeface="Arial" panose="020B0604020202020204" pitchFamily="34" charset="0"/>
                <a:ea typeface="宋体" panose="02010600030101010101" pitchFamily="2" charset="-122"/>
              </a:endParaRPr>
            </a:p>
          </p:txBody>
        </p:sp>
        <p:sp>
          <p:nvSpPr>
            <p:cNvPr id="552122" name="Line 186"/>
            <p:cNvSpPr>
              <a:spLocks noChangeShapeType="1"/>
            </p:cNvSpPr>
            <p:nvPr/>
          </p:nvSpPr>
          <p:spPr bwMode="auto">
            <a:xfrm flipH="1">
              <a:off x="1121" y="2254"/>
              <a:ext cx="115" cy="11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52123" name="Line 187"/>
            <p:cNvSpPr>
              <a:spLocks noChangeShapeType="1"/>
            </p:cNvSpPr>
            <p:nvPr/>
          </p:nvSpPr>
          <p:spPr bwMode="auto">
            <a:xfrm flipH="1">
              <a:off x="1122" y="2501"/>
              <a:ext cx="115" cy="11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52124" name="Line 188"/>
            <p:cNvSpPr>
              <a:spLocks noChangeShapeType="1"/>
            </p:cNvSpPr>
            <p:nvPr/>
          </p:nvSpPr>
          <p:spPr bwMode="auto">
            <a:xfrm flipH="1">
              <a:off x="1121" y="2745"/>
              <a:ext cx="115" cy="11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52125" name="Rectangle 189"/>
            <p:cNvSpPr>
              <a:spLocks noChangeArrowheads="1"/>
            </p:cNvSpPr>
            <p:nvPr/>
          </p:nvSpPr>
          <p:spPr bwMode="auto">
            <a:xfrm rot="-10800000">
              <a:off x="2281" y="2661"/>
              <a:ext cx="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zh-CN" sz="2200">
                  <a:solidFill>
                    <a:srgbClr val="000000"/>
                  </a:solidFill>
                  <a:latin typeface="Symbol" panose="05050102010706020507" pitchFamily="18" charset="2"/>
                  <a:ea typeface="宋体" panose="02010600030101010101" pitchFamily="2" charset="-122"/>
                </a:rPr>
                <a:t>-</a:t>
              </a:r>
              <a:endParaRPr lang="en-US" altLang="zh-CN" sz="2000">
                <a:latin typeface="Arial" panose="020B0604020202020204" pitchFamily="34" charset="0"/>
                <a:ea typeface="宋体" panose="02010600030101010101" pitchFamily="2" charset="-122"/>
              </a:endParaRPr>
            </a:p>
          </p:txBody>
        </p:sp>
        <p:sp>
          <p:nvSpPr>
            <p:cNvPr id="552126" name="Rectangle 190"/>
            <p:cNvSpPr>
              <a:spLocks noChangeArrowheads="1"/>
            </p:cNvSpPr>
            <p:nvPr/>
          </p:nvSpPr>
          <p:spPr bwMode="auto">
            <a:xfrm rot="-10800000">
              <a:off x="2283" y="2784"/>
              <a:ext cx="99"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zh-CN" sz="2200">
                  <a:solidFill>
                    <a:srgbClr val="000000"/>
                  </a:solidFill>
                  <a:latin typeface="Times" panose="02020603050405020304" pitchFamily="18" charset="0"/>
                  <a:ea typeface="宋体" panose="02010600030101010101" pitchFamily="2" charset="-122"/>
                </a:rPr>
                <a:t>+</a:t>
              </a:r>
              <a:endParaRPr lang="en-US" altLang="zh-CN" sz="2000">
                <a:latin typeface="Arial" panose="020B0604020202020204" pitchFamily="34" charset="0"/>
                <a:ea typeface="宋体" panose="02010600030101010101" pitchFamily="2" charset="-122"/>
              </a:endParaRPr>
            </a:p>
          </p:txBody>
        </p:sp>
      </p:grpSp>
      <p:sp>
        <p:nvSpPr>
          <p:cNvPr id="552127" name="Rectangle 191"/>
          <p:cNvSpPr>
            <a:spLocks noGrp="1" noChangeArrowheads="1"/>
          </p:cNvSpPr>
          <p:nvPr>
            <p:ph type="title"/>
          </p:nvPr>
        </p:nvSpPr>
        <p:spPr>
          <a:xfrm>
            <a:off x="304800" y="685800"/>
            <a:ext cx="8686800" cy="533400"/>
          </a:xfrm>
        </p:spPr>
        <p:txBody>
          <a:bodyPr/>
          <a:lstStyle/>
          <a:p>
            <a:r>
              <a:rPr lang="en-US" altLang="zh-CN" dirty="0">
                <a:ea typeface="宋体" panose="02010600030101010101" pitchFamily="2" charset="-122"/>
              </a:rPr>
              <a:t>DAC</a:t>
            </a:r>
          </a:p>
        </p:txBody>
      </p:sp>
      <p:sp>
        <p:nvSpPr>
          <p:cNvPr id="552128" name="Text Box 192"/>
          <p:cNvSpPr txBox="1">
            <a:spLocks noChangeArrowheads="1"/>
          </p:cNvSpPr>
          <p:nvPr/>
        </p:nvSpPr>
        <p:spPr bwMode="auto">
          <a:xfrm>
            <a:off x="1939925" y="1188027"/>
            <a:ext cx="4191000" cy="396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spcBef>
                <a:spcPct val="50000"/>
              </a:spcBef>
            </a:pPr>
            <a:r>
              <a:rPr lang="en-US" altLang="zh-CN" sz="2000" b="1" dirty="0">
                <a:latin typeface="Arial" panose="020B0604020202020204" pitchFamily="34" charset="0"/>
                <a:ea typeface="宋体" panose="02010600030101010101" pitchFamily="2" charset="-122"/>
              </a:rPr>
              <a:t>“Weighted-adder</a:t>
            </a:r>
            <a:r>
              <a:rPr lang="en-US" altLang="zh-CN" sz="2000" dirty="0">
                <a:latin typeface="Arial" panose="020B0604020202020204" pitchFamily="34" charset="0"/>
                <a:ea typeface="宋体" panose="02010600030101010101" pitchFamily="2" charset="-122"/>
              </a:rPr>
              <a:t> </a:t>
            </a:r>
            <a:r>
              <a:rPr lang="en-US" altLang="zh-CN" sz="2000" b="1" dirty="0">
                <a:latin typeface="Arial" panose="020B0604020202020204" pitchFamily="34" charset="0"/>
                <a:ea typeface="宋体" panose="02010600030101010101" pitchFamily="2" charset="-122"/>
              </a:rPr>
              <a:t>D/A converter”</a:t>
            </a:r>
            <a:endParaRPr lang="en-US" altLang="zh-CN" sz="2000" dirty="0">
              <a:latin typeface="Arial" panose="020B0604020202020204" pitchFamily="34" charset="0"/>
              <a:ea typeface="宋体" panose="02010600030101010101" pitchFamily="2" charset="-122"/>
            </a:endParaRPr>
          </a:p>
        </p:txBody>
      </p:sp>
      <p:sp>
        <p:nvSpPr>
          <p:cNvPr id="552129" name="Text Box 193"/>
          <p:cNvSpPr txBox="1">
            <a:spLocks noChangeArrowheads="1"/>
          </p:cNvSpPr>
          <p:nvPr/>
        </p:nvSpPr>
        <p:spPr bwMode="auto">
          <a:xfrm>
            <a:off x="1836738" y="4266188"/>
            <a:ext cx="28956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000" dirty="0">
                <a:latin typeface="Arial" panose="020B0604020202020204" pitchFamily="34" charset="0"/>
                <a:ea typeface="宋体" panose="02010600030101010101" pitchFamily="2" charset="-122"/>
              </a:rPr>
              <a:t>(Transistors are used as electronic switches)</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6D8C5868-22F1-4468-A86E-608516280F19}"/>
                  </a:ext>
                </a:extLst>
              </p:cNvPr>
              <p:cNvSpPr/>
              <p:nvPr/>
            </p:nvSpPr>
            <p:spPr>
              <a:xfrm>
                <a:off x="1332461" y="5327215"/>
                <a:ext cx="6971204" cy="1201932"/>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𝑉</m:t>
                          </m:r>
                        </m:e>
                        <m:sub>
                          <m:r>
                            <a:rPr lang="en-US" altLang="zh-CN" b="0" i="1" smtClean="0">
                              <a:latin typeface="Cambria Math" panose="02040503050406030204" pitchFamily="18" charset="0"/>
                            </a:rPr>
                            <m:t>𝑖</m:t>
                          </m:r>
                        </m:sub>
                      </m:sSub>
                      <m:r>
                        <a:rPr lang="en-US" altLang="zh-CN" b="0" i="1" smtClean="0">
                          <a:latin typeface="Cambria Math" panose="02040503050406030204" pitchFamily="18" charset="0"/>
                        </a:rPr>
                        <m:t>=−8</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𝑆</m:t>
                          </m:r>
                        </m:e>
                        <m:sub>
                          <m:r>
                            <a:rPr lang="en-US" altLang="zh-CN" b="0" i="1" smtClean="0">
                              <a:latin typeface="Cambria Math" panose="02040503050406030204" pitchFamily="18" charset="0"/>
                            </a:rPr>
                            <m:t>𝑖</m:t>
                          </m:r>
                        </m:sub>
                      </m:sSub>
                    </m:oMath>
                  </m:oMathPara>
                </a14:m>
                <a:endParaRPr lang="en-US" altLang="zh-CN" dirty="0"/>
              </a:p>
              <a:p>
                <a:endParaRPr lang="en-US" altLang="zh-CN" dirty="0"/>
              </a:p>
              <a:p>
                <a:r>
                  <a:rPr lang="en-US" altLang="zh-CN"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i="1">
                            <a:latin typeface="Cambria Math" panose="02040503050406030204" pitchFamily="18" charset="0"/>
                          </a:rPr>
                          <m:t>𝑜</m:t>
                        </m:r>
                      </m:sub>
                    </m:sSub>
                  </m:oMath>
                </a14:m>
                <a:r>
                  <a:rPr lang="en-US" altLang="zh-CN" dirty="0"/>
                  <a:t>=</a:t>
                </a:r>
                <a14:m>
                  <m:oMath xmlns:m="http://schemas.openxmlformats.org/officeDocument/2006/math">
                    <m:r>
                      <a:rPr lang="en-US" altLang="zh-CN">
                        <a:latin typeface="Cambria Math" panose="02040503050406030204" pitchFamily="18" charset="0"/>
                      </a:rPr>
                      <m:t>−</m:t>
                    </m:r>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𝑓</m:t>
                            </m:r>
                          </m:sub>
                        </m:sSub>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1</m:t>
                            </m:r>
                          </m:sub>
                        </m:sSub>
                      </m:den>
                    </m:f>
                    <m:d>
                      <m:dPr>
                        <m:begChr m:val="（"/>
                        <m:endChr m:val="）"/>
                        <m:ctrlPr>
                          <a:rPr lang="zh-CN" altLang="en-US" i="1">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i="1">
                                <a:latin typeface="Cambria Math" panose="02040503050406030204" pitchFamily="18" charset="0"/>
                              </a:rPr>
                              <m:t>1</m:t>
                            </m:r>
                          </m:sub>
                        </m:sSub>
                        <m:r>
                          <a:rPr lang="en-US" altLang="zh-CN" i="1">
                            <a:latin typeface="Cambria Math" panose="02040503050406030204" pitchFamily="18" charset="0"/>
                          </a:rPr>
                          <m:t>+2</m:t>
                        </m:r>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i="1">
                                <a:latin typeface="Cambria Math" panose="02040503050406030204" pitchFamily="18" charset="0"/>
                              </a:rPr>
                              <m:t>2</m:t>
                            </m:r>
                          </m:sub>
                        </m:sSub>
                        <m:r>
                          <a:rPr lang="en-US" altLang="zh-CN" i="1">
                            <a:latin typeface="Cambria Math" panose="02040503050406030204" pitchFamily="18" charset="0"/>
                          </a:rPr>
                          <m:t>+4</m:t>
                        </m:r>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i="1">
                                <a:latin typeface="Cambria Math" panose="02040503050406030204" pitchFamily="18" charset="0"/>
                              </a:rPr>
                              <m:t>3</m:t>
                            </m:r>
                          </m:sub>
                        </m:sSub>
                        <m:r>
                          <a:rPr lang="en-US" altLang="zh-CN" i="1">
                            <a:latin typeface="Cambria Math" panose="02040503050406030204" pitchFamily="18" charset="0"/>
                          </a:rPr>
                          <m:t>+8</m:t>
                        </m:r>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i="1">
                                <a:latin typeface="Cambria Math" panose="02040503050406030204" pitchFamily="18" charset="0"/>
                              </a:rPr>
                              <m:t>4</m:t>
                            </m:r>
                          </m:sub>
                        </m:sSub>
                      </m:e>
                    </m:d>
                    <m:r>
                      <a:rPr lang="en-US" altLang="zh-CN" b="0" i="1" smtClean="0">
                        <a:latin typeface="Cambria Math" panose="02040503050406030204" pitchFamily="18" charset="0"/>
                      </a:rPr>
                      <m:t>=0.5(</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𝑆</m:t>
                        </m:r>
                      </m:e>
                      <m:sub>
                        <m:r>
                          <a:rPr lang="en-US" altLang="zh-CN" i="1">
                            <a:latin typeface="Cambria Math" panose="02040503050406030204" pitchFamily="18" charset="0"/>
                          </a:rPr>
                          <m:t>1</m:t>
                        </m:r>
                      </m:sub>
                    </m:sSub>
                    <m:r>
                      <a:rPr lang="en-US" altLang="zh-CN" i="1">
                        <a:latin typeface="Cambria Math" panose="02040503050406030204" pitchFamily="18" charset="0"/>
                      </a:rPr>
                      <m:t>+2</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𝑆</m:t>
                        </m:r>
                      </m:e>
                      <m:sub>
                        <m:r>
                          <a:rPr lang="en-US" altLang="zh-CN" i="1">
                            <a:latin typeface="Cambria Math" panose="02040503050406030204" pitchFamily="18" charset="0"/>
                          </a:rPr>
                          <m:t>2</m:t>
                        </m:r>
                      </m:sub>
                    </m:sSub>
                    <m:r>
                      <a:rPr lang="en-US" altLang="zh-CN" i="1">
                        <a:latin typeface="Cambria Math" panose="02040503050406030204" pitchFamily="18" charset="0"/>
                      </a:rPr>
                      <m:t>+4</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𝑆</m:t>
                        </m:r>
                      </m:e>
                      <m:sub>
                        <m:r>
                          <a:rPr lang="en-US" altLang="zh-CN" i="1">
                            <a:latin typeface="Cambria Math" panose="02040503050406030204" pitchFamily="18" charset="0"/>
                          </a:rPr>
                          <m:t>3</m:t>
                        </m:r>
                      </m:sub>
                    </m:sSub>
                    <m:r>
                      <a:rPr lang="en-US" altLang="zh-CN" i="1">
                        <a:latin typeface="Cambria Math" panose="02040503050406030204" pitchFamily="18" charset="0"/>
                      </a:rPr>
                      <m:t>+8</m:t>
                    </m:r>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𝑆</m:t>
                        </m:r>
                      </m:e>
                      <m:sub>
                        <m:r>
                          <a:rPr lang="en-US" altLang="zh-CN" i="1">
                            <a:latin typeface="Cambria Math" panose="02040503050406030204" pitchFamily="18" charset="0"/>
                          </a:rPr>
                          <m:t>4</m:t>
                        </m:r>
                      </m:sub>
                    </m:sSub>
                    <m:r>
                      <a:rPr lang="en-US" altLang="zh-CN" b="0" i="1" smtClean="0">
                        <a:latin typeface="Cambria Math" panose="02040503050406030204" pitchFamily="18" charset="0"/>
                      </a:rPr>
                      <m:t>)</m:t>
                    </m:r>
                  </m:oMath>
                </a14:m>
                <a:endParaRPr lang="zh-CN" altLang="en-US" dirty="0"/>
              </a:p>
            </p:txBody>
          </p:sp>
        </mc:Choice>
        <mc:Fallback xmlns="">
          <p:sp>
            <p:nvSpPr>
              <p:cNvPr id="2" name="矩形 1">
                <a:extLst>
                  <a:ext uri="{FF2B5EF4-FFF2-40B4-BE49-F238E27FC236}">
                    <a16:creationId xmlns:a16="http://schemas.microsoft.com/office/drawing/2014/main" id="{6D8C5868-22F1-4468-A86E-608516280F19}"/>
                  </a:ext>
                </a:extLst>
              </p:cNvPr>
              <p:cNvSpPr>
                <a:spLocks noRot="1" noChangeAspect="1" noMove="1" noResize="1" noEditPoints="1" noAdjustHandles="1" noChangeArrowheads="1" noChangeShapeType="1" noTextEdit="1"/>
              </p:cNvSpPr>
              <p:nvPr/>
            </p:nvSpPr>
            <p:spPr>
              <a:xfrm>
                <a:off x="1332461" y="5327215"/>
                <a:ext cx="6971204" cy="1201932"/>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20945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a:extLst>
              <a:ext uri="{FF2B5EF4-FFF2-40B4-BE49-F238E27FC236}">
                <a16:creationId xmlns:a16="http://schemas.microsoft.com/office/drawing/2014/main" id="{C672209B-132D-48E9-A89F-D7BA1E2197E6}"/>
              </a:ext>
            </a:extLst>
          </p:cNvPr>
          <p:cNvSpPr>
            <a:spLocks noGrp="1"/>
          </p:cNvSpPr>
          <p:nvPr>
            <p:ph type="title"/>
          </p:nvPr>
        </p:nvSpPr>
        <p:spPr/>
        <p:txBody>
          <a:bodyPr/>
          <a:lstStyle/>
          <a:p>
            <a:r>
              <a:rPr lang="en-US" altLang="zh-CN" dirty="0"/>
              <a:t>Instrumentation Amplifier</a:t>
            </a:r>
            <a:endParaRPr lang="zh-CN" altLang="en-US" dirty="0"/>
          </a:p>
        </p:txBody>
      </p:sp>
      <p:sp>
        <p:nvSpPr>
          <p:cNvPr id="8" name="文本框 7">
            <a:extLst>
              <a:ext uri="{FF2B5EF4-FFF2-40B4-BE49-F238E27FC236}">
                <a16:creationId xmlns:a16="http://schemas.microsoft.com/office/drawing/2014/main" id="{996D8647-10C1-4C12-8488-A7C5904D79B3}"/>
              </a:ext>
            </a:extLst>
          </p:cNvPr>
          <p:cNvSpPr txBox="1"/>
          <p:nvPr/>
        </p:nvSpPr>
        <p:spPr>
          <a:xfrm>
            <a:off x="457200" y="1752600"/>
            <a:ext cx="8229600" cy="4154984"/>
          </a:xfrm>
          <a:prstGeom prst="rect">
            <a:avLst/>
          </a:prstGeom>
          <a:noFill/>
        </p:spPr>
        <p:txBody>
          <a:bodyPr wrap="square" rtlCol="0">
            <a:spAutoFit/>
          </a:bodyPr>
          <a:lstStyle/>
          <a:p>
            <a:pPr marL="457200" indent="-457200">
              <a:buAutoNum type="arabicPeriod"/>
            </a:pPr>
            <a:r>
              <a:rPr lang="en-US" altLang="zh-CN" sz="2400" dirty="0"/>
              <a:t>The amplification factor controllable and not too large to allow a sufficient dynamic range. </a:t>
            </a:r>
            <a:r>
              <a:rPr lang="en-US" altLang="zh-CN" sz="2400" dirty="0">
                <a:sym typeface="Wingdings" panose="05000000000000000000" pitchFamily="2" charset="2"/>
              </a:rPr>
              <a:t> multiple resistance options.</a:t>
            </a:r>
            <a:endParaRPr lang="en-US" altLang="zh-CN" sz="2400" dirty="0"/>
          </a:p>
          <a:p>
            <a:pPr marL="457200" indent="-457200">
              <a:buAutoNum type="arabicPeriod"/>
            </a:pPr>
            <a:endParaRPr lang="en-US" altLang="zh-CN" sz="2400" dirty="0"/>
          </a:p>
          <a:p>
            <a:pPr marL="457200" indent="-457200">
              <a:buAutoNum type="arabicPeriod"/>
            </a:pPr>
            <a:r>
              <a:rPr lang="en-US" altLang="zh-CN" sz="2400" dirty="0"/>
              <a:t>The input signal often has an unknown offset </a:t>
            </a:r>
            <a:r>
              <a:rPr lang="en-US" altLang="zh-CN" sz="2400" dirty="0">
                <a:sym typeface="Wingdings" panose="05000000000000000000" pitchFamily="2" charset="2"/>
              </a:rPr>
              <a:t> differential amplifier.</a:t>
            </a:r>
          </a:p>
          <a:p>
            <a:pPr marL="457200" indent="-457200">
              <a:buAutoNum type="arabicPeriod"/>
            </a:pPr>
            <a:endParaRPr lang="en-US" altLang="zh-CN" sz="2400" dirty="0">
              <a:sym typeface="Wingdings" panose="05000000000000000000" pitchFamily="2" charset="2"/>
            </a:endParaRPr>
          </a:p>
          <a:p>
            <a:pPr marL="457200" indent="-457200">
              <a:buAutoNum type="arabicPeriod"/>
            </a:pPr>
            <a:r>
              <a:rPr lang="en-US" altLang="zh-CN" sz="2400" dirty="0">
                <a:sym typeface="Wingdings" panose="05000000000000000000" pitchFamily="2" charset="2"/>
              </a:rPr>
              <a:t>The </a:t>
            </a:r>
            <a:r>
              <a:rPr lang="en-US" altLang="zh-CN" sz="2400" dirty="0" err="1">
                <a:sym typeface="Wingdings" panose="05000000000000000000" pitchFamily="2" charset="2"/>
              </a:rPr>
              <a:t>Thevinen</a:t>
            </a:r>
            <a:r>
              <a:rPr lang="en-US" altLang="zh-CN" sz="2400" dirty="0">
                <a:sym typeface="Wingdings" panose="05000000000000000000" pitchFamily="2" charset="2"/>
              </a:rPr>
              <a:t> resistance of the input signal is not negligible.  two stage design.</a:t>
            </a:r>
          </a:p>
          <a:p>
            <a:pPr marL="457200" indent="-457200">
              <a:buAutoNum type="arabicPeriod"/>
            </a:pPr>
            <a:endParaRPr lang="en-US" altLang="zh-CN" sz="2400" dirty="0">
              <a:sym typeface="Wingdings" panose="05000000000000000000" pitchFamily="2" charset="2"/>
            </a:endParaRPr>
          </a:p>
          <a:p>
            <a:pPr marL="457200" indent="-457200">
              <a:buAutoNum type="arabicPeriod"/>
            </a:pPr>
            <a:endParaRPr lang="zh-CN" altLang="en-US" sz="2400" dirty="0"/>
          </a:p>
        </p:txBody>
      </p:sp>
    </p:spTree>
    <p:extLst>
      <p:ext uri="{BB962C8B-B14F-4D97-AF65-F5344CB8AC3E}">
        <p14:creationId xmlns:p14="http://schemas.microsoft.com/office/powerpoint/2010/main" val="9097454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5831208" y="1300372"/>
            <a:ext cx="1447800"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标题 9">
            <a:extLst>
              <a:ext uri="{FF2B5EF4-FFF2-40B4-BE49-F238E27FC236}">
                <a16:creationId xmlns:a16="http://schemas.microsoft.com/office/drawing/2014/main" id="{C672209B-132D-48E9-A89F-D7BA1E2197E6}"/>
              </a:ext>
            </a:extLst>
          </p:cNvPr>
          <p:cNvSpPr>
            <a:spLocks noGrp="1"/>
          </p:cNvSpPr>
          <p:nvPr>
            <p:ph type="title"/>
          </p:nvPr>
        </p:nvSpPr>
        <p:spPr/>
        <p:txBody>
          <a:bodyPr/>
          <a:lstStyle/>
          <a:p>
            <a:r>
              <a:rPr lang="en-US" altLang="zh-CN" dirty="0"/>
              <a:t>Instrumentation Amplifier</a:t>
            </a:r>
            <a:endParaRPr lang="zh-CN" altLang="en-US" dirty="0"/>
          </a:p>
        </p:txBody>
      </p:sp>
      <p:pic>
        <p:nvPicPr>
          <p:cNvPr id="12" name="图片 11">
            <a:extLst>
              <a:ext uri="{FF2B5EF4-FFF2-40B4-BE49-F238E27FC236}">
                <a16:creationId xmlns:a16="http://schemas.microsoft.com/office/drawing/2014/main" id="{FBF6EBCB-9C05-4931-B4FD-1F6E2408AF5B}"/>
              </a:ext>
            </a:extLst>
          </p:cNvPr>
          <p:cNvPicPr>
            <a:picLocks noChangeAspect="1"/>
          </p:cNvPicPr>
          <p:nvPr/>
        </p:nvPicPr>
        <p:blipFill rotWithShape="1">
          <a:blip r:embed="rId3"/>
          <a:srcRect l="3750" b="11990"/>
          <a:stretch/>
        </p:blipFill>
        <p:spPr>
          <a:xfrm>
            <a:off x="87458" y="1512371"/>
            <a:ext cx="5105400" cy="2952690"/>
          </a:xfrm>
          <a:prstGeom prst="rect">
            <a:avLst/>
          </a:prstGeom>
        </p:spPr>
      </p:pic>
      <p:sp>
        <p:nvSpPr>
          <p:cNvPr id="11" name="矩形 10">
            <a:extLst>
              <a:ext uri="{FF2B5EF4-FFF2-40B4-BE49-F238E27FC236}">
                <a16:creationId xmlns:a16="http://schemas.microsoft.com/office/drawing/2014/main" id="{C98595C3-9688-4ED0-AFB0-0FD43676E7A4}"/>
              </a:ext>
            </a:extLst>
          </p:cNvPr>
          <p:cNvSpPr/>
          <p:nvPr/>
        </p:nvSpPr>
        <p:spPr>
          <a:xfrm>
            <a:off x="1738745" y="1112261"/>
            <a:ext cx="1069524" cy="400110"/>
          </a:xfrm>
          <a:prstGeom prst="rect">
            <a:avLst/>
          </a:prstGeom>
        </p:spPr>
        <p:txBody>
          <a:bodyPr wrap="none">
            <a:spAutoFit/>
          </a:bodyPr>
          <a:lstStyle/>
          <a:p>
            <a:r>
              <a:rPr lang="en-US" altLang="zh-CN" dirty="0"/>
              <a:t>A</a:t>
            </a:r>
            <a:r>
              <a:rPr lang="zh-CN" altLang="en-US" dirty="0"/>
              <a:t>d8231</a:t>
            </a:r>
          </a:p>
        </p:txBody>
      </p:sp>
      <p:pic>
        <p:nvPicPr>
          <p:cNvPr id="13" name="图片 12">
            <a:extLst>
              <a:ext uri="{FF2B5EF4-FFF2-40B4-BE49-F238E27FC236}">
                <a16:creationId xmlns:a16="http://schemas.microsoft.com/office/drawing/2014/main" id="{1EADEFC7-3579-4206-ADA7-771E1D67CD16}"/>
              </a:ext>
            </a:extLst>
          </p:cNvPr>
          <p:cNvPicPr>
            <a:picLocks noChangeAspect="1"/>
          </p:cNvPicPr>
          <p:nvPr/>
        </p:nvPicPr>
        <p:blipFill rotWithShape="1">
          <a:blip r:embed="rId4"/>
          <a:srcRect r="26306"/>
          <a:stretch/>
        </p:blipFill>
        <p:spPr>
          <a:xfrm>
            <a:off x="5265769" y="1371600"/>
            <a:ext cx="3657600" cy="1924319"/>
          </a:xfrm>
          <a:prstGeom prst="rect">
            <a:avLst/>
          </a:prstGeom>
        </p:spPr>
      </p:pic>
      <p:pic>
        <p:nvPicPr>
          <p:cNvPr id="14" name="图片 13">
            <a:extLst>
              <a:ext uri="{FF2B5EF4-FFF2-40B4-BE49-F238E27FC236}">
                <a16:creationId xmlns:a16="http://schemas.microsoft.com/office/drawing/2014/main" id="{6648D0D7-C90C-40CB-BB81-55850F3CAE15}"/>
              </a:ext>
            </a:extLst>
          </p:cNvPr>
          <p:cNvPicPr>
            <a:picLocks noChangeAspect="1"/>
          </p:cNvPicPr>
          <p:nvPr/>
        </p:nvPicPr>
        <p:blipFill rotWithShape="1">
          <a:blip r:embed="rId5"/>
          <a:srcRect t="40051" r="21617"/>
          <a:stretch/>
        </p:blipFill>
        <p:spPr>
          <a:xfrm>
            <a:off x="5202556" y="3173846"/>
            <a:ext cx="3905252" cy="1022266"/>
          </a:xfrm>
          <a:prstGeom prst="rect">
            <a:avLst/>
          </a:prstGeom>
        </p:spPr>
      </p:pic>
      <p:sp>
        <p:nvSpPr>
          <p:cNvPr id="2" name="文本框 1">
            <a:extLst>
              <a:ext uri="{FF2B5EF4-FFF2-40B4-BE49-F238E27FC236}">
                <a16:creationId xmlns:a16="http://schemas.microsoft.com/office/drawing/2014/main" id="{010D4999-8653-438F-B6E1-2B68265A78DB}"/>
              </a:ext>
            </a:extLst>
          </p:cNvPr>
          <p:cNvSpPr txBox="1"/>
          <p:nvPr/>
        </p:nvSpPr>
        <p:spPr>
          <a:xfrm>
            <a:off x="1738745" y="2590800"/>
            <a:ext cx="381836" cy="307777"/>
          </a:xfrm>
          <a:prstGeom prst="rect">
            <a:avLst/>
          </a:prstGeom>
          <a:noFill/>
        </p:spPr>
        <p:txBody>
          <a:bodyPr wrap="none" rtlCol="0">
            <a:spAutoFit/>
          </a:bodyPr>
          <a:lstStyle/>
          <a:p>
            <a:r>
              <a:rPr lang="en-US" altLang="zh-CN" sz="1400" b="1" dirty="0"/>
              <a:t>R</a:t>
            </a:r>
            <a:r>
              <a:rPr lang="en-US" altLang="zh-CN" sz="1400" b="1" baseline="-25000" dirty="0"/>
              <a:t>1</a:t>
            </a:r>
            <a:endParaRPr lang="zh-CN" altLang="en-US" sz="1400" b="1" baseline="-25000" dirty="0"/>
          </a:p>
        </p:txBody>
      </p:sp>
      <p:sp>
        <p:nvSpPr>
          <p:cNvPr id="9" name="文本框 8">
            <a:extLst>
              <a:ext uri="{FF2B5EF4-FFF2-40B4-BE49-F238E27FC236}">
                <a16:creationId xmlns:a16="http://schemas.microsoft.com/office/drawing/2014/main" id="{6B77539A-FA27-4E4F-9F44-6B4D9EBCBCFA}"/>
              </a:ext>
            </a:extLst>
          </p:cNvPr>
          <p:cNvSpPr txBox="1"/>
          <p:nvPr/>
        </p:nvSpPr>
        <p:spPr>
          <a:xfrm>
            <a:off x="1738745" y="2932955"/>
            <a:ext cx="381836" cy="307777"/>
          </a:xfrm>
          <a:prstGeom prst="rect">
            <a:avLst/>
          </a:prstGeom>
          <a:noFill/>
        </p:spPr>
        <p:txBody>
          <a:bodyPr wrap="none" rtlCol="0">
            <a:spAutoFit/>
          </a:bodyPr>
          <a:lstStyle/>
          <a:p>
            <a:r>
              <a:rPr lang="en-US" altLang="zh-CN" sz="1400" b="1" dirty="0"/>
              <a:t>R</a:t>
            </a:r>
            <a:r>
              <a:rPr lang="en-US" altLang="zh-CN" sz="1400" b="1" baseline="-25000" dirty="0"/>
              <a:t>2</a:t>
            </a:r>
            <a:endParaRPr lang="zh-CN" altLang="en-US" sz="1400" b="1" baseline="-25000" dirty="0"/>
          </a:p>
        </p:txBody>
      </p:sp>
      <p:sp>
        <p:nvSpPr>
          <p:cNvPr id="15" name="文本框 14">
            <a:extLst>
              <a:ext uri="{FF2B5EF4-FFF2-40B4-BE49-F238E27FC236}">
                <a16:creationId xmlns:a16="http://schemas.microsoft.com/office/drawing/2014/main" id="{E4FBD810-307F-48B5-BE98-437B675E966E}"/>
              </a:ext>
            </a:extLst>
          </p:cNvPr>
          <p:cNvSpPr txBox="1"/>
          <p:nvPr/>
        </p:nvSpPr>
        <p:spPr>
          <a:xfrm>
            <a:off x="1738745" y="3275111"/>
            <a:ext cx="381836" cy="307777"/>
          </a:xfrm>
          <a:prstGeom prst="rect">
            <a:avLst/>
          </a:prstGeom>
          <a:noFill/>
        </p:spPr>
        <p:txBody>
          <a:bodyPr wrap="none" rtlCol="0">
            <a:spAutoFit/>
          </a:bodyPr>
          <a:lstStyle/>
          <a:p>
            <a:r>
              <a:rPr lang="en-US" altLang="zh-CN" sz="1400" b="1" dirty="0"/>
              <a:t>R</a:t>
            </a:r>
            <a:r>
              <a:rPr lang="en-US" altLang="zh-CN" sz="1400" b="1" baseline="-25000" dirty="0"/>
              <a:t>3</a:t>
            </a:r>
            <a:endParaRPr lang="zh-CN" altLang="en-US" sz="1400" b="1" baseline="-25000" dirty="0"/>
          </a:p>
        </p:txBody>
      </p:sp>
      <p:sp>
        <p:nvSpPr>
          <p:cNvPr id="16" name="文本框 15">
            <a:extLst>
              <a:ext uri="{FF2B5EF4-FFF2-40B4-BE49-F238E27FC236}">
                <a16:creationId xmlns:a16="http://schemas.microsoft.com/office/drawing/2014/main" id="{46B92E24-DE02-4BA7-9A8B-F8CB6B29721A}"/>
              </a:ext>
            </a:extLst>
          </p:cNvPr>
          <p:cNvSpPr txBox="1"/>
          <p:nvPr/>
        </p:nvSpPr>
        <p:spPr>
          <a:xfrm>
            <a:off x="1885499" y="3527930"/>
            <a:ext cx="372218" cy="307777"/>
          </a:xfrm>
          <a:prstGeom prst="rect">
            <a:avLst/>
          </a:prstGeom>
          <a:noFill/>
        </p:spPr>
        <p:txBody>
          <a:bodyPr wrap="none" rtlCol="0">
            <a:spAutoFit/>
          </a:bodyPr>
          <a:lstStyle/>
          <a:p>
            <a:r>
              <a:rPr lang="en-US" altLang="zh-CN" sz="1400" b="1" dirty="0"/>
              <a:t>V</a:t>
            </a:r>
            <a:r>
              <a:rPr lang="en-US" altLang="zh-CN" sz="1400" b="1" baseline="-25000" dirty="0"/>
              <a:t>2</a:t>
            </a:r>
            <a:endParaRPr lang="zh-CN" altLang="en-US" sz="1400" b="1" baseline="-25000" dirty="0"/>
          </a:p>
        </p:txBody>
      </p:sp>
      <p:sp>
        <p:nvSpPr>
          <p:cNvPr id="17" name="文本框 16">
            <a:extLst>
              <a:ext uri="{FF2B5EF4-FFF2-40B4-BE49-F238E27FC236}">
                <a16:creationId xmlns:a16="http://schemas.microsoft.com/office/drawing/2014/main" id="{037400E0-34BB-4D80-A9A1-BC719D302BD1}"/>
              </a:ext>
            </a:extLst>
          </p:cNvPr>
          <p:cNvSpPr txBox="1"/>
          <p:nvPr/>
        </p:nvSpPr>
        <p:spPr>
          <a:xfrm>
            <a:off x="1901289" y="2527050"/>
            <a:ext cx="372218" cy="307777"/>
          </a:xfrm>
          <a:prstGeom prst="rect">
            <a:avLst/>
          </a:prstGeom>
          <a:noFill/>
        </p:spPr>
        <p:txBody>
          <a:bodyPr wrap="none" rtlCol="0">
            <a:spAutoFit/>
          </a:bodyPr>
          <a:lstStyle/>
          <a:p>
            <a:r>
              <a:rPr lang="en-US" altLang="zh-CN" sz="1400" b="1" dirty="0"/>
              <a:t>V</a:t>
            </a:r>
            <a:r>
              <a:rPr lang="en-US" altLang="zh-CN" sz="1400" b="1" baseline="-25000" dirty="0"/>
              <a:t>1</a:t>
            </a:r>
            <a:endParaRPr lang="zh-CN" altLang="en-US" sz="1400" b="1" baseline="-25000" dirty="0"/>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3A769E1D-2F75-4659-8BCA-7689E77150F0}"/>
                  </a:ext>
                </a:extLst>
              </p:cNvPr>
              <p:cNvSpPr txBox="1"/>
              <p:nvPr/>
            </p:nvSpPr>
            <p:spPr>
              <a:xfrm>
                <a:off x="762000" y="4625410"/>
                <a:ext cx="4940776" cy="1798506"/>
              </a:xfrm>
              <a:prstGeom prst="rect">
                <a:avLst/>
              </a:prstGeom>
              <a:noFill/>
            </p:spPr>
            <p:txBody>
              <a:bodyPr wrap="none" rtlCol="0">
                <a:spAutoFit/>
              </a:bodyPr>
              <a:lstStyle/>
              <a:p>
                <a:r>
                  <a:rPr lang="en-US" altLang="zh-CN" dirty="0"/>
                  <a:t>The circuit can be separated into 2 stages</a:t>
                </a:r>
              </a:p>
              <a:p>
                <a:endParaRPr lang="en-US" altLang="zh-CN" dirty="0"/>
              </a:p>
              <a:p>
                <a:r>
                  <a:rPr lang="en-US" altLang="zh-CN" dirty="0"/>
                  <a:t>Stage 1: </a:t>
                </a:r>
                <a14:m>
                  <m:oMath xmlns:m="http://schemas.openxmlformats.org/officeDocument/2006/math">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b="0" i="1" smtClean="0">
                            <a:latin typeface="Cambria Math" panose="02040503050406030204" pitchFamily="18" charset="0"/>
                          </a:rPr>
                          <m:t>𝑖</m:t>
                        </m:r>
                        <m:r>
                          <a:rPr lang="en-US" altLang="zh-CN" b="0" i="1" smtClean="0">
                            <a:latin typeface="Cambria Math" panose="02040503050406030204" pitchFamily="18" charset="0"/>
                          </a:rPr>
                          <m:t>−</m:t>
                        </m:r>
                      </m:sub>
                    </m:sSub>
                    <m:r>
                      <a:rPr lang="en-US" altLang="zh-CN" i="1">
                        <a:latin typeface="Cambria Math" panose="02040503050406030204" pitchFamily="18" charset="0"/>
                      </a:rPr>
                      <m:t>)</m:t>
                    </m:r>
                    <m:r>
                      <a:rPr lang="en-US" altLang="zh-CN" i="1" smtClean="0">
                        <a:latin typeface="Cambria Math" panose="02040503050406030204" pitchFamily="18" charset="0"/>
                      </a:rPr>
                      <m:t>=</m:t>
                    </m:r>
                    <m:r>
                      <a:rPr lang="en-US" altLang="zh-CN" b="0"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𝑉</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𝑉</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2</m:t>
                            </m:r>
                          </m:sub>
                        </m:sSub>
                      </m:num>
                      <m:den>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𝑅</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𝑅</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𝑅</m:t>
                            </m:r>
                          </m:e>
                          <m:sub>
                            <m:r>
                              <a:rPr lang="en-US" altLang="zh-CN" b="0" i="1" smtClean="0">
                                <a:latin typeface="Cambria Math" panose="02040503050406030204" pitchFamily="18" charset="0"/>
                              </a:rPr>
                              <m:t>3</m:t>
                            </m:r>
                          </m:sub>
                        </m:sSub>
                      </m:den>
                    </m:f>
                  </m:oMath>
                </a14:m>
                <a:endParaRPr lang="en-US" altLang="zh-CN" dirty="0"/>
              </a:p>
              <a:p>
                <a:endParaRPr lang="en-US" altLang="zh-CN" dirty="0"/>
              </a:p>
              <a:p>
                <a:r>
                  <a:rPr lang="en-US" altLang="zh-CN" dirty="0"/>
                  <a:t>Stage 2: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b="0" i="1" smtClean="0">
                            <a:latin typeface="Cambria Math" panose="02040503050406030204" pitchFamily="18" charset="0"/>
                          </a:rPr>
                          <m:t>𝑜</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i="1">
                            <a:latin typeface="Cambria Math" panose="02040503050406030204" pitchFamily="18" charset="0"/>
                          </a:rPr>
                          <m:t>2</m:t>
                        </m:r>
                      </m:sub>
                    </m:sSub>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i="1">
                            <a:latin typeface="Cambria Math" panose="02040503050406030204" pitchFamily="18" charset="0"/>
                          </a:rPr>
                          <m:t>1</m:t>
                        </m:r>
                      </m:sub>
                    </m:sSub>
                    <m:r>
                      <a:rPr lang="en-US" altLang="zh-CN" i="1">
                        <a:latin typeface="Cambria Math" panose="02040503050406030204" pitchFamily="18" charset="0"/>
                      </a:rPr>
                      <m:t>)</m:t>
                    </m:r>
                  </m:oMath>
                </a14:m>
                <a:endParaRPr lang="zh-CN" altLang="en-US" dirty="0"/>
              </a:p>
            </p:txBody>
          </p:sp>
        </mc:Choice>
        <mc:Fallback xmlns="">
          <p:sp>
            <p:nvSpPr>
              <p:cNvPr id="3" name="文本框 2">
                <a:extLst>
                  <a:ext uri="{FF2B5EF4-FFF2-40B4-BE49-F238E27FC236}">
                    <a16:creationId xmlns:a16="http://schemas.microsoft.com/office/drawing/2014/main" id="{3A769E1D-2F75-4659-8BCA-7689E77150F0}"/>
                  </a:ext>
                </a:extLst>
              </p:cNvPr>
              <p:cNvSpPr txBox="1">
                <a:spLocks noRot="1" noChangeAspect="1" noMove="1" noResize="1" noEditPoints="1" noAdjustHandles="1" noChangeArrowheads="1" noChangeShapeType="1" noTextEdit="1"/>
              </p:cNvSpPr>
              <p:nvPr/>
            </p:nvSpPr>
            <p:spPr>
              <a:xfrm>
                <a:off x="762000" y="4625410"/>
                <a:ext cx="4940776" cy="1798506"/>
              </a:xfrm>
              <a:prstGeom prst="rect">
                <a:avLst/>
              </a:prstGeom>
              <a:blipFill>
                <a:blip r:embed="rId6"/>
                <a:stretch>
                  <a:fillRect l="-1235" t="-1695" r="-123" b="-5424"/>
                </a:stretch>
              </a:blipFill>
            </p:spPr>
            <p:txBody>
              <a:bodyPr/>
              <a:lstStyle/>
              <a:p>
                <a:r>
                  <a:rPr lang="zh-CN" altLang="en-US">
                    <a:noFill/>
                  </a:rPr>
                  <a:t> </a:t>
                </a:r>
              </a:p>
            </p:txBody>
          </p:sp>
        </mc:Fallback>
      </mc:AlternateContent>
      <p:sp>
        <p:nvSpPr>
          <p:cNvPr id="4" name="矩形 3">
            <a:extLst>
              <a:ext uri="{FF2B5EF4-FFF2-40B4-BE49-F238E27FC236}">
                <a16:creationId xmlns:a16="http://schemas.microsoft.com/office/drawing/2014/main" id="{EB362B14-0486-4FF6-A159-AEB6501CCE00}"/>
              </a:ext>
            </a:extLst>
          </p:cNvPr>
          <p:cNvSpPr/>
          <p:nvPr/>
        </p:nvSpPr>
        <p:spPr>
          <a:xfrm>
            <a:off x="110126" y="1995205"/>
            <a:ext cx="400559" cy="338554"/>
          </a:xfrm>
          <a:prstGeom prst="rect">
            <a:avLst/>
          </a:prstGeom>
        </p:spPr>
        <p:txBody>
          <a:bodyPr wrap="none">
            <a:spAutoFit/>
          </a:bodyPr>
          <a:lstStyle/>
          <a:p>
            <a:r>
              <a:rPr lang="en-US" altLang="zh-CN" sz="1600" b="1" dirty="0"/>
              <a:t>V</a:t>
            </a:r>
            <a:r>
              <a:rPr lang="en-US" altLang="zh-CN" sz="1600" b="1" baseline="-25000" dirty="0"/>
              <a:t>i-</a:t>
            </a:r>
            <a:endParaRPr lang="zh-CN" altLang="en-US" sz="1600" b="1" baseline="-25000" dirty="0"/>
          </a:p>
        </p:txBody>
      </p:sp>
      <p:sp>
        <p:nvSpPr>
          <p:cNvPr id="5" name="矩形 4">
            <a:extLst>
              <a:ext uri="{FF2B5EF4-FFF2-40B4-BE49-F238E27FC236}">
                <a16:creationId xmlns:a16="http://schemas.microsoft.com/office/drawing/2014/main" id="{76373681-2B41-4637-9845-22575B3D8610}"/>
              </a:ext>
            </a:extLst>
          </p:cNvPr>
          <p:cNvSpPr/>
          <p:nvPr/>
        </p:nvSpPr>
        <p:spPr>
          <a:xfrm>
            <a:off x="65634" y="3308628"/>
            <a:ext cx="435825" cy="338554"/>
          </a:xfrm>
          <a:prstGeom prst="rect">
            <a:avLst/>
          </a:prstGeom>
        </p:spPr>
        <p:txBody>
          <a:bodyPr wrap="none">
            <a:spAutoFit/>
          </a:bodyPr>
          <a:lstStyle/>
          <a:p>
            <a:r>
              <a:rPr lang="en-US" altLang="zh-CN" sz="1600" b="1" dirty="0"/>
              <a:t>V</a:t>
            </a:r>
            <a:r>
              <a:rPr lang="en-US" altLang="zh-CN" sz="1600" b="1" baseline="-25000" dirty="0"/>
              <a:t>i+</a:t>
            </a:r>
            <a:endParaRPr lang="zh-CN" altLang="en-US" sz="1600" dirty="0"/>
          </a:p>
        </p:txBody>
      </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9A9EE48C-F5AC-4F56-90FE-B3AA20F70082}"/>
                  </a:ext>
                </a:extLst>
              </p:cNvPr>
              <p:cNvSpPr/>
              <p:nvPr/>
            </p:nvSpPr>
            <p:spPr>
              <a:xfrm>
                <a:off x="3694025" y="2761313"/>
                <a:ext cx="480773"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𝑉</m:t>
                          </m:r>
                        </m:e>
                        <m:sub>
                          <m:r>
                            <a:rPr lang="en-US" altLang="zh-CN" i="1">
                              <a:latin typeface="Cambria Math" panose="02040503050406030204" pitchFamily="18" charset="0"/>
                            </a:rPr>
                            <m:t>𝑜</m:t>
                          </m:r>
                        </m:sub>
                      </m:sSub>
                    </m:oMath>
                  </m:oMathPara>
                </a14:m>
                <a:endParaRPr lang="zh-CN" altLang="en-US" dirty="0"/>
              </a:p>
            </p:txBody>
          </p:sp>
        </mc:Choice>
        <mc:Fallback xmlns="">
          <p:sp>
            <p:nvSpPr>
              <p:cNvPr id="7" name="矩形 6">
                <a:extLst>
                  <a:ext uri="{FF2B5EF4-FFF2-40B4-BE49-F238E27FC236}">
                    <a16:creationId xmlns:a16="http://schemas.microsoft.com/office/drawing/2014/main" id="{9A9EE48C-F5AC-4F56-90FE-B3AA20F70082}"/>
                  </a:ext>
                </a:extLst>
              </p:cNvPr>
              <p:cNvSpPr>
                <a:spLocks noRot="1" noChangeAspect="1" noMove="1" noResize="1" noEditPoints="1" noAdjustHandles="1" noChangeArrowheads="1" noChangeShapeType="1" noTextEdit="1"/>
              </p:cNvSpPr>
              <p:nvPr/>
            </p:nvSpPr>
            <p:spPr>
              <a:xfrm>
                <a:off x="3694025" y="2761313"/>
                <a:ext cx="480773" cy="400110"/>
              </a:xfrm>
              <a:prstGeom prst="rect">
                <a:avLst/>
              </a:prstGeom>
              <a:blipFill>
                <a:blip r:embed="rId7"/>
                <a:stretch>
                  <a:fillRect/>
                </a:stretch>
              </a:blipFill>
            </p:spPr>
            <p:txBody>
              <a:bodyPr/>
              <a:lstStyle/>
              <a:p>
                <a:r>
                  <a:rPr lang="zh-CN" altLang="en-US">
                    <a:noFill/>
                  </a:rPr>
                  <a:t> </a:t>
                </a:r>
              </a:p>
            </p:txBody>
          </p:sp>
        </mc:Fallback>
      </mc:AlternateContent>
      <p:pic>
        <p:nvPicPr>
          <p:cNvPr id="18" name="图片 17">
            <a:extLst>
              <a:ext uri="{FF2B5EF4-FFF2-40B4-BE49-F238E27FC236}">
                <a16:creationId xmlns:a16="http://schemas.microsoft.com/office/drawing/2014/main" id="{701EBE4E-1208-4569-82EA-87F33E494451}"/>
              </a:ext>
            </a:extLst>
          </p:cNvPr>
          <p:cNvPicPr>
            <a:picLocks noChangeAspect="1"/>
          </p:cNvPicPr>
          <p:nvPr/>
        </p:nvPicPr>
        <p:blipFill rotWithShape="1">
          <a:blip r:embed="rId8"/>
          <a:srcRect l="1920" t="49097"/>
          <a:stretch/>
        </p:blipFill>
        <p:spPr>
          <a:xfrm>
            <a:off x="3395036" y="4123355"/>
            <a:ext cx="298989" cy="281254"/>
          </a:xfrm>
          <a:prstGeom prst="rect">
            <a:avLst/>
          </a:prstGeom>
        </p:spPr>
      </p:pic>
    </p:spTree>
    <p:extLst>
      <p:ext uri="{BB962C8B-B14F-4D97-AF65-F5344CB8AC3E}">
        <p14:creationId xmlns:p14="http://schemas.microsoft.com/office/powerpoint/2010/main" val="3350895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6168614" y="2497435"/>
            <a:ext cx="1447800"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标题 9">
            <a:extLst>
              <a:ext uri="{FF2B5EF4-FFF2-40B4-BE49-F238E27FC236}">
                <a16:creationId xmlns:a16="http://schemas.microsoft.com/office/drawing/2014/main" id="{C672209B-132D-48E9-A89F-D7BA1E2197E6}"/>
              </a:ext>
            </a:extLst>
          </p:cNvPr>
          <p:cNvSpPr>
            <a:spLocks noGrp="1"/>
          </p:cNvSpPr>
          <p:nvPr>
            <p:ph type="title"/>
          </p:nvPr>
        </p:nvSpPr>
        <p:spPr/>
        <p:txBody>
          <a:bodyPr/>
          <a:lstStyle/>
          <a:p>
            <a:r>
              <a:rPr lang="en-US" altLang="zh-CN" dirty="0"/>
              <a:t>Instrumentation Amplifier (practice 5)</a:t>
            </a:r>
            <a:endParaRPr lang="zh-CN" altLang="en-US" dirty="0"/>
          </a:p>
        </p:txBody>
      </p:sp>
      <p:pic>
        <p:nvPicPr>
          <p:cNvPr id="9" name="图片 8">
            <a:extLst>
              <a:ext uri="{FF2B5EF4-FFF2-40B4-BE49-F238E27FC236}">
                <a16:creationId xmlns:a16="http://schemas.microsoft.com/office/drawing/2014/main" id="{E780A6A6-F714-44A9-975F-FC44C9A65D97}"/>
              </a:ext>
            </a:extLst>
          </p:cNvPr>
          <p:cNvPicPr>
            <a:picLocks noChangeAspect="1"/>
          </p:cNvPicPr>
          <p:nvPr/>
        </p:nvPicPr>
        <p:blipFill>
          <a:blip r:embed="rId3"/>
          <a:stretch>
            <a:fillRect/>
          </a:stretch>
        </p:blipFill>
        <p:spPr>
          <a:xfrm>
            <a:off x="714870" y="2411972"/>
            <a:ext cx="6400800" cy="3807556"/>
          </a:xfrm>
          <a:prstGeom prst="rect">
            <a:avLst/>
          </a:prstGeom>
        </p:spPr>
      </p:pic>
      <p:sp>
        <p:nvSpPr>
          <p:cNvPr id="2" name="矩形 1">
            <a:extLst>
              <a:ext uri="{FF2B5EF4-FFF2-40B4-BE49-F238E27FC236}">
                <a16:creationId xmlns:a16="http://schemas.microsoft.com/office/drawing/2014/main" id="{C15ABC66-0A4A-42C1-83A9-CDAD597BE79D}"/>
              </a:ext>
            </a:extLst>
          </p:cNvPr>
          <p:cNvSpPr/>
          <p:nvPr/>
        </p:nvSpPr>
        <p:spPr>
          <a:xfrm>
            <a:off x="714870" y="1396309"/>
            <a:ext cx="7590929" cy="1015663"/>
          </a:xfrm>
          <a:prstGeom prst="rect">
            <a:avLst/>
          </a:prstGeom>
        </p:spPr>
        <p:txBody>
          <a:bodyPr wrap="square">
            <a:spAutoFit/>
          </a:bodyPr>
          <a:lstStyle/>
          <a:p>
            <a:r>
              <a:rPr lang="zh-CN" altLang="zh-CN" dirty="0">
                <a:ea typeface="等线" panose="02010600030101010101" pitchFamily="2" charset="-122"/>
                <a:cs typeface="Times New Roman" panose="02020603050405020304" pitchFamily="18" charset="0"/>
              </a:rPr>
              <a:t>下图为某仪表放大器的内部电路图，如果将端口</a:t>
            </a:r>
            <a:r>
              <a:rPr lang="en-US" altLang="zh-CN" dirty="0">
                <a:ea typeface="等线" panose="02010600030101010101" pitchFamily="2" charset="-122"/>
                <a:cs typeface="Times New Roman" panose="02020603050405020304" pitchFamily="18" charset="0"/>
              </a:rPr>
              <a:t>12</a:t>
            </a:r>
            <a:r>
              <a:rPr lang="zh-CN" altLang="zh-CN" dirty="0">
                <a:ea typeface="等线" panose="02010600030101010101" pitchFamily="2" charset="-122"/>
                <a:cs typeface="Times New Roman" panose="02020603050405020304" pitchFamily="18" charset="0"/>
              </a:rPr>
              <a:t>与</a:t>
            </a:r>
            <a:r>
              <a:rPr lang="en-US" altLang="zh-CN" dirty="0">
                <a:ea typeface="等线" panose="02010600030101010101" pitchFamily="2" charset="-122"/>
                <a:cs typeface="Times New Roman" panose="02020603050405020304" pitchFamily="18" charset="0"/>
              </a:rPr>
              <a:t>3</a:t>
            </a:r>
            <a:r>
              <a:rPr lang="zh-CN" altLang="zh-CN" dirty="0">
                <a:ea typeface="等线" panose="02010600030101010101" pitchFamily="2" charset="-122"/>
                <a:cs typeface="Times New Roman" panose="02020603050405020304" pitchFamily="18" charset="0"/>
              </a:rPr>
              <a:t>相连，端口</a:t>
            </a:r>
            <a:r>
              <a:rPr lang="en-US" altLang="zh-CN" dirty="0">
                <a:ea typeface="等线" panose="02010600030101010101" pitchFamily="2" charset="-122"/>
                <a:cs typeface="Times New Roman" panose="02020603050405020304" pitchFamily="18" charset="0"/>
              </a:rPr>
              <a:t>9</a:t>
            </a:r>
            <a:r>
              <a:rPr lang="zh-CN" altLang="zh-CN" dirty="0">
                <a:ea typeface="等线" panose="02010600030101010101" pitchFamily="2" charset="-122"/>
                <a:cs typeface="Times New Roman" panose="02020603050405020304" pitchFamily="18" charset="0"/>
              </a:rPr>
              <a:t>与</a:t>
            </a:r>
            <a:r>
              <a:rPr lang="en-US" altLang="zh-CN" dirty="0">
                <a:ea typeface="等线" panose="02010600030101010101" pitchFamily="2" charset="-122"/>
                <a:cs typeface="Times New Roman" panose="02020603050405020304" pitchFamily="18" charset="0"/>
              </a:rPr>
              <a:t>10</a:t>
            </a:r>
            <a:r>
              <a:rPr lang="zh-CN" altLang="zh-CN" dirty="0">
                <a:ea typeface="等线" panose="02010600030101010101" pitchFamily="2" charset="-122"/>
                <a:cs typeface="Times New Roman" panose="02020603050405020304" pitchFamily="18" charset="0"/>
              </a:rPr>
              <a:t>相连，端口</a:t>
            </a:r>
            <a:r>
              <a:rPr lang="en-US" altLang="zh-CN" dirty="0">
                <a:ea typeface="等线" panose="02010600030101010101" pitchFamily="2" charset="-122"/>
                <a:cs typeface="Times New Roman" panose="02020603050405020304" pitchFamily="18" charset="0"/>
              </a:rPr>
              <a:t>6</a:t>
            </a:r>
            <a:r>
              <a:rPr lang="zh-CN" altLang="zh-CN" dirty="0">
                <a:ea typeface="等线" panose="02010600030101010101" pitchFamily="2" charset="-122"/>
                <a:cs typeface="Times New Roman" panose="02020603050405020304" pitchFamily="18" charset="0"/>
              </a:rPr>
              <a:t>接地。求 </a:t>
            </a:r>
            <a:r>
              <a:rPr lang="en-US" altLang="zh-CN" dirty="0">
                <a:ea typeface="等线" panose="02010600030101010101" pitchFamily="2" charset="-122"/>
                <a:cs typeface="Times New Roman" panose="02020603050405020304" pitchFamily="18" charset="0"/>
              </a:rPr>
              <a:t>OUTPUT(</a:t>
            </a:r>
            <a:r>
              <a:rPr lang="zh-CN" altLang="zh-CN" dirty="0">
                <a:ea typeface="等线" panose="02010600030101010101" pitchFamily="2" charset="-122"/>
                <a:cs typeface="Times New Roman" panose="02020603050405020304" pitchFamily="18" charset="0"/>
              </a:rPr>
              <a:t>端口</a:t>
            </a:r>
            <a:r>
              <a:rPr lang="en-US" altLang="zh-CN" dirty="0">
                <a:ea typeface="等线" panose="02010600030101010101" pitchFamily="2" charset="-122"/>
                <a:cs typeface="Times New Roman" panose="02020603050405020304" pitchFamily="18" charset="0"/>
              </a:rPr>
              <a:t>9)</a:t>
            </a:r>
            <a:r>
              <a:rPr lang="zh-CN" altLang="zh-CN" dirty="0">
                <a:ea typeface="等线" panose="02010600030101010101" pitchFamily="2" charset="-122"/>
                <a:cs typeface="Times New Roman" panose="02020603050405020304" pitchFamily="18" charset="0"/>
              </a:rPr>
              <a:t>的电压与“</a:t>
            </a:r>
            <a:r>
              <a:rPr lang="en-US" altLang="zh-CN" dirty="0">
                <a:ea typeface="等线" panose="02010600030101010101" pitchFamily="2" charset="-122"/>
                <a:cs typeface="Times New Roman" panose="02020603050405020304" pitchFamily="18" charset="0"/>
              </a:rPr>
              <a:t>+input”(</a:t>
            </a:r>
            <a:r>
              <a:rPr lang="zh-CN" altLang="zh-CN" dirty="0">
                <a:ea typeface="等线" panose="02010600030101010101" pitchFamily="2" charset="-122"/>
                <a:cs typeface="Times New Roman" panose="02020603050405020304" pitchFamily="18" charset="0"/>
              </a:rPr>
              <a:t>端口</a:t>
            </a:r>
            <a:r>
              <a:rPr lang="en-US" altLang="zh-CN" dirty="0">
                <a:ea typeface="等线" panose="02010600030101010101" pitchFamily="2" charset="-122"/>
                <a:cs typeface="Times New Roman" panose="02020603050405020304" pitchFamily="18" charset="0"/>
              </a:rPr>
              <a:t>2)- “-input” (</a:t>
            </a:r>
            <a:r>
              <a:rPr lang="zh-CN" altLang="zh-CN" dirty="0">
                <a:ea typeface="等线" panose="02010600030101010101" pitchFamily="2" charset="-122"/>
                <a:cs typeface="Times New Roman" panose="02020603050405020304" pitchFamily="18" charset="0"/>
              </a:rPr>
              <a:t>端口</a:t>
            </a:r>
            <a:r>
              <a:rPr lang="en-US" altLang="zh-CN" dirty="0">
                <a:ea typeface="等线" panose="02010600030101010101" pitchFamily="2" charset="-122"/>
                <a:cs typeface="Times New Roman" panose="02020603050405020304" pitchFamily="18" charset="0"/>
              </a:rPr>
              <a:t>1)</a:t>
            </a:r>
            <a:r>
              <a:rPr lang="zh-CN" altLang="zh-CN" dirty="0">
                <a:ea typeface="等线" panose="02010600030101010101" pitchFamily="2" charset="-122"/>
                <a:cs typeface="Times New Roman" panose="02020603050405020304" pitchFamily="18" charset="0"/>
              </a:rPr>
              <a:t>间电压差的关系。</a:t>
            </a:r>
            <a:endParaRPr lang="zh-CN" altLang="en-US" dirty="0"/>
          </a:p>
        </p:txBody>
      </p:sp>
      <p:grpSp>
        <p:nvGrpSpPr>
          <p:cNvPr id="27" name="组合 26">
            <a:extLst>
              <a:ext uri="{FF2B5EF4-FFF2-40B4-BE49-F238E27FC236}">
                <a16:creationId xmlns:a16="http://schemas.microsoft.com/office/drawing/2014/main" id="{41DF3AC4-5210-49A6-B581-7CCC0D7E3665}"/>
              </a:ext>
            </a:extLst>
          </p:cNvPr>
          <p:cNvGrpSpPr/>
          <p:nvPr/>
        </p:nvGrpSpPr>
        <p:grpSpPr>
          <a:xfrm>
            <a:off x="4386943" y="4214518"/>
            <a:ext cx="400638" cy="1052704"/>
            <a:chOff x="3783779" y="4017410"/>
            <a:chExt cx="400638" cy="1489740"/>
          </a:xfrm>
        </p:grpSpPr>
        <p:sp>
          <p:nvSpPr>
            <p:cNvPr id="25" name="矩形 24">
              <a:extLst>
                <a:ext uri="{FF2B5EF4-FFF2-40B4-BE49-F238E27FC236}">
                  <a16:creationId xmlns:a16="http://schemas.microsoft.com/office/drawing/2014/main" id="{BFEE0FF9-2899-422B-8611-AA47507DC912}"/>
                </a:ext>
              </a:extLst>
            </p:cNvPr>
            <p:cNvSpPr/>
            <p:nvPr/>
          </p:nvSpPr>
          <p:spPr>
            <a:xfrm>
              <a:off x="3788155" y="4017410"/>
              <a:ext cx="396262" cy="338555"/>
            </a:xfrm>
            <a:prstGeom prst="rect">
              <a:avLst/>
            </a:prstGeom>
          </p:spPr>
          <p:txBody>
            <a:bodyPr wrap="none">
              <a:spAutoFit/>
            </a:bodyPr>
            <a:lstStyle/>
            <a:p>
              <a:r>
                <a:rPr lang="en-US" altLang="zh-CN" sz="1600" dirty="0"/>
                <a:t>V</a:t>
              </a:r>
              <a:r>
                <a:rPr lang="en-US" altLang="zh-CN" sz="1600" baseline="-25000" dirty="0"/>
                <a:t>1</a:t>
              </a:r>
              <a:endParaRPr lang="zh-CN" altLang="en-US" sz="1600" baseline="-25000" dirty="0"/>
            </a:p>
          </p:txBody>
        </p:sp>
        <p:sp>
          <p:nvSpPr>
            <p:cNvPr id="26" name="矩形 25">
              <a:extLst>
                <a:ext uri="{FF2B5EF4-FFF2-40B4-BE49-F238E27FC236}">
                  <a16:creationId xmlns:a16="http://schemas.microsoft.com/office/drawing/2014/main" id="{9E50584E-675A-4142-8821-2D28E226396C}"/>
                </a:ext>
              </a:extLst>
            </p:cNvPr>
            <p:cNvSpPr/>
            <p:nvPr/>
          </p:nvSpPr>
          <p:spPr>
            <a:xfrm>
              <a:off x="3783779" y="5168595"/>
              <a:ext cx="396262" cy="338555"/>
            </a:xfrm>
            <a:prstGeom prst="rect">
              <a:avLst/>
            </a:prstGeom>
          </p:spPr>
          <p:txBody>
            <a:bodyPr wrap="none">
              <a:spAutoFit/>
            </a:bodyPr>
            <a:lstStyle/>
            <a:p>
              <a:r>
                <a:rPr lang="en-US" altLang="zh-CN" sz="1600" dirty="0"/>
                <a:t>V</a:t>
              </a:r>
              <a:r>
                <a:rPr lang="en-US" altLang="zh-CN" sz="1600" baseline="-25000" dirty="0"/>
                <a:t>2</a:t>
              </a:r>
              <a:endParaRPr lang="zh-CN" altLang="en-US" sz="1600" baseline="-25000" dirty="0"/>
            </a:p>
          </p:txBody>
        </p:sp>
      </p:grpSp>
    </p:spTree>
    <p:extLst>
      <p:ext uri="{BB962C8B-B14F-4D97-AF65-F5344CB8AC3E}">
        <p14:creationId xmlns:p14="http://schemas.microsoft.com/office/powerpoint/2010/main" val="1561019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0AB208-DF43-4240-ADED-546F5FE78EE5}"/>
              </a:ext>
            </a:extLst>
          </p:cNvPr>
          <p:cNvSpPr>
            <a:spLocks noGrp="1"/>
          </p:cNvSpPr>
          <p:nvPr>
            <p:ph type="title"/>
          </p:nvPr>
        </p:nvSpPr>
        <p:spPr/>
        <p:txBody>
          <a:bodyPr/>
          <a:lstStyle/>
          <a:p>
            <a:r>
              <a:rPr lang="en-US" altLang="zh-CN" dirty="0"/>
              <a:t>practice 5 solution</a:t>
            </a:r>
            <a:endParaRPr lang="zh-CN" altLang="en-US" dirty="0"/>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B91C0219-2A3D-415A-8601-8C91AEF3B6B3}"/>
                  </a:ext>
                </a:extLst>
              </p:cNvPr>
              <p:cNvSpPr txBox="1"/>
              <p:nvPr/>
            </p:nvSpPr>
            <p:spPr>
              <a:xfrm>
                <a:off x="1676400" y="1828800"/>
                <a:ext cx="5474512" cy="3997569"/>
              </a:xfrm>
              <a:prstGeom prst="rect">
                <a:avLst/>
              </a:prstGeom>
              <a:noFill/>
            </p:spPr>
            <p:txBody>
              <a:bodyPr wrap="none" rtlCol="0">
                <a:spAutoFit/>
              </a:bodyPr>
              <a:lstStyle/>
              <a:p>
                <a:r>
                  <a:rPr lang="en-US" altLang="zh-CN" dirty="0"/>
                  <a:t>V</a:t>
                </a:r>
                <a:r>
                  <a:rPr lang="en-US" altLang="zh-CN" baseline="-25000" dirty="0" err="1"/>
                  <a:t>output</a:t>
                </a:r>
                <a:r>
                  <a:rPr lang="en-US" altLang="zh-CN" dirty="0"/>
                  <a:t>=V</a:t>
                </a:r>
                <a:r>
                  <a:rPr lang="en-US" altLang="zh-CN" baseline="-25000" dirty="0"/>
                  <a:t>2</a:t>
                </a:r>
                <a:r>
                  <a:rPr lang="en-US" altLang="zh-CN" dirty="0"/>
                  <a:t>-V</a:t>
                </a:r>
                <a:r>
                  <a:rPr lang="en-US" altLang="zh-CN" baseline="-25000" dirty="0"/>
                  <a:t>1</a:t>
                </a:r>
              </a:p>
              <a:p>
                <a:endParaRPr lang="en-US" altLang="zh-CN" baseline="-25000" dirty="0"/>
              </a:p>
              <a:p>
                <a:r>
                  <a:rPr lang="en-US" altLang="zh-CN" dirty="0"/>
                  <a:t>V</a:t>
                </a:r>
                <a:r>
                  <a:rPr lang="en-US" altLang="zh-CN" baseline="-25000" dirty="0" err="1"/>
                  <a:t>+input</a:t>
                </a:r>
                <a:r>
                  <a:rPr lang="en-US" altLang="zh-CN" dirty="0" err="1"/>
                  <a:t>-V</a:t>
                </a:r>
                <a:r>
                  <a:rPr lang="en-US" altLang="zh-CN" baseline="-25000" dirty="0" err="1"/>
                  <a:t>-input</a:t>
                </a:r>
                <a:endParaRPr lang="zh-CN" altLang="en-US" dirty="0"/>
              </a:p>
              <a:p>
                <a:r>
                  <a:rPr lang="en-US" altLang="zh-CN" dirty="0"/>
                  <a:t>=(V</a:t>
                </a:r>
                <a:r>
                  <a:rPr lang="en-US" altLang="zh-CN" baseline="-25000" dirty="0"/>
                  <a:t>2</a:t>
                </a:r>
                <a:r>
                  <a:rPr lang="en-US" altLang="zh-CN" dirty="0"/>
                  <a:t>-V</a:t>
                </a:r>
                <a:r>
                  <a:rPr lang="en-US" altLang="zh-CN" baseline="-25000" dirty="0"/>
                  <a:t>1</a:t>
                </a:r>
                <a:r>
                  <a:rPr lang="en-US" altLang="zh-CN" dirty="0"/>
                  <a:t>)</a:t>
                </a:r>
                <a14:m>
                  <m:oMath xmlns:m="http://schemas.openxmlformats.org/officeDocument/2006/math">
                    <m:f>
                      <m:fPr>
                        <m:ctrlPr>
                          <a:rPr lang="en-US" altLang="zh-CN" i="1">
                            <a:latin typeface="Cambria Math" panose="02040503050406030204" pitchFamily="18" charset="0"/>
                          </a:rPr>
                        </m:ctrlPr>
                      </m:fPr>
                      <m:num>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3,16</m:t>
                            </m:r>
                          </m:sub>
                        </m:sSub>
                      </m:num>
                      <m:den>
                        <m:r>
                          <a:rPr lang="en-US" altLang="zh-CN" i="1">
                            <a:latin typeface="Cambria Math" panose="02040503050406030204" pitchFamily="18" charset="0"/>
                          </a:rPr>
                          <m:t>40</m:t>
                        </m:r>
                        <m:r>
                          <a:rPr lang="en-US" altLang="zh-CN" b="0" i="1" smtClean="0">
                            <a:latin typeface="Cambria Math" panose="02040503050406030204" pitchFamily="18" charset="0"/>
                          </a:rPr>
                          <m:t>000</m:t>
                        </m:r>
                        <m:r>
                          <a:rPr lang="en-US" altLang="zh-CN" i="1">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3,16</m:t>
                            </m:r>
                          </m:sub>
                        </m:sSub>
                      </m:den>
                    </m:f>
                  </m:oMath>
                </a14:m>
                <a:endParaRPr lang="en-US" altLang="zh-CN" baseline="-25000" dirty="0"/>
              </a:p>
              <a:p>
                <a:r>
                  <a:rPr lang="en-US" altLang="zh-CN" dirty="0" err="1"/>
                  <a:t>V</a:t>
                </a:r>
                <a:r>
                  <a:rPr lang="en-US" altLang="zh-CN" baseline="-25000" dirty="0" err="1"/>
                  <a:t>output</a:t>
                </a:r>
                <a:r>
                  <a:rPr lang="en-US" altLang="zh-CN" dirty="0"/>
                  <a:t>=(</a:t>
                </a:r>
                <a:r>
                  <a:rPr lang="en-US" altLang="zh-CN" dirty="0" err="1"/>
                  <a:t>V</a:t>
                </a:r>
                <a:r>
                  <a:rPr lang="en-US" altLang="zh-CN" baseline="-25000" dirty="0" err="1"/>
                  <a:t>+input</a:t>
                </a:r>
                <a:r>
                  <a:rPr lang="en-US" altLang="zh-CN" dirty="0" err="1"/>
                  <a:t>-V</a:t>
                </a:r>
                <a:r>
                  <a:rPr lang="en-US" altLang="zh-CN" baseline="-25000" dirty="0" err="1"/>
                  <a:t>-input</a:t>
                </a:r>
                <a:r>
                  <a:rPr lang="en-US" altLang="zh-CN" dirty="0"/>
                  <a:t>)</a:t>
                </a:r>
                <a14:m>
                  <m:oMath xmlns:m="http://schemas.openxmlformats.org/officeDocument/2006/math">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1+</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40000</m:t>
                            </m:r>
                          </m:num>
                          <m:den>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3,16</m:t>
                                </m:r>
                              </m:sub>
                            </m:sSub>
                          </m:den>
                        </m:f>
                      </m:e>
                    </m:d>
                  </m:oMath>
                </a14:m>
                <a:endParaRPr lang="en-US" altLang="zh-CN" b="0" dirty="0"/>
              </a:p>
              <a:p>
                <a:endParaRPr lang="en-US" altLang="zh-CN" dirty="0"/>
              </a:p>
              <a:p>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3,16</m:t>
                          </m:r>
                        </m:sub>
                      </m:sSub>
                      <m:r>
                        <a:rPr lang="en-US" altLang="zh-CN" i="1">
                          <a:latin typeface="Cambria Math" panose="02040503050406030204" pitchFamily="18" charset="0"/>
                        </a:rPr>
                        <m:t>=80.2+</m:t>
                      </m:r>
                      <m:f>
                        <m:fPr>
                          <m:ctrlPr>
                            <a:rPr lang="en-US" altLang="zh-CN" i="1">
                              <a:latin typeface="Cambria Math" panose="02040503050406030204" pitchFamily="18" charset="0"/>
                            </a:rPr>
                          </m:ctrlPr>
                        </m:fPr>
                        <m:num>
                          <m:r>
                            <a:rPr lang="en-US" altLang="zh-CN" i="1">
                              <a:latin typeface="Cambria Math" panose="02040503050406030204" pitchFamily="18" charset="0"/>
                            </a:rPr>
                            <m:t>124</m:t>
                          </m:r>
                          <m:r>
                            <a:rPr lang="en-US" altLang="zh-CN" i="1">
                              <a:latin typeface="Cambria Math" panose="02040503050406030204" pitchFamily="18" charset="0"/>
                              <a:ea typeface="Cambria Math" panose="02040503050406030204" pitchFamily="18" charset="0"/>
                            </a:rPr>
                            <m:t>∙(</m:t>
                          </m:r>
                          <m:r>
                            <m:rPr>
                              <m:nor/>
                            </m:rPr>
                            <a:rPr lang="en-US" altLang="zh-CN"/>
                            <m:t>225.3+4445.7</m:t>
                          </m:r>
                          <m:r>
                            <a:rPr lang="en-US" altLang="zh-CN" i="1">
                              <a:latin typeface="Cambria Math" panose="02040503050406030204" pitchFamily="18" charset="0"/>
                            </a:rPr>
                            <m:t>)</m:t>
                          </m:r>
                        </m:num>
                        <m:den>
                          <m:r>
                            <a:rPr lang="en-US" altLang="zh-CN" i="1">
                              <a:latin typeface="Cambria Math" panose="02040503050406030204" pitchFamily="18" charset="0"/>
                            </a:rPr>
                            <m:t>124+</m:t>
                          </m:r>
                          <m:r>
                            <m:rPr>
                              <m:nor/>
                            </m:rPr>
                            <a:rPr lang="en-US" altLang="zh-CN"/>
                            <m:t>225.3+4445.7 </m:t>
                          </m:r>
                        </m:den>
                      </m:f>
                      <m:r>
                        <a:rPr lang="en-US" altLang="zh-CN" i="1">
                          <a:latin typeface="Cambria Math" panose="02040503050406030204" pitchFamily="18" charset="0"/>
                        </a:rPr>
                        <m:t>=200.99</m:t>
                      </m:r>
                    </m:oMath>
                  </m:oMathPara>
                </a14:m>
                <a:endParaRPr lang="en-US" altLang="zh-CN" dirty="0"/>
              </a:p>
              <a:p>
                <a:r>
                  <a:rPr lang="en-US" altLang="zh-CN" dirty="0" err="1"/>
                  <a:t>V</a:t>
                </a:r>
                <a:r>
                  <a:rPr lang="en-US" altLang="zh-CN" baseline="-25000" dirty="0" err="1"/>
                  <a:t>output</a:t>
                </a:r>
                <a:r>
                  <a:rPr lang="en-US" altLang="zh-CN" dirty="0"/>
                  <a:t>=200(</a:t>
                </a:r>
                <a:r>
                  <a:rPr lang="en-US" altLang="zh-CN" dirty="0" err="1"/>
                  <a:t>V</a:t>
                </a:r>
                <a:r>
                  <a:rPr lang="en-US" altLang="zh-CN" baseline="-25000" dirty="0" err="1"/>
                  <a:t>+input</a:t>
                </a:r>
                <a:r>
                  <a:rPr lang="en-US" altLang="zh-CN" dirty="0" err="1"/>
                  <a:t>-V</a:t>
                </a:r>
                <a:r>
                  <a:rPr lang="en-US" altLang="zh-CN" baseline="-25000" dirty="0" err="1"/>
                  <a:t>-input</a:t>
                </a:r>
                <a:r>
                  <a:rPr lang="en-US" altLang="zh-CN" dirty="0"/>
                  <a:t>)</a:t>
                </a:r>
                <a:endParaRPr lang="zh-CN" altLang="en-US" dirty="0"/>
              </a:p>
              <a:p>
                <a:endParaRPr lang="zh-CN" altLang="en-US" dirty="0"/>
              </a:p>
              <a:p>
                <a:endParaRPr lang="en-US" altLang="zh-CN" dirty="0"/>
              </a:p>
              <a:p>
                <a:endParaRPr lang="zh-CN" altLang="en-US" baseline="-25000" dirty="0"/>
              </a:p>
            </p:txBody>
          </p:sp>
        </mc:Choice>
        <mc:Fallback xmlns="">
          <p:sp>
            <p:nvSpPr>
              <p:cNvPr id="8" name="文本框 7">
                <a:extLst>
                  <a:ext uri="{FF2B5EF4-FFF2-40B4-BE49-F238E27FC236}">
                    <a16:creationId xmlns:a16="http://schemas.microsoft.com/office/drawing/2014/main" id="{B91C0219-2A3D-415A-8601-8C91AEF3B6B3}"/>
                  </a:ext>
                </a:extLst>
              </p:cNvPr>
              <p:cNvSpPr txBox="1">
                <a:spLocks noRot="1" noChangeAspect="1" noMove="1" noResize="1" noEditPoints="1" noAdjustHandles="1" noChangeArrowheads="1" noChangeShapeType="1" noTextEdit="1"/>
              </p:cNvSpPr>
              <p:nvPr/>
            </p:nvSpPr>
            <p:spPr>
              <a:xfrm>
                <a:off x="1676400" y="1828800"/>
                <a:ext cx="5474512" cy="3997569"/>
              </a:xfrm>
              <a:prstGeom prst="rect">
                <a:avLst/>
              </a:prstGeom>
              <a:blipFill>
                <a:blip r:embed="rId2"/>
                <a:stretch>
                  <a:fillRect l="-1114" t="-61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8831371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8"/>
  <p:tag name="MMPROD_UIDATA" val="&lt;database version=&quot;6.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quot;/&gt;&lt;property id=&quot;20307&quot; value=&quot;256&quot;/&gt;&lt;/object&gt;&lt;object type=&quot;3&quot; unique_id=&quot;10005&quot;&gt;&lt;property id=&quot;20148&quot; value=&quot;5&quot;/&gt;&lt;property id=&quot;20300&quot; value=&quot;Slide 2 - &amp;quot;This template file has been given to you for use in creating Lecture Outline PowerPoint files. Feel free to edit an&quot;/&gt;&lt;property id=&quot;20307&quot; value=&quot;319&quot;/&gt;&lt;/object&gt;&lt;object type=&quot;3&quot; unique_id=&quot;10006&quot;&gt;&lt;property id=&quot;20148&quot; value=&quot;5&quot;/&gt;&lt;property id=&quot;20300&quot; value=&quot;Slide 3 - &amp;quot;Important Specifications&amp;quot;&quot;/&gt;&lt;property id=&quot;20307&quot; value=&quot;320&quot;/&gt;&lt;/object&gt;&lt;object type=&quot;3&quot; unique_id=&quot;10007&quot;&gt;&lt;property id=&quot;20148&quot; value=&quot;5&quot;/&gt;&lt;property id=&quot;20300&quot; value=&quot;Slide 4 - &amp;quot;More Important Information…&amp;quot;&quot;/&gt;&lt;property id=&quot;20307&quot; value=&quot;317&quot;/&gt;&lt;/object&gt;&lt;object type=&quot;3&quot; unique_id=&quot;10008&quot;&gt;&lt;property id=&quot;20148&quot; value=&quot;5&quot;/&gt;&lt;property id=&quot;20300&quot; value=&quot;Slide 5 - &amp;quot;And now some image information…&amp;quot;&quot;/&gt;&lt;property id=&quot;20307&quot; value=&quot;257&quot;/&gt;&lt;/object&gt;&lt;object type=&quot;3&quot; unique_id=&quot;10009&quot;&gt;&lt;property id=&quot;20148&quot; value=&quot;5&quot;/&gt;&lt;property id=&quot;20300&quot; value=&quot;Slide 6 - &amp;quot;Other things you need to know…&amp;quot;&quot;/&gt;&lt;property id=&quot;20307&quot; value=&quot;318&quot;/&gt;&lt;/object&gt;&lt;object type=&quot;3&quot; unique_id=&quot;10010&quot;&gt;&lt;property id=&quot;20148&quot; value=&quot;5&quot;/&gt;&lt;property id=&quot;20300&quot; value=&quot;Slide 7 - &amp;quot;More…&amp;quot;&quot;/&gt;&lt;property id=&quot;20307&quot; value=&quot;329&quot;/&gt;&lt;/object&gt;&lt;object type=&quot;3&quot; unique_id=&quot;10011&quot;&gt;&lt;property id=&quot;20148&quot; value=&quot;5&quot;/&gt;&lt;property id=&quot;20300&quot; value=&quot;Slide 8&quot;/&gt;&lt;property id=&quot;20307&quot; value=&quot;321&quot;/&gt;&lt;/object&gt;&lt;object type=&quot;3&quot; unique_id=&quot;10012&quot;&gt;&lt;property id=&quot;20148&quot; value=&quot;5&quot;/&gt;&lt;property id=&quot;20300&quot; value=&quot;Slide 9&quot;/&gt;&lt;property id=&quot;20307&quot; value=&quot;265&quot;/&gt;&lt;/object&gt;&lt;object type=&quot;3&quot; unique_id=&quot;10013&quot;&gt;&lt;property id=&quot;20148&quot; value=&quot;5&quot;/&gt;&lt;property id=&quot;20300&quot; value=&quot;Slide 10&quot;/&gt;&lt;property id=&quot;20307&quot; value=&quot;327&quot;/&gt;&lt;/object&gt;&lt;object type=&quot;3&quot; unique_id=&quot;10014&quot;&gt;&lt;property id=&quot;20148&quot; value=&quot;5&quot;/&gt;&lt;property id=&quot;20300&quot; value=&quot;Slide 11 - &amp;quot;Sample of Text with Image&amp;quot;&quot;/&gt;&lt;property id=&quot;20307&quot; value=&quot;268&quot;/&gt;&lt;/object&gt;&lt;object type=&quot;3&quot; unique_id=&quot;10015&quot;&gt;&lt;property id=&quot;20148&quot; value=&quot;5&quot;/&gt;&lt;property id=&quot;20300&quot; value=&quot;Slide 12 - &amp;quot;Sample of same slide without image&amp;quot;&quot;/&gt;&lt;property id=&quot;20307&quot; value=&quot;328&quot;/&gt;&lt;/object&gt;&lt;object type=&quot;3&quot; unique_id=&quot;10016&quot;&gt;&lt;property id=&quot;20148&quot; value=&quot;5&quot;/&gt;&lt;property id=&quot;20300&quot; value=&quot;Slide 13 - &amp;quot;Fig. 1.12&amp;quot;&quot;/&gt;&lt;property id=&quot;20307&quot; value=&quot;300&quot;/&gt;&lt;/object&gt;&lt;object type=&quot;3&quot; unique_id=&quot;10017&quot;&gt;&lt;property id=&quot;20148&quot; value=&quot;5&quot;/&gt;&lt;property id=&quot;20300&quot; value=&quot;Slide 14&quot;/&gt;&lt;property id=&quot;20307&quot; value=&quot;315&quot;/&gt;&lt;/object&gt;&lt;object type=&quot;3&quot; unique_id=&quot;10018&quot;&gt;&lt;property id=&quot;20148&quot; value=&quot;5&quot;/&gt;&lt;property id=&quot;20300&quot; value=&quot;Slide 15&quot;/&gt;&lt;property id=&quot;20307&quot; value=&quot;322&quot;/&gt;&lt;/object&gt;&lt;object type=&quot;3&quot; unique_id=&quot;10019&quot;&gt;&lt;property id=&quot;20148&quot; value=&quot;5&quot;/&gt;&lt;property id=&quot;20300&quot; value=&quot;Slide 16 - &amp;quot;Sample of Bad Image Placement - These images should be placed on separate slides – as shown here, it’s very diffic&quot;/&gt;&lt;property id=&quot;20307&quot; value=&quot;323&quot;/&gt;&lt;/object&gt;&lt;object type=&quot;3&quot; unique_id=&quot;10020&quot;&gt;&lt;property id=&quot;20148&quot; value=&quot;5&quot;/&gt;&lt;property id=&quot;20300&quot; value=&quot;Slide 17 - &amp;quot;Sample of Bad Text with Image Placement&amp;quot;&quot;/&gt;&lt;property id=&quot;20307&quot; value=&quot;324&quot;/&gt;&lt;/object&gt;&lt;object type=&quot;3&quot; unique_id=&quot;10021&quot;&gt;&lt;property id=&quot;20148&quot; value=&quot;5&quot;/&gt;&lt;property id=&quot;20300&quot; value=&quot;Slide 18 - &amp;quot;Sample of Bad Image Placement&amp;quot;&quot;/&gt;&lt;property id=&quot;20307&quot; value=&quot;325&quot;/&gt;&lt;/object&gt;&lt;/object&gt;&lt;/object&gt;&lt;/database&gt;"/>
</p:tagLst>
</file>

<file path=ppt/theme/theme1.xml><?xml version="1.0" encoding="utf-8"?>
<a:theme xmlns:a="http://schemas.openxmlformats.org/drawingml/2006/main" name="上海科技大学模板">
  <a:themeElements>
    <a:clrScheme name="基本">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Custom 4">
      <a:majorFont>
        <a:latin typeface="Cambria"/>
        <a:ea typeface="汉仪中圆简"/>
        <a:cs typeface=""/>
      </a:majorFont>
      <a:minorFont>
        <a:latin typeface="Cambria"/>
        <a:ea typeface="汉仪中圆简"/>
        <a:cs typeface=""/>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w="25400">
          <a:solidFill>
            <a:srgbClr val="FFFF00"/>
          </a:solidFill>
          <a:tailEnd type="arrow"/>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Lec2-Concepts" id="{E7E5092E-E9DB-4D94-8F37-DF22B96769B3}" vid="{4E60D9F3-F355-418C-BDE2-01DFD993AD7F}"/>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Electric_Circuits_template</Template>
  <TotalTime>0</TotalTime>
  <Words>1650</Words>
  <Application>Microsoft Office PowerPoint</Application>
  <PresentationFormat>全屏显示(4:3)</PresentationFormat>
  <Paragraphs>304</Paragraphs>
  <Slides>41</Slides>
  <Notes>24</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41</vt:i4>
      </vt:variant>
    </vt:vector>
  </HeadingPairs>
  <TitlesOfParts>
    <vt:vector size="53" baseType="lpstr">
      <vt:lpstr>等线</vt:lpstr>
      <vt:lpstr>华文中宋</vt:lpstr>
      <vt:lpstr>Arial</vt:lpstr>
      <vt:lpstr>Calibri</vt:lpstr>
      <vt:lpstr>Cambria</vt:lpstr>
      <vt:lpstr>Cambria Math</vt:lpstr>
      <vt:lpstr>Symbol</vt:lpstr>
      <vt:lpstr>Times</vt:lpstr>
      <vt:lpstr>Times New Roman</vt:lpstr>
      <vt:lpstr>Wingdings</vt:lpstr>
      <vt:lpstr>上海科技大学模板</vt:lpstr>
      <vt:lpstr>Equation</vt:lpstr>
      <vt:lpstr>Chapter 5 - Operational Amplifiers</vt:lpstr>
      <vt:lpstr>Outline</vt:lpstr>
      <vt:lpstr>The Op Amp</vt:lpstr>
      <vt:lpstr>Op Amp Terminals</vt:lpstr>
      <vt:lpstr>Output Voltage</vt:lpstr>
      <vt:lpstr> uA741 Functional Block Diagram</vt:lpstr>
      <vt:lpstr>Equivalent Circuit of an Op Amp</vt:lpstr>
      <vt:lpstr>Voltage Saturation</vt:lpstr>
      <vt:lpstr>Example 1</vt:lpstr>
      <vt:lpstr>Feedback</vt:lpstr>
      <vt:lpstr>Example 2</vt:lpstr>
      <vt:lpstr>Example 2 (solution)</vt:lpstr>
      <vt:lpstr>Attributes of an Ideal Op Amp</vt:lpstr>
      <vt:lpstr>Ideal Op-Amp Analysis</vt:lpstr>
      <vt:lpstr>Example 3</vt:lpstr>
      <vt:lpstr>Outline</vt:lpstr>
      <vt:lpstr>Inverting Amplifier</vt:lpstr>
      <vt:lpstr>Non-inverting Amplifier</vt:lpstr>
      <vt:lpstr>Application: Voltage Follower</vt:lpstr>
      <vt:lpstr>Practice 1</vt:lpstr>
      <vt:lpstr>Practice 2</vt:lpstr>
      <vt:lpstr>Summing Amplifier</vt:lpstr>
      <vt:lpstr>Practice</vt:lpstr>
      <vt:lpstr>PowerPoint 演示文稿</vt:lpstr>
      <vt:lpstr>PowerPoint 演示文稿</vt:lpstr>
      <vt:lpstr>Ideal Op-Amp Analysis</vt:lpstr>
      <vt:lpstr>Difference Amplifier</vt:lpstr>
      <vt:lpstr>Difference Amplifier (solution)</vt:lpstr>
      <vt:lpstr>Differentiator</vt:lpstr>
      <vt:lpstr>Integrator</vt:lpstr>
      <vt:lpstr>Practice 3</vt:lpstr>
      <vt:lpstr>Practice 4</vt:lpstr>
      <vt:lpstr>Practice 4 (solution)</vt:lpstr>
      <vt:lpstr>Application - DAC</vt:lpstr>
      <vt:lpstr>Binary representation</vt:lpstr>
      <vt:lpstr>DAC</vt:lpstr>
      <vt:lpstr>DAC</vt:lpstr>
      <vt:lpstr>Instrumentation Amplifier</vt:lpstr>
      <vt:lpstr>Instrumentation Amplifier</vt:lpstr>
      <vt:lpstr>Instrumentation Amplifier (practice 5)</vt:lpstr>
      <vt:lpstr>practice 5 solution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2012-05-11T15:57:42Z</dcterms:created>
  <dcterms:modified xsi:type="dcterms:W3CDTF">2025-11-07T10:48:37Z</dcterms:modified>
</cp:coreProperties>
</file>