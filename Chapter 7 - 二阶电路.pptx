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2" r:id="rId1"/>
  </p:sldMasterIdLst>
  <p:notesMasterIdLst>
    <p:notesMasterId r:id="rId60"/>
  </p:notesMasterIdLst>
  <p:handoutMasterIdLst>
    <p:handoutMasterId r:id="rId61"/>
  </p:handoutMasterIdLst>
  <p:sldIdLst>
    <p:sldId id="382" r:id="rId2"/>
    <p:sldId id="576" r:id="rId3"/>
    <p:sldId id="350" r:id="rId4"/>
    <p:sldId id="577" r:id="rId5"/>
    <p:sldId id="574" r:id="rId6"/>
    <p:sldId id="573" r:id="rId7"/>
    <p:sldId id="575" r:id="rId8"/>
    <p:sldId id="504" r:id="rId9"/>
    <p:sldId id="258" r:id="rId10"/>
    <p:sldId id="505" r:id="rId11"/>
    <p:sldId id="503" r:id="rId12"/>
    <p:sldId id="506" r:id="rId13"/>
    <p:sldId id="453" r:id="rId14"/>
    <p:sldId id="513" r:id="rId15"/>
    <p:sldId id="439" r:id="rId16"/>
    <p:sldId id="507" r:id="rId17"/>
    <p:sldId id="519" r:id="rId18"/>
    <p:sldId id="520" r:id="rId19"/>
    <p:sldId id="509" r:id="rId20"/>
    <p:sldId id="547" r:id="rId21"/>
    <p:sldId id="548" r:id="rId22"/>
    <p:sldId id="549" r:id="rId23"/>
    <p:sldId id="579" r:id="rId24"/>
    <p:sldId id="578" r:id="rId25"/>
    <p:sldId id="580" r:id="rId26"/>
    <p:sldId id="589" r:id="rId27"/>
    <p:sldId id="583" r:id="rId28"/>
    <p:sldId id="518" r:id="rId29"/>
    <p:sldId id="591" r:id="rId30"/>
    <p:sldId id="528" r:id="rId31"/>
    <p:sldId id="582" r:id="rId32"/>
    <p:sldId id="584" r:id="rId33"/>
    <p:sldId id="585" r:id="rId34"/>
    <p:sldId id="586" r:id="rId35"/>
    <p:sldId id="587" r:id="rId36"/>
    <p:sldId id="517" r:id="rId37"/>
    <p:sldId id="531" r:id="rId38"/>
    <p:sldId id="447" r:id="rId39"/>
    <p:sldId id="552" r:id="rId40"/>
    <p:sldId id="588" r:id="rId41"/>
    <p:sldId id="593" r:id="rId42"/>
    <p:sldId id="594" r:id="rId43"/>
    <p:sldId id="595" r:id="rId44"/>
    <p:sldId id="478" r:id="rId45"/>
    <p:sldId id="596" r:id="rId46"/>
    <p:sldId id="561" r:id="rId47"/>
    <p:sldId id="479" r:id="rId48"/>
    <p:sldId id="480" r:id="rId49"/>
    <p:sldId id="481" r:id="rId50"/>
    <p:sldId id="597" r:id="rId51"/>
    <p:sldId id="474" r:id="rId52"/>
    <p:sldId id="526" r:id="rId53"/>
    <p:sldId id="525" r:id="rId54"/>
    <p:sldId id="598" r:id="rId55"/>
    <p:sldId id="562" r:id="rId56"/>
    <p:sldId id="566" r:id="rId57"/>
    <p:sldId id="564" r:id="rId58"/>
    <p:sldId id="568" r:id="rId59"/>
  </p:sldIdLst>
  <p:sldSz cx="9144000" cy="6858000" type="screen4x3"/>
  <p:notesSz cx="6797675" cy="9926638"/>
  <p:custDataLst>
    <p:tags r:id="rId6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汉仪中圆简"/>
        <a:cs typeface="汉仪中圆简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BF7E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4" autoAdjust="0"/>
    <p:restoredTop sz="79122" autoAdjust="0"/>
  </p:normalViewPr>
  <p:slideViewPr>
    <p:cSldViewPr>
      <p:cViewPr varScale="1">
        <p:scale>
          <a:sx n="110" d="100"/>
          <a:sy n="110" d="100"/>
        </p:scale>
        <p:origin x="17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0758"/>
    </p:cViewPr>
  </p:sorterViewPr>
  <p:notesViewPr>
    <p:cSldViewPr>
      <p:cViewPr varScale="1">
        <p:scale>
          <a:sx n="83" d="100"/>
          <a:sy n="83" d="100"/>
        </p:scale>
        <p:origin x="-2118" y="-9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5" y="1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585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5" y="9428585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ea typeface="+mn-ea"/>
                <a:cs typeface="+mn-cs"/>
              </a:defRPr>
            </a:lvl1pPr>
          </a:lstStyle>
          <a:p>
            <a:pPr>
              <a:defRPr/>
            </a:pPr>
            <a:fld id="{EDA2214E-817F-452C-A335-7E89AE7F78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43690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5" y="1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7713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4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585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5" y="9428585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50" tIns="47775" rIns="95550" bIns="4777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ea typeface="+mn-ea"/>
                <a:cs typeface="+mn-cs"/>
              </a:defRPr>
            </a:lvl1pPr>
          </a:lstStyle>
          <a:p>
            <a:pPr>
              <a:defRPr/>
            </a:pPr>
            <a:fld id="{CD0D2647-5063-4EC0-82A5-AA31739031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0131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D47DB8-79A9-459B-818D-7B86DA592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7474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303B72-4608-494B-AA60-E218D12C1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581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303B72-4608-494B-AA60-E218D12C1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496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303B72-4608-494B-AA60-E218D12C1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210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R is in the denominator instead of in the numerator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6B55D7-6FDB-4748-A3F5-AFDB5A6D5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2082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767A09-D3C6-4EC4-B70D-4837024E6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9357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BB14A1-E3F9-4BDF-B162-40480A153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3385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7DF163-5566-4B73-B24B-BBB4C5D24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327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0467FB-036E-45D6-8276-A5B62BEB3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264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873C4E-5D4C-4C27-93CF-057D8ED60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7531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A41C2C2-35ED-4780-B7A8-AB6CEAB00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177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60D4A7-C9AC-429E-9DD5-29A3E71E8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795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8145B1-129C-4431-AA14-D9640178F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7961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8145B1-129C-4431-AA14-D9640178F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557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8145B1-129C-4431-AA14-D9640178F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710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303B72-4608-494B-AA60-E218D12C1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6905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An attenuation of </a:t>
            </a:r>
            <a:r>
              <a:rPr lang="en-US" altLang="zh-CN" i="1" dirty="0"/>
              <a:t>one </a:t>
            </a:r>
            <a:r>
              <a:rPr lang="en-US" altLang="zh-CN" i="1" dirty="0" err="1"/>
              <a:t>neper</a:t>
            </a:r>
            <a:r>
              <a:rPr lang="en-US" altLang="zh-CN" dirty="0"/>
              <a:t> corresponds to a decrease in voltage or current of e = </a:t>
            </a:r>
            <a:r>
              <a:rPr lang="en-US" altLang="zh-CN" i="1" dirty="0"/>
              <a:t>2.718</a:t>
            </a:r>
            <a:r>
              <a:rPr lang="en-US" altLang="zh-CN" dirty="0"/>
              <a:t> times 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283814-4676-440E-AADA-E846F4748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674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303B72-4608-494B-AA60-E218D12C1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7220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An attenuation of </a:t>
            </a:r>
            <a:r>
              <a:rPr lang="en-US" altLang="zh-CN" i="1" dirty="0"/>
              <a:t>one </a:t>
            </a:r>
            <a:r>
              <a:rPr lang="en-US" altLang="zh-CN" i="1" dirty="0" err="1"/>
              <a:t>neper</a:t>
            </a:r>
            <a:r>
              <a:rPr lang="en-US" altLang="zh-CN" dirty="0"/>
              <a:t> corresponds to a decrease in voltage or current of e = </a:t>
            </a:r>
            <a:r>
              <a:rPr lang="en-US" altLang="zh-CN" i="1" dirty="0"/>
              <a:t>2.718</a:t>
            </a:r>
            <a:r>
              <a:rPr lang="en-US" altLang="zh-CN" dirty="0"/>
              <a:t> times 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283814-4676-440E-AADA-E846F4748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6809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R is in the denominator instead of in the numerator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6B55D7-6FDB-4748-A3F5-AFDB5A6D5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31687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transient response, we set the constant term to 0, meaning we should remove voltage sources (replace by short circuit) and current sources (replace by open circuit).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69DE70-753B-4312-B29B-3683FA04C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60627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600A43-67D7-49EB-AB51-4F282D310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4700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600A43-67D7-49EB-AB51-4F282D310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3628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600A43-67D7-49EB-AB51-4F282D310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48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600A43-67D7-49EB-AB51-4F282D310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D2647-5063-4EC0-82A5-AA3173903157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040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gradFill>
            <a:gsLst>
              <a:gs pos="0">
                <a:srgbClr val="DDDDDD">
                  <a:alpha val="37000"/>
                </a:srgbClr>
              </a:gs>
              <a:gs pos="100000">
                <a:srgbClr val="DDDDDD">
                  <a:gamma/>
                  <a:shade val="87843"/>
                  <a:invGamma/>
                  <a:alpha val="33000"/>
                </a:srgbClr>
              </a:gs>
            </a:gsLst>
            <a:lin ang="5400000" scaled="1"/>
          </a:gradFill>
        </p:spPr>
        <p:txBody>
          <a:bodyPr/>
          <a:lstStyle>
            <a:lvl1pPr algn="ctr">
              <a:defRPr b="1"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noFill/>
        </p:spPr>
        <p:txBody>
          <a:bodyPr/>
          <a:lstStyle>
            <a:lvl1pPr marL="0" indent="0" algn="ctr">
              <a:buNone/>
              <a:defRPr b="1">
                <a:solidFill>
                  <a:srgbClr val="FFC00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48425"/>
            <a:ext cx="21336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59113" y="6448425"/>
            <a:ext cx="3168650" cy="365125"/>
          </a:xfrm>
          <a:prstGeom prst="rect">
            <a:avLst/>
          </a:prstGeom>
        </p:spPr>
        <p:txBody>
          <a:bodyPr/>
          <a:lstStyle>
            <a:lvl1pPr algn="l" eaLnBrk="1" hangingPunct="1">
              <a:defRPr>
                <a:solidFill>
                  <a:srgbClr val="DDDDDD"/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r>
              <a:rPr lang="en-US"/>
              <a:t>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4025" y="644842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7E0DB-0F2A-42FA-8471-924FBC73E2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196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ST-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609600"/>
          </a:xfrm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>
            <a:lvl1pPr marL="174625" indent="-174625">
              <a:buSzPct val="70000"/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5138" indent="-174625"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2950" indent="-277813"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22413" indent="-144463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848600" y="6597650"/>
            <a:ext cx="838200" cy="260350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DEF3F0DB-B53F-47F0-9FB1-6E97276473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37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2400"/>
            <a:ext cx="8229600" cy="4902200"/>
          </a:xfrm>
        </p:spPr>
        <p:txBody>
          <a:bodyPr/>
          <a:lstStyle>
            <a:lvl1pPr marL="174625" indent="-174625">
              <a:buSzPct val="70000"/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5138" indent="-174625"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2950" indent="-277813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7696200" y="6448425"/>
            <a:ext cx="990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9D541-BE44-4A39-B962-5C6112452A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047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8229600" cy="26844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751263"/>
            <a:ext cx="8229600" cy="268446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73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38600" cy="26844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751263"/>
            <a:ext cx="4038600" cy="268446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914400"/>
            <a:ext cx="4038600" cy="552132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580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4038600" cy="552132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14400"/>
            <a:ext cx="4038600" cy="26844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51263"/>
            <a:ext cx="4038600" cy="268446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47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B205FE-613F-4F7D-A409-BCD9DB01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F4A8-D2BC-4522-97F5-634025FECD8D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7C464D-4A3F-4EBB-8796-434CFF7D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F1F72E-7162-47D9-B6BC-F9480378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EE3D-9CB3-427B-805F-C9E05F621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10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5334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422400"/>
            <a:ext cx="822960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484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mbria" panose="02040503050406030204" pitchFamily="18" charset="0"/>
                <a:ea typeface="汉仪中圆简" charset="-122"/>
                <a:cs typeface="+mn-cs"/>
              </a:defRPr>
            </a:lvl1pPr>
          </a:lstStyle>
          <a:p>
            <a:pPr>
              <a:defRPr/>
            </a:pPr>
            <a:fld id="{AC5266F0-915A-4357-829F-9AAA23FB6C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kumimoji="0" lang="en-US" altLang="en-US">
              <a:latin typeface="Cambria" panose="02040503050406030204" pitchFamily="18" charset="0"/>
              <a:ea typeface="汉仪中圆简" charset="-122"/>
              <a:cs typeface="+mn-cs"/>
            </a:endParaRP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328613" y="1219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1000">
                <a:latin typeface="Calibri" panose="020F0502020204030204" pitchFamily="34" charset="0"/>
                <a:cs typeface="+mn-cs"/>
              </a:rPr>
              <a:t>  </a:t>
            </a:r>
            <a:endParaRPr kumimoji="0" lang="en-US" altLang="zh-TW">
              <a:cs typeface="Arial" panose="020B0604020202020204" pitchFamily="34" charset="0"/>
            </a:endParaRPr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400050" y="2114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1000">
                <a:latin typeface="Calibri" panose="020F0502020204030204" pitchFamily="34" charset="0"/>
                <a:cs typeface="+mn-cs"/>
              </a:rPr>
              <a:t>  </a:t>
            </a:r>
            <a:endParaRPr kumimoji="0" lang="en-US" altLang="zh-TW">
              <a:cs typeface="Arial" panose="020B0604020202020204" pitchFamily="34" charset="0"/>
            </a:endParaRPr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400050" y="29241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1000">
                <a:latin typeface="Calibri" panose="020F0502020204030204" pitchFamily="34" charset="0"/>
                <a:ea typeface="PMingLiU" panose="02020500000000000000" pitchFamily="18" charset="-120"/>
                <a:cs typeface="+mn-cs"/>
              </a:rPr>
              <a:t>  </a:t>
            </a:r>
            <a:endParaRPr kumimoji="0" lang="en-US" altLang="zh-TW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400050" y="3733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kumimoji="0" lang="en-US" altLang="en-US">
              <a:ea typeface="汉仪中圆简" charset="-122"/>
              <a:cs typeface="Arial" panose="020B0604020202020204" pitchFamily="34" charset="0"/>
            </a:endParaRPr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27788"/>
            <a:ext cx="2133600" cy="365125"/>
          </a:xfrm>
          <a:prstGeom prst="rect">
            <a:avLst/>
          </a:prstGeom>
        </p:spPr>
        <p:txBody>
          <a:bodyPr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84" name="文本框 3"/>
          <p:cNvSpPr txBox="1">
            <a:spLocks noChangeArrowheads="1"/>
          </p:cNvSpPr>
          <p:nvPr/>
        </p:nvSpPr>
        <p:spPr bwMode="auto">
          <a:xfrm>
            <a:off x="3370984" y="149423"/>
            <a:ext cx="24449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dirty="0">
                <a:cs typeface="Arial" panose="020B0604020202020204" pitchFamily="34" charset="0"/>
              </a:rPr>
              <a:t>生物医学电子学 </a:t>
            </a:r>
            <a:r>
              <a:rPr lang="en-US" altLang="zh-CN" sz="1400" dirty="0">
                <a:cs typeface="Arial" panose="020B0604020202020204" pitchFamily="34" charset="0"/>
              </a:rPr>
              <a:t>I (Fall</a:t>
            </a:r>
            <a:r>
              <a:rPr lang="zh-CN" altLang="en-US" sz="1400" dirty="0">
                <a:cs typeface="Arial" panose="020B0604020202020204" pitchFamily="34" charset="0"/>
              </a:rPr>
              <a:t> </a:t>
            </a:r>
            <a:r>
              <a:rPr lang="en-US" altLang="zh-CN" sz="1400" dirty="0">
                <a:cs typeface="Arial" panose="020B0604020202020204" pitchFamily="34" charset="0"/>
              </a:rPr>
              <a:t>2025)</a:t>
            </a:r>
            <a:endParaRPr lang="zh-CN" altLang="en-US" sz="1400" dirty="0">
              <a:cs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0" y="533400"/>
            <a:ext cx="9144000" cy="0"/>
          </a:xfrm>
          <a:prstGeom prst="line">
            <a:avLst/>
          </a:prstGeom>
          <a:ln w="28575" cmpd="sng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" descr="图形1">
            <a:extLst>
              <a:ext uri="{FF2B5EF4-FFF2-40B4-BE49-F238E27FC236}">
                <a16:creationId xmlns:a16="http://schemas.microsoft.com/office/drawing/2014/main" id="{D5181F7F-5EA4-46C4-8C3E-6EF4BE1909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4763"/>
            <a:ext cx="19431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rgbClr val="FF0000"/>
          </a:solidFill>
          <a:latin typeface="Arial"/>
          <a:ea typeface="+mj-ea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Arial" panose="020B0604020202020204" pitchFamily="34" charset="0"/>
          <a:ea typeface="汉仪中圆简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Arial" panose="020B0604020202020204" pitchFamily="34" charset="0"/>
          <a:ea typeface="汉仪中圆简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Arial" panose="020B0604020202020204" pitchFamily="34" charset="0"/>
          <a:ea typeface="汉仪中圆简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FF0000"/>
          </a:solidFill>
          <a:latin typeface="Arial" panose="020B0604020202020204" pitchFamily="34" charset="0"/>
          <a:ea typeface="汉仪中圆简"/>
          <a:cs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mbria" pitchFamily="18" charset="0"/>
          <a:ea typeface="汉仪中圆简"/>
          <a:cs typeface="汉仪中圆简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mbria" pitchFamily="18" charset="0"/>
          <a:ea typeface="汉仪中圆简"/>
          <a:cs typeface="汉仪中圆简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mbria" pitchFamily="18" charset="0"/>
          <a:ea typeface="汉仪中圆简"/>
          <a:cs typeface="汉仪中圆简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mbria" pitchFamily="18" charset="0"/>
          <a:ea typeface="汉仪中圆简"/>
          <a:cs typeface="汉仪中圆简"/>
        </a:defRPr>
      </a:lvl9pPr>
    </p:titleStyle>
    <p:bodyStyle>
      <a:lvl1pPr marL="225425" indent="-225425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Cambria" panose="02040503050406030204" pitchFamily="18" charset="0"/>
        <a:buChar char="•"/>
        <a:defRPr kumimoji="1"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69913" indent="-225425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Wingdings" panose="05000000000000000000" pitchFamily="2" charset="2"/>
        <a:buChar char="§"/>
        <a:defRPr kumimoji="1" sz="2200" kern="1200">
          <a:solidFill>
            <a:schemeClr val="tx1"/>
          </a:solidFill>
          <a:latin typeface="+mn-lt"/>
          <a:ea typeface="+mn-ea"/>
          <a:cs typeface="汉仪中圆简"/>
        </a:defRPr>
      </a:lvl2pPr>
      <a:lvl3pPr marL="742950" indent="-17145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华文中宋" panose="02010600040101010101" pitchFamily="2" charset="-122"/>
        <a:buChar char="–"/>
        <a:defRPr kumimoji="1" sz="2000" kern="1200">
          <a:solidFill>
            <a:schemeClr val="tx1"/>
          </a:solidFill>
          <a:latin typeface="+mn-lt"/>
          <a:ea typeface="+mn-ea"/>
          <a:cs typeface="汉仪中圆简"/>
        </a:defRPr>
      </a:lvl3pPr>
      <a:lvl4pPr marL="1258888" indent="-17145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kumimoji="1" kern="1200">
          <a:solidFill>
            <a:schemeClr val="tx1"/>
          </a:solidFill>
          <a:latin typeface="+mn-lt"/>
          <a:ea typeface="+mn-ea"/>
          <a:cs typeface="汉仪中圆简"/>
        </a:defRPr>
      </a:lvl4pPr>
      <a:lvl5pPr marL="1603375" indent="-225425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汉仪中圆简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01.png"/><Relationship Id="rId4" Type="http://schemas.openxmlformats.org/officeDocument/2006/relationships/image" Target="../media/image1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0.png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tiff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57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72.png"/><Relationship Id="rId4" Type="http://schemas.openxmlformats.org/officeDocument/2006/relationships/image" Target="../media/image8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tif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88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0.png"/><Relationship Id="rId5" Type="http://schemas.openxmlformats.org/officeDocument/2006/relationships/image" Target="../media/image860.png"/><Relationship Id="rId4" Type="http://schemas.openxmlformats.org/officeDocument/2006/relationships/image" Target="../media/image85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2.tif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08.png"/><Relationship Id="rId10" Type="http://schemas.openxmlformats.org/officeDocument/2006/relationships/image" Target="../media/image106.png"/><Relationship Id="rId4" Type="http://schemas.openxmlformats.org/officeDocument/2006/relationships/image" Target="../media/image103.png"/><Relationship Id="rId9" Type="http://schemas.openxmlformats.org/officeDocument/2006/relationships/image" Target="../media/image10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95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image" Target="../media/image102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tiff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1130.png"/><Relationship Id="rId3" Type="http://schemas.openxmlformats.org/officeDocument/2006/relationships/image" Target="../media/image1090.png"/><Relationship Id="rId7" Type="http://schemas.openxmlformats.org/officeDocument/2006/relationships/image" Target="../media/image671.png"/><Relationship Id="rId12" Type="http://schemas.openxmlformats.org/officeDocument/2006/relationships/image" Target="../media/image7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2.png"/><Relationship Id="rId11" Type="http://schemas.openxmlformats.org/officeDocument/2006/relationships/image" Target="../media/image700.png"/><Relationship Id="rId5" Type="http://schemas.openxmlformats.org/officeDocument/2006/relationships/image" Target="../media/image111.png"/><Relationship Id="rId10" Type="http://schemas.openxmlformats.org/officeDocument/2006/relationships/image" Target="../media/image690.png"/><Relationship Id="rId4" Type="http://schemas.openxmlformats.org/officeDocument/2006/relationships/image" Target="../media/image103.jpeg"/><Relationship Id="rId9" Type="http://schemas.openxmlformats.org/officeDocument/2006/relationships/image" Target="../media/image68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70.png"/><Relationship Id="rId5" Type="http://schemas.openxmlformats.org/officeDocument/2006/relationships/image" Target="../media/image1160.png"/><Relationship Id="rId4" Type="http://schemas.openxmlformats.org/officeDocument/2006/relationships/image" Target="../media/image115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0.png"/><Relationship Id="rId3" Type="http://schemas.openxmlformats.org/officeDocument/2006/relationships/image" Target="../media/image114.jpeg"/><Relationship Id="rId7" Type="http://schemas.openxmlformats.org/officeDocument/2006/relationships/image" Target="../media/image11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10.png"/><Relationship Id="rId4" Type="http://schemas.openxmlformats.org/officeDocument/2006/relationships/image" Target="../media/image121.png"/><Relationship Id="rId9" Type="http://schemas.openxmlformats.org/officeDocument/2006/relationships/image" Target="../media/image118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10.png"/><Relationship Id="rId4" Type="http://schemas.openxmlformats.org/officeDocument/2006/relationships/image" Target="../media/image120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2" Type="http://schemas.openxmlformats.org/officeDocument/2006/relationships/image" Target="../media/image12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70.png"/><Relationship Id="rId4" Type="http://schemas.openxmlformats.org/officeDocument/2006/relationships/image" Target="../media/image12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6"/>
          <p:cNvSpPr>
            <a:spLocks noGrp="1" noChangeArrowheads="1"/>
          </p:cNvSpPr>
          <p:nvPr>
            <p:ph type="title"/>
          </p:nvPr>
        </p:nvSpPr>
        <p:spPr>
          <a:xfrm>
            <a:off x="457200" y="1981200"/>
            <a:ext cx="8153400" cy="1676400"/>
          </a:xfrm>
        </p:spPr>
        <p:txBody>
          <a:bodyPr/>
          <a:lstStyle/>
          <a:p>
            <a:pPr algn="ctr" eaLnBrk="1" hangingPunct="1"/>
            <a:r>
              <a:rPr lang="en-US" altLang="zh-CN" sz="4000" dirty="0">
                <a:ea typeface="宋体" panose="02010600030101010101" pitchFamily="2" charset="-122"/>
              </a:rPr>
              <a:t>Chapter 7</a:t>
            </a:r>
            <a:br>
              <a:rPr lang="en-US" altLang="zh-CN" sz="4000" dirty="0">
                <a:ea typeface="宋体" panose="02010600030101010101" pitchFamily="2" charset="-122"/>
              </a:rPr>
            </a:br>
            <a:r>
              <a:rPr lang="en-US" altLang="zh-CN" sz="4000" dirty="0">
                <a:ea typeface="宋体" panose="02010600030101010101" pitchFamily="2" charset="-122"/>
              </a:rPr>
              <a:t>- </a:t>
            </a:r>
            <a:r>
              <a:rPr lang="en-US" altLang="zh-CN" sz="3200" dirty="0">
                <a:ea typeface="宋体" panose="02010600030101010101" pitchFamily="2" charset="-122"/>
              </a:rPr>
              <a:t>Second-Order Circuits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0245" name="幻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汉仪中圆简"/>
                <a:cs typeface="汉仪中圆简"/>
              </a:defRPr>
            </a:lvl9pPr>
          </a:lstStyle>
          <a:p>
            <a:fld id="{700D5F4C-217C-4BF5-9A41-3A21599DC4CD}" type="slidenum">
              <a:rPr lang="en-US" altLang="zh-CN" sz="1200" smtClean="0">
                <a:solidFill>
                  <a:srgbClr val="898989"/>
                </a:solidFill>
                <a:latin typeface="Cambria" panose="02040503050406030204" pitchFamily="18" charset="0"/>
              </a:rPr>
              <a:pPr/>
              <a:t>1</a:t>
            </a:fld>
            <a:endParaRPr lang="en-US" altLang="zh-CN" sz="1200">
              <a:solidFill>
                <a:srgbClr val="898989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2400"/>
            <a:ext cx="7924800" cy="4902200"/>
          </a:xfrm>
        </p:spPr>
        <p:txBody>
          <a:bodyPr/>
          <a:lstStyle/>
          <a:p>
            <a:r>
              <a:rPr lang="zh-CN" altLang="en-US" dirty="0"/>
              <a:t>二阶电路的结构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二阶电路的方程形式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二阶电路的初态和终态求解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二阶电路响应的求解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实际二阶电路分析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564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Second-Order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5105400" cy="4902200"/>
          </a:xfrm>
        </p:spPr>
        <p:txBody>
          <a:bodyPr/>
          <a:lstStyle/>
          <a:p>
            <a:r>
              <a:rPr lang="en-US" altLang="zh-CN" dirty="0"/>
              <a:t>Two </a:t>
            </a:r>
            <a:r>
              <a:rPr lang="en-US" altLang="zh-CN" i="1" dirty="0"/>
              <a:t>independent</a:t>
            </a:r>
            <a:r>
              <a:rPr lang="en-US" altLang="zh-CN" dirty="0"/>
              <a:t> energy storage elements</a:t>
            </a:r>
          </a:p>
          <a:p>
            <a:r>
              <a:rPr lang="en-US" altLang="zh-CN" dirty="0"/>
              <a:t>Independent: The voltage/current of one element cannot be inferred from that of the other element.</a:t>
            </a:r>
          </a:p>
          <a:p>
            <a:r>
              <a:rPr lang="en-US" altLang="zh-CN" dirty="0"/>
              <a:t>The voltage/current can be described by a second order differential equation.</a:t>
            </a:r>
            <a:endParaRPr lang="zh-CN" altLang="en-US" dirty="0"/>
          </a:p>
        </p:txBody>
      </p:sp>
      <p:pic>
        <p:nvPicPr>
          <p:cNvPr id="6" name="Picture 5" descr="6-3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685800"/>
            <a:ext cx="3602509" cy="58209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C2AC7F8E-A30C-42D6-91E7-D30723AC8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4533900"/>
            <a:ext cx="3067050" cy="2324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Second-Order Circuits</a:t>
            </a:r>
          </a:p>
        </p:txBody>
      </p:sp>
      <p:pic>
        <p:nvPicPr>
          <p:cNvPr id="6" name="Picture 5" descr="6-3.tif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63" b="24074"/>
          <a:stretch/>
        </p:blipFill>
        <p:spPr>
          <a:xfrm>
            <a:off x="685800" y="1447800"/>
            <a:ext cx="3602509" cy="1371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116430D-9D4C-44BD-9845-AFF28AEDF0B5}"/>
                  </a:ext>
                </a:extLst>
              </p:cNvPr>
              <p:cNvSpPr txBox="1"/>
              <p:nvPr/>
            </p:nvSpPr>
            <p:spPr>
              <a:xfrm>
                <a:off x="303118" y="3962400"/>
                <a:ext cx="7970379" cy="33901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dirty="0"/>
                  <a:t>To obtain the equation for the current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, rewrite (1) as</a:t>
                </a:r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       (3)</a:t>
                </a:r>
              </a:p>
              <a:p>
                <a:r>
                  <a:rPr lang="en-US" altLang="zh-CN" dirty="0"/>
                  <a:t>Plug (3) into (2), we have 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𝐶𝑅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𝐶𝐿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  </a:t>
                </a:r>
                <a:r>
                  <a:rPr lang="en-US" altLang="zh-CN" dirty="0">
                    <a:sym typeface="Wingdings" panose="05000000000000000000" pitchFamily="2" charset="2"/>
                  </a:rPr>
                  <a:t>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𝐿𝐶</m:t>
                    </m:r>
                  </m:oMath>
                </a14:m>
                <a:r>
                  <a:rPr lang="en-US" altLang="zh-CN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𝑅𝐶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, i.e.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follows the same equation as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dirty="0"/>
                  <a:t>, except for the constant term.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   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116430D-9D4C-44BD-9845-AFF28AEDF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18" y="3962400"/>
                <a:ext cx="7970379" cy="3390159"/>
              </a:xfrm>
              <a:prstGeom prst="rect">
                <a:avLst/>
              </a:prstGeom>
              <a:blipFill>
                <a:blip r:embed="rId4"/>
                <a:stretch>
                  <a:fillRect l="-1989" t="-2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A551D3C-67FB-4FCF-972F-ABCE7614E3EA}"/>
                  </a:ext>
                </a:extLst>
              </p:cNvPr>
              <p:cNvSpPr/>
              <p:nvPr/>
            </p:nvSpPr>
            <p:spPr>
              <a:xfrm>
                <a:off x="4855693" y="1281926"/>
                <a:ext cx="3450107" cy="279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𝑅𝑖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dirty="0"/>
                  <a:t>     (1)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                     (2)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Plug (2) into (1), we have </a:t>
                </a:r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𝐿𝐶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A551D3C-67FB-4FCF-972F-ABCE7614E3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693" y="1281926"/>
                <a:ext cx="3450107" cy="2798908"/>
              </a:xfrm>
              <a:prstGeom prst="rect">
                <a:avLst/>
              </a:prstGeom>
              <a:blipFill>
                <a:blip r:embed="rId5"/>
                <a:stretch>
                  <a:fillRect l="-1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CC124007-BB73-4D0C-A520-768C294744F6}"/>
              </a:ext>
            </a:extLst>
          </p:cNvPr>
          <p:cNvSpPr txBox="1"/>
          <p:nvPr/>
        </p:nvSpPr>
        <p:spPr>
          <a:xfrm>
            <a:off x="3810000" y="1827672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B8B6F3-D9B4-478E-BE53-215DFF559AAA}"/>
              </a:ext>
            </a:extLst>
          </p:cNvPr>
          <p:cNvSpPr txBox="1"/>
          <p:nvPr/>
        </p:nvSpPr>
        <p:spPr>
          <a:xfrm>
            <a:off x="3842060" y="2142995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8B1368E-2367-4780-A41A-896A7A900C4F}"/>
                  </a:ext>
                </a:extLst>
              </p:cNvPr>
              <p:cNvSpPr/>
              <p:nvPr/>
            </p:nvSpPr>
            <p:spPr>
              <a:xfrm>
                <a:off x="3947955" y="1985334"/>
                <a:ext cx="42364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8B1368E-2367-4780-A41A-896A7A900C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955" y="1985334"/>
                <a:ext cx="42364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B06A267-F928-4467-937D-E2E8A0BA0B9A}"/>
              </a:ext>
            </a:extLst>
          </p:cNvPr>
          <p:cNvCxnSpPr>
            <a:cxnSpLocks/>
          </p:cNvCxnSpPr>
          <p:nvPr/>
        </p:nvCxnSpPr>
        <p:spPr>
          <a:xfrm>
            <a:off x="2819400" y="2057400"/>
            <a:ext cx="468000" cy="0"/>
          </a:xfrm>
          <a:prstGeom prst="line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489CB6B-78F7-4F33-BBA4-9CDD19DCB45A}"/>
                  </a:ext>
                </a:extLst>
              </p:cNvPr>
              <p:cNvSpPr/>
              <p:nvPr/>
            </p:nvSpPr>
            <p:spPr>
              <a:xfrm>
                <a:off x="2862893" y="1985334"/>
                <a:ext cx="34509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489CB6B-78F7-4F33-BBA4-9CDD19DCB4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893" y="1985334"/>
                <a:ext cx="34509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71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Source-Free Parallel RLC Network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Picture 5" descr="6-3.tiff">
            <a:extLst>
              <a:ext uri="{FF2B5EF4-FFF2-40B4-BE49-F238E27FC236}">
                <a16:creationId xmlns:a16="http://schemas.microsoft.com/office/drawing/2014/main" id="{4C8EBA67-8F26-45BC-8890-8181A352D3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925" b="-798"/>
          <a:stretch/>
        </p:blipFill>
        <p:spPr>
          <a:xfrm>
            <a:off x="685800" y="1371600"/>
            <a:ext cx="3602509" cy="1447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9CC593C-7AEB-475C-AC80-E5B8C94C3F37}"/>
                  </a:ext>
                </a:extLst>
              </p:cNvPr>
              <p:cNvSpPr/>
              <p:nvPr/>
            </p:nvSpPr>
            <p:spPr>
              <a:xfrm>
                <a:off x="4855693" y="1281926"/>
                <a:ext cx="3450107" cy="3414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dirty="0"/>
                  <a:t>        (1)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                     (2)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Plug (2) into (1), we have </a:t>
                </a:r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𝐿𝐶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9CC593C-7AEB-475C-AC80-E5B8C94C3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693" y="1281926"/>
                <a:ext cx="3450107" cy="3414461"/>
              </a:xfrm>
              <a:prstGeom prst="rect">
                <a:avLst/>
              </a:prstGeom>
              <a:blipFill>
                <a:blip r:embed="rId4"/>
                <a:stretch>
                  <a:fillRect l="-1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D689372-71A4-4939-A274-6A08CF480F51}"/>
              </a:ext>
            </a:extLst>
          </p:cNvPr>
          <p:cNvSpPr txBox="1"/>
          <p:nvPr/>
        </p:nvSpPr>
        <p:spPr>
          <a:xfrm>
            <a:off x="3830289" y="2007690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079D91D-60BE-4985-B719-2ECDC34C29AB}"/>
                  </a:ext>
                </a:extLst>
              </p:cNvPr>
              <p:cNvSpPr/>
              <p:nvPr/>
            </p:nvSpPr>
            <p:spPr>
              <a:xfrm>
                <a:off x="3911687" y="1826380"/>
                <a:ext cx="42364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079D91D-60BE-4985-B719-2ECDC34C2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687" y="1826380"/>
                <a:ext cx="42364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3461F94-0DAD-4471-9994-A3DA6D93BC99}"/>
              </a:ext>
            </a:extLst>
          </p:cNvPr>
          <p:cNvSpPr txBox="1"/>
          <p:nvPr/>
        </p:nvSpPr>
        <p:spPr>
          <a:xfrm>
            <a:off x="3830289" y="1611690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208BCBB-AD49-4FA8-96CF-FAE38E48FB0B}"/>
                  </a:ext>
                </a:extLst>
              </p:cNvPr>
              <p:cNvSpPr/>
              <p:nvPr/>
            </p:nvSpPr>
            <p:spPr>
              <a:xfrm>
                <a:off x="3089742" y="1809690"/>
                <a:ext cx="34509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208BCBB-AD49-4FA8-96CF-FAE38E48F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42" y="1809690"/>
                <a:ext cx="34509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B27AF08-D470-4417-B41C-4139A2444B7C}"/>
              </a:ext>
            </a:extLst>
          </p:cNvPr>
          <p:cNvCxnSpPr>
            <a:cxnSpLocks/>
          </p:cNvCxnSpPr>
          <p:nvPr/>
        </p:nvCxnSpPr>
        <p:spPr>
          <a:xfrm rot="5400000">
            <a:off x="2959546" y="2043690"/>
            <a:ext cx="468000" cy="0"/>
          </a:xfrm>
          <a:prstGeom prst="line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52C5B53-CC1B-4157-ABE6-C0C90C0CC8EB}"/>
                  </a:ext>
                </a:extLst>
              </p:cNvPr>
              <p:cNvSpPr txBox="1"/>
              <p:nvPr/>
            </p:nvSpPr>
            <p:spPr>
              <a:xfrm>
                <a:off x="303118" y="3852359"/>
                <a:ext cx="7970379" cy="36934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dirty="0"/>
                  <a:t>To obtain the equation for the current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dirty="0"/>
                  <a:t>, rewrite (1) as</a:t>
                </a:r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altLang="zh-CN" dirty="0"/>
                  <a:t>       (3)</a:t>
                </a:r>
              </a:p>
              <a:p>
                <a:r>
                  <a:rPr lang="en-US" altLang="zh-CN" dirty="0"/>
                  <a:t>Plug (3) into (2), we have 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𝐶𝐿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  </a:t>
                </a:r>
                <a:r>
                  <a:rPr lang="en-US" altLang="zh-CN" dirty="0">
                    <a:sym typeface="Wingdings" panose="05000000000000000000" pitchFamily="2" charset="2"/>
                  </a:rPr>
                  <a:t>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𝐿𝐶</m:t>
                    </m:r>
                  </m:oMath>
                </a14:m>
                <a:r>
                  <a:rPr lang="en-US" altLang="zh-CN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i.e.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follows the same equation as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dirty="0"/>
                  <a:t>, except for the constant term.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   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52C5B53-CC1B-4157-ABE6-C0C90C0CC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18" y="3852359"/>
                <a:ext cx="7970379" cy="3693447"/>
              </a:xfrm>
              <a:prstGeom prst="rect">
                <a:avLst/>
              </a:prstGeom>
              <a:blipFill>
                <a:blip r:embed="rId7"/>
                <a:stretch>
                  <a:fillRect l="-1989" t="-1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44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6ADFE25-C63B-4300-9DD3-56CADCD2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8596C86-5B19-4A88-8898-DCD2D26B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EE3D-9CB3-427B-805F-C9E05F62120E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4" name="Picture 5" descr="6-3.tiff">
            <a:extLst>
              <a:ext uri="{FF2B5EF4-FFF2-40B4-BE49-F238E27FC236}">
                <a16:creationId xmlns:a16="http://schemas.microsoft.com/office/drawing/2014/main" id="{2612D4EA-6E4C-4A33-8E20-F0E2995479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44"/>
          <a:stretch/>
        </p:blipFill>
        <p:spPr>
          <a:xfrm>
            <a:off x="440267" y="1676400"/>
            <a:ext cx="3602509" cy="1569094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67700EF9-AD0A-400E-845C-560790358DF7}"/>
              </a:ext>
            </a:extLst>
          </p:cNvPr>
          <p:cNvGrpSpPr/>
          <p:nvPr/>
        </p:nvGrpSpPr>
        <p:grpSpPr>
          <a:xfrm>
            <a:off x="4191000" y="1542452"/>
            <a:ext cx="4572000" cy="3396416"/>
            <a:chOff x="4191000" y="1542452"/>
            <a:chExt cx="4572000" cy="33964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6E78A1-550C-4C51-9A5D-40977B19334B}"/>
                    </a:ext>
                  </a:extLst>
                </p:cNvPr>
                <p:cNvSpPr txBox="1"/>
                <p:nvPr/>
              </p:nvSpPr>
              <p:spPr>
                <a:xfrm>
                  <a:off x="4800600" y="1542452"/>
                  <a:ext cx="3732625" cy="18848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altLang="zh-CN" b="0" dirty="0"/>
                </a:p>
                <a:p>
                  <a:endParaRPr lang="en-US" altLang="zh-CN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=0</m:t>
                        </m:r>
                      </m:oMath>
                    </m:oMathPara>
                  </a14:m>
                  <a:endParaRPr lang="en-US" altLang="zh-CN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6E78A1-550C-4C51-9A5D-40977B193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1542452"/>
                  <a:ext cx="3732625" cy="18848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9C88C28C-41CA-43C7-8E0A-D784E77DFA96}"/>
                    </a:ext>
                  </a:extLst>
                </p:cNvPr>
                <p:cNvSpPr/>
                <p:nvPr/>
              </p:nvSpPr>
              <p:spPr>
                <a:xfrm>
                  <a:off x="4191000" y="3269437"/>
                  <a:ext cx="4572000" cy="1669431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altLang="zh-CN" dirty="0"/>
                </a:p>
                <a:p>
                  <a:endParaRPr lang="en-US" altLang="zh-CN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altLang="zh-CN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9C88C28C-41CA-43C7-8E0A-D784E77DFA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000" y="3269437"/>
                  <a:ext cx="4572000" cy="16694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左大括号 6">
              <a:extLst>
                <a:ext uri="{FF2B5EF4-FFF2-40B4-BE49-F238E27FC236}">
                  <a16:creationId xmlns:a16="http://schemas.microsoft.com/office/drawing/2014/main" id="{1D0139B8-1BAB-44EF-BDC9-DD95D09DB9BA}"/>
                </a:ext>
              </a:extLst>
            </p:cNvPr>
            <p:cNvSpPr/>
            <p:nvPr/>
          </p:nvSpPr>
          <p:spPr>
            <a:xfrm>
              <a:off x="4572000" y="1811195"/>
              <a:ext cx="304800" cy="1108348"/>
            </a:xfrm>
            <a:prstGeom prst="leftBrac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箭头: 下 7">
              <a:extLst>
                <a:ext uri="{FF2B5EF4-FFF2-40B4-BE49-F238E27FC236}">
                  <a16:creationId xmlns:a16="http://schemas.microsoft.com/office/drawing/2014/main" id="{73712212-C43B-4946-A5BE-0A335661FB52}"/>
                </a:ext>
              </a:extLst>
            </p:cNvPr>
            <p:cNvSpPr/>
            <p:nvPr/>
          </p:nvSpPr>
          <p:spPr>
            <a:xfrm>
              <a:off x="6477000" y="3973969"/>
              <a:ext cx="152400" cy="3048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B0D8D10-F968-490E-957B-9FCE73399685}"/>
                  </a:ext>
                </a:extLst>
              </p:cNvPr>
              <p:cNvSpPr txBox="1"/>
              <p:nvPr/>
            </p:nvSpPr>
            <p:spPr>
              <a:xfrm>
                <a:off x="589131" y="4883819"/>
                <a:ext cx="5964069" cy="1707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Plug the last equation into the first, we have:</a:t>
                </a:r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B0D8D10-F968-490E-957B-9FCE73399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31" y="4883819"/>
                <a:ext cx="5964069" cy="1707199"/>
              </a:xfrm>
              <a:prstGeom prst="rect">
                <a:avLst/>
              </a:prstGeom>
              <a:blipFill>
                <a:blip r:embed="rId5"/>
                <a:stretch>
                  <a:fillRect l="-1125" t="-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E2ED7A32-8938-48CE-A5FF-64F9B7965D40}"/>
              </a:ext>
            </a:extLst>
          </p:cNvPr>
          <p:cNvSpPr txBox="1">
            <a:spLocks/>
          </p:cNvSpPr>
          <p:nvPr/>
        </p:nvSpPr>
        <p:spPr>
          <a:xfrm>
            <a:off x="457200" y="533400"/>
            <a:ext cx="8229600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0000"/>
                </a:solidFill>
                <a:latin typeface="Arial"/>
                <a:ea typeface="+mj-ea"/>
                <a:cs typeface="Arial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anose="020B0604020202020204" pitchFamily="34" charset="0"/>
                <a:ea typeface="汉仪中圆简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anose="020B0604020202020204" pitchFamily="34" charset="0"/>
                <a:ea typeface="汉仪中圆简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anose="020B0604020202020204" pitchFamily="34" charset="0"/>
                <a:ea typeface="汉仪中圆简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anose="020B0604020202020204" pitchFamily="34" charset="0"/>
                <a:ea typeface="汉仪中圆简"/>
                <a:cs typeface="Arial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C00000"/>
                </a:solidFill>
                <a:latin typeface="Cambria" pitchFamily="18" charset="0"/>
                <a:ea typeface="汉仪中圆简"/>
                <a:cs typeface="汉仪中圆简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C00000"/>
                </a:solidFill>
                <a:latin typeface="Cambria" pitchFamily="18" charset="0"/>
                <a:ea typeface="汉仪中圆简"/>
                <a:cs typeface="汉仪中圆简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C00000"/>
                </a:solidFill>
                <a:latin typeface="Cambria" pitchFamily="18" charset="0"/>
                <a:ea typeface="汉仪中圆简"/>
                <a:cs typeface="汉仪中圆简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C00000"/>
                </a:solidFill>
                <a:latin typeface="Cambria" pitchFamily="18" charset="0"/>
                <a:ea typeface="汉仪中圆简"/>
                <a:cs typeface="汉仪中圆简"/>
              </a:defRPr>
            </a:lvl9pPr>
          </a:lstStyle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Double Capacitors Network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DF5540-F3E4-4BA2-ADB1-A6677DD7A10D}"/>
              </a:ext>
            </a:extLst>
          </p:cNvPr>
          <p:cNvSpPr txBox="1"/>
          <p:nvPr/>
        </p:nvSpPr>
        <p:spPr>
          <a:xfrm>
            <a:off x="3611925" y="2343863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FF63CD8-B3FE-4ACD-B5D5-E705315055A8}"/>
                  </a:ext>
                </a:extLst>
              </p:cNvPr>
              <p:cNvSpPr/>
              <p:nvPr/>
            </p:nvSpPr>
            <p:spPr>
              <a:xfrm>
                <a:off x="3693323" y="2162553"/>
                <a:ext cx="5118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FF63CD8-B3FE-4ACD-B5D5-E70531505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323" y="2162553"/>
                <a:ext cx="511807" cy="400110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E4AA51F-DDC9-4D95-90FC-4C933BE555C7}"/>
              </a:ext>
            </a:extLst>
          </p:cNvPr>
          <p:cNvSpPr txBox="1"/>
          <p:nvPr/>
        </p:nvSpPr>
        <p:spPr>
          <a:xfrm>
            <a:off x="3618479" y="1947084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5F3A13-B1FC-4EA6-8520-1908C92E1266}"/>
              </a:ext>
            </a:extLst>
          </p:cNvPr>
          <p:cNvSpPr txBox="1"/>
          <p:nvPr/>
        </p:nvSpPr>
        <p:spPr>
          <a:xfrm>
            <a:off x="2349061" y="2385781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6A1D8D-DBFF-4DD7-A144-9B0B515D1043}"/>
                  </a:ext>
                </a:extLst>
              </p:cNvPr>
              <p:cNvSpPr/>
              <p:nvPr/>
            </p:nvSpPr>
            <p:spPr>
              <a:xfrm>
                <a:off x="2430459" y="2204471"/>
                <a:ext cx="50584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6A1D8D-DBFF-4DD7-A144-9B0B515D10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59" y="2204471"/>
                <a:ext cx="505843" cy="400110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492814D-3D81-4C1B-BC25-97E7AA5E568E}"/>
              </a:ext>
            </a:extLst>
          </p:cNvPr>
          <p:cNvSpPr txBox="1"/>
          <p:nvPr/>
        </p:nvSpPr>
        <p:spPr>
          <a:xfrm>
            <a:off x="2349061" y="1989781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46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6ADFE25-C63B-4300-9DD3-56CADCD2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8596C86-5B19-4A88-8898-DCD2D26B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EE3D-9CB3-427B-805F-C9E05F62120E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4" name="Picture 5" descr="6-3.tiff">
            <a:extLst>
              <a:ext uri="{FF2B5EF4-FFF2-40B4-BE49-F238E27FC236}">
                <a16:creationId xmlns:a16="http://schemas.microsoft.com/office/drawing/2014/main" id="{2612D4EA-6E4C-4A33-8E20-F0E2995479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44"/>
          <a:stretch/>
        </p:blipFill>
        <p:spPr>
          <a:xfrm>
            <a:off x="533400" y="1295400"/>
            <a:ext cx="3602509" cy="1569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6E78A1-550C-4C51-9A5D-40977B19334B}"/>
                  </a:ext>
                </a:extLst>
              </p:cNvPr>
              <p:cNvSpPr txBox="1"/>
              <p:nvPr/>
            </p:nvSpPr>
            <p:spPr>
              <a:xfrm>
                <a:off x="4724400" y="1137509"/>
                <a:ext cx="3732625" cy="18848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=0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6E78A1-550C-4C51-9A5D-40977B193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137509"/>
                <a:ext cx="3732625" cy="1884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C88C28C-41CA-43C7-8E0A-D784E77DFA96}"/>
                  </a:ext>
                </a:extLst>
              </p:cNvPr>
              <p:cNvSpPr/>
              <p:nvPr/>
            </p:nvSpPr>
            <p:spPr>
              <a:xfrm>
                <a:off x="4114800" y="2864494"/>
                <a:ext cx="4572000" cy="6766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C88C28C-41CA-43C7-8E0A-D784E77DFA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864494"/>
                <a:ext cx="4572000" cy="676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左大括号 6">
            <a:extLst>
              <a:ext uri="{FF2B5EF4-FFF2-40B4-BE49-F238E27FC236}">
                <a16:creationId xmlns:a16="http://schemas.microsoft.com/office/drawing/2014/main" id="{1D0139B8-1BAB-44EF-BDC9-DD95D09DB9BA}"/>
              </a:ext>
            </a:extLst>
          </p:cNvPr>
          <p:cNvSpPr/>
          <p:nvPr/>
        </p:nvSpPr>
        <p:spPr>
          <a:xfrm>
            <a:off x="4495800" y="1406252"/>
            <a:ext cx="304800" cy="1108348"/>
          </a:xfrm>
          <a:prstGeom prst="leftBrac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B0D8D10-F968-490E-957B-9FCE73399685}"/>
                  </a:ext>
                </a:extLst>
              </p:cNvPr>
              <p:cNvSpPr txBox="1"/>
              <p:nvPr/>
            </p:nvSpPr>
            <p:spPr>
              <a:xfrm>
                <a:off x="1798035" y="4064566"/>
                <a:ext cx="6021713" cy="1707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Plug the last equation into the first, we have:</a:t>
                </a:r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B0D8D10-F968-490E-957B-9FCE73399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035" y="4064566"/>
                <a:ext cx="6021713" cy="1707199"/>
              </a:xfrm>
              <a:prstGeom prst="rect">
                <a:avLst/>
              </a:prstGeom>
              <a:blipFill>
                <a:blip r:embed="rId5"/>
                <a:stretch>
                  <a:fillRect l="-1113" t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D4677E-C369-4AD7-9140-948D3D3B5CC5}"/>
                  </a:ext>
                </a:extLst>
              </p:cNvPr>
              <p:cNvSpPr txBox="1"/>
              <p:nvPr/>
            </p:nvSpPr>
            <p:spPr>
              <a:xfrm>
                <a:off x="567267" y="737399"/>
                <a:ext cx="19581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</a:rPr>
                  <a:t>Equation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D4677E-C369-4AD7-9140-948D3D3B5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67" y="737399"/>
                <a:ext cx="1958165" cy="400110"/>
              </a:xfrm>
              <a:prstGeom prst="rect">
                <a:avLst/>
              </a:prstGeom>
              <a:blipFill>
                <a:blip r:embed="rId6"/>
                <a:stretch>
                  <a:fillRect l="-3115" t="-757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56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49FB1-324A-456D-AB1C-317CBAB4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Second Order Equations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D44D4C-4FC4-40B1-8949-63AC2722A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2b method</a:t>
            </a:r>
          </a:p>
          <a:p>
            <a:pPr lvl="1">
              <a:lnSpc>
                <a:spcPct val="200000"/>
              </a:lnSpc>
            </a:pPr>
            <a:r>
              <a:rPr lang="zh-CN" altLang="en-US" dirty="0"/>
              <a:t>变量数 </a:t>
            </a:r>
            <a:r>
              <a:rPr lang="en-US" altLang="zh-CN" dirty="0"/>
              <a:t>2b (v and I for each branch)</a:t>
            </a:r>
          </a:p>
          <a:p>
            <a:pPr lvl="1">
              <a:lnSpc>
                <a:spcPct val="200000"/>
              </a:lnSpc>
            </a:pPr>
            <a:r>
              <a:rPr lang="en-US" altLang="zh-CN" dirty="0"/>
              <a:t>KCL </a:t>
            </a:r>
            <a:r>
              <a:rPr lang="zh-CN" altLang="en-US" dirty="0"/>
              <a:t>独立方程数 </a:t>
            </a:r>
            <a:r>
              <a:rPr lang="en-US" altLang="zh-CN" dirty="0"/>
              <a:t>n-1</a:t>
            </a:r>
          </a:p>
          <a:p>
            <a:pPr lvl="1">
              <a:lnSpc>
                <a:spcPct val="200000"/>
              </a:lnSpc>
            </a:pPr>
            <a:r>
              <a:rPr lang="en-US" altLang="zh-CN" dirty="0"/>
              <a:t>KVL </a:t>
            </a:r>
            <a:r>
              <a:rPr lang="zh-CN" altLang="en-US" dirty="0"/>
              <a:t>独立方程数 </a:t>
            </a:r>
            <a:r>
              <a:rPr lang="en-US" altLang="zh-CN" dirty="0"/>
              <a:t>b-n+1</a:t>
            </a:r>
          </a:p>
          <a:p>
            <a:pPr lvl="1">
              <a:lnSpc>
                <a:spcPct val="200000"/>
              </a:lnSpc>
            </a:pPr>
            <a:r>
              <a:rPr lang="en-US" altLang="zh-CN" dirty="0"/>
              <a:t>V-I </a:t>
            </a:r>
            <a:r>
              <a:rPr lang="zh-CN" altLang="en-US" dirty="0"/>
              <a:t>关系方程数 </a:t>
            </a:r>
            <a:r>
              <a:rPr lang="en-US" altLang="zh-CN" dirty="0"/>
              <a:t>b (contain two first-order derivatives)</a:t>
            </a:r>
          </a:p>
          <a:p>
            <a:pPr marL="290513" lvl="1" indent="0">
              <a:lnSpc>
                <a:spcPct val="200000"/>
              </a:lnSpc>
              <a:buNone/>
            </a:pPr>
            <a:endParaRPr lang="en-US" altLang="zh-CN" dirty="0"/>
          </a:p>
          <a:p>
            <a:pPr marL="290513" lvl="1" indent="0">
              <a:lnSpc>
                <a:spcPct val="200000"/>
              </a:lnSpc>
              <a:buNone/>
            </a:pPr>
            <a:endParaRPr lang="en-US" altLang="zh-CN" dirty="0"/>
          </a:p>
          <a:p>
            <a:pPr marL="290513" lvl="1" indent="0">
              <a:lnSpc>
                <a:spcPct val="200000"/>
              </a:lnSpc>
              <a:buNone/>
            </a:pPr>
            <a:endParaRPr lang="en-US" altLang="zh-CN" dirty="0"/>
          </a:p>
          <a:p>
            <a:pPr marL="290513" lvl="1" indent="0">
              <a:lnSpc>
                <a:spcPct val="200000"/>
              </a:lnSpc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4B4939-A4A1-4A53-8C97-0454E54E2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75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8DACB05-57F2-43D5-8F31-A1C302C8032F}"/>
                  </a:ext>
                </a:extLst>
              </p:cNvPr>
              <p:cNvSpPr txBox="1"/>
              <p:nvPr/>
            </p:nvSpPr>
            <p:spPr>
              <a:xfrm>
                <a:off x="457200" y="1289314"/>
                <a:ext cx="8686800" cy="251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Expressing the equations in matrix form: A x = </a:t>
                </a:r>
                <a:r>
                  <a:rPr lang="en-US" altLang="zh-CN" i="1" dirty="0"/>
                  <a:t>b, </a:t>
                </a:r>
                <a:r>
                  <a:rPr lang="en-US" altLang="zh-CN" dirty="0"/>
                  <a:t>the solution is</a:t>
                </a:r>
                <a:r>
                  <a:rPr lang="en-US" altLang="zh-CN" i="1" dirty="0"/>
                  <a:t> </a:t>
                </a:r>
                <a:r>
                  <a:rPr lang="en-US" altLang="zh-CN" dirty="0"/>
                  <a:t>x=A</a:t>
                </a:r>
                <a:r>
                  <a:rPr lang="en-US" altLang="zh-CN" baseline="30000" dirty="0"/>
                  <a:t>-1</a:t>
                </a:r>
                <a:r>
                  <a:rPr lang="en-US" altLang="zh-CN" dirty="0"/>
                  <a:t>b.</a:t>
                </a:r>
              </a:p>
              <a:p>
                <a:r>
                  <a:rPr lang="en-US" altLang="zh-CN" dirty="0"/>
                  <a:t>The two first order derivatives are only present in </a:t>
                </a:r>
                <a:r>
                  <a:rPr lang="en-US" altLang="zh-CN" i="1" dirty="0"/>
                  <a:t>b</a:t>
                </a:r>
                <a:r>
                  <a:rPr lang="en-US" altLang="zh-CN" dirty="0"/>
                  <a:t>. Denoting the variables in the derivatives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, their solutions will be of the following form 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               (1)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                  (2) 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8DACB05-57F2-43D5-8F31-A1C302C80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89314"/>
                <a:ext cx="8686800" cy="2517869"/>
              </a:xfrm>
              <a:prstGeom prst="rect">
                <a:avLst/>
              </a:prstGeom>
              <a:blipFill>
                <a:blip r:embed="rId2"/>
                <a:stretch>
                  <a:fillRect l="-702" t="-1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标题 1">
            <a:extLst>
              <a:ext uri="{FF2B5EF4-FFF2-40B4-BE49-F238E27FC236}">
                <a16:creationId xmlns:a16="http://schemas.microsoft.com/office/drawing/2014/main" id="{73C513FF-3031-4637-B784-E8547C69C805}"/>
              </a:ext>
            </a:extLst>
          </p:cNvPr>
          <p:cNvSpPr txBox="1">
            <a:spLocks/>
          </p:cNvSpPr>
          <p:nvPr/>
        </p:nvSpPr>
        <p:spPr>
          <a:xfrm>
            <a:off x="441960" y="641499"/>
            <a:ext cx="8229600" cy="838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FF0000"/>
                </a:solidFill>
                <a:latin typeface="Arial"/>
                <a:ea typeface="+mj-ea"/>
                <a:cs typeface="Arial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anose="020B0604020202020204" pitchFamily="34" charset="0"/>
                <a:ea typeface="汉仪中圆简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anose="020B0604020202020204" pitchFamily="34" charset="0"/>
                <a:ea typeface="汉仪中圆简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anose="020B0604020202020204" pitchFamily="34" charset="0"/>
                <a:ea typeface="汉仪中圆简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anose="020B0604020202020204" pitchFamily="34" charset="0"/>
                <a:ea typeface="汉仪中圆简"/>
                <a:cs typeface="Arial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C00000"/>
                </a:solidFill>
                <a:latin typeface="Cambria" pitchFamily="18" charset="0"/>
                <a:ea typeface="汉仪中圆简"/>
                <a:cs typeface="汉仪中圆简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C00000"/>
                </a:solidFill>
                <a:latin typeface="Cambria" pitchFamily="18" charset="0"/>
                <a:ea typeface="汉仪中圆简"/>
                <a:cs typeface="汉仪中圆简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C00000"/>
                </a:solidFill>
                <a:latin typeface="Cambria" pitchFamily="18" charset="0"/>
                <a:ea typeface="汉仪中圆简"/>
                <a:cs typeface="汉仪中圆简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C00000"/>
                </a:solidFill>
                <a:latin typeface="Cambria" pitchFamily="18" charset="0"/>
                <a:ea typeface="汉仪中圆简"/>
                <a:cs typeface="汉仪中圆简"/>
              </a:defRPr>
            </a:lvl9pPr>
          </a:lstStyle>
          <a:p>
            <a:r>
              <a:rPr lang="en-US" altLang="zh-CN" dirty="0"/>
              <a:t>Why Second Order Equations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D679266-F7DE-40A0-AC99-6516B77DAF55}"/>
                  </a:ext>
                </a:extLst>
              </p:cNvPr>
              <p:cNvSpPr/>
              <p:nvPr/>
            </p:nvSpPr>
            <p:spPr>
              <a:xfrm>
                <a:off x="441960" y="3276600"/>
                <a:ext cx="7254240" cy="1323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Solving the above two equations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, we have</a:t>
                </a:r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             </a:t>
                </a:r>
                <a:r>
                  <a:rPr lang="en-US" altLang="zh-CN" dirty="0"/>
                  <a:t>(3)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D679266-F7DE-40A0-AC99-6516B77DAF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76600"/>
                <a:ext cx="7254240" cy="1323311"/>
              </a:xfrm>
              <a:prstGeom prst="rect">
                <a:avLst/>
              </a:prstGeom>
              <a:blipFill>
                <a:blip r:embed="rId3"/>
                <a:stretch>
                  <a:fillRect l="-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5F1A383-32F1-4FC9-80A9-9082B4B3BD19}"/>
                  </a:ext>
                </a:extLst>
              </p:cNvPr>
              <p:cNvSpPr/>
              <p:nvPr/>
            </p:nvSpPr>
            <p:spPr>
              <a:xfrm>
                <a:off x="441960" y="4599911"/>
                <a:ext cx="8229600" cy="9844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Plug (3) into (2), we have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5F1A383-32F1-4FC9-80A9-9082B4B3B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4599911"/>
                <a:ext cx="8229600" cy="984437"/>
              </a:xfrm>
              <a:prstGeom prst="rect">
                <a:avLst/>
              </a:prstGeom>
              <a:blipFill>
                <a:blip r:embed="rId4"/>
                <a:stretch>
                  <a:fillRect l="-815" t="-3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BBD7812-5E63-4611-8AD3-F63D53955945}"/>
                  </a:ext>
                </a:extLst>
              </p:cNvPr>
              <p:cNvSpPr/>
              <p:nvPr/>
            </p:nvSpPr>
            <p:spPr>
              <a:xfrm>
                <a:off x="441960" y="5418039"/>
                <a:ext cx="7696200" cy="1292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altLang="zh-CN" dirty="0"/>
              </a:p>
              <a:p>
                <a:r>
                  <a:rPr lang="en-US" altLang="zh-CN" dirty="0"/>
                  <a:t>From symmetry, we also have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BBD7812-5E63-4611-8AD3-F63D53955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5418039"/>
                <a:ext cx="7696200" cy="1292213"/>
              </a:xfrm>
              <a:prstGeom prst="rect">
                <a:avLst/>
              </a:prstGeom>
              <a:blipFill>
                <a:blip r:embed="rId5"/>
                <a:stretch>
                  <a:fillRect l="-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73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Initial Conditions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6AA9C3-4D32-4676-88D8-FE3BAE118CAD}"/>
                  </a:ext>
                </a:extLst>
              </p:cNvPr>
              <p:cNvSpPr txBox="1"/>
              <p:nvPr/>
            </p:nvSpPr>
            <p:spPr>
              <a:xfrm>
                <a:off x="609600" y="1891463"/>
                <a:ext cx="6743700" cy="3075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To solve a 2</a:t>
                </a:r>
                <a:r>
                  <a:rPr lang="en-US" altLang="zh-CN" baseline="30000" dirty="0"/>
                  <a:t>nd</a:t>
                </a:r>
                <a:r>
                  <a:rPr lang="en-US" altLang="zh-CN" dirty="0"/>
                  <a:t> order differential equation, </a:t>
                </a:r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the initial conditions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 at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altLang="zh-CN" dirty="0"/>
                  <a:t> are needed.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6AA9C3-4D32-4676-88D8-FE3BAE118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891463"/>
                <a:ext cx="6743700" cy="3075073"/>
              </a:xfrm>
              <a:prstGeom prst="rect">
                <a:avLst/>
              </a:prstGeom>
              <a:blipFill>
                <a:blip r:embed="rId2"/>
                <a:stretch>
                  <a:fillRect l="-904" t="-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07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Steps to Obtain Initial Condition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6AA9C3-4D32-4676-88D8-FE3BAE118CAD}"/>
                  </a:ext>
                </a:extLst>
              </p:cNvPr>
              <p:cNvSpPr txBox="1"/>
              <p:nvPr/>
            </p:nvSpPr>
            <p:spPr>
              <a:xfrm>
                <a:off x="685800" y="1676400"/>
                <a:ext cx="8343900" cy="395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At t = 0</a:t>
                </a:r>
                <a:r>
                  <a:rPr lang="en-US" altLang="zh-CN" baseline="30000" dirty="0"/>
                  <a:t>+</a:t>
                </a:r>
                <a:r>
                  <a:rPr lang="en-US" altLang="zh-CN" dirty="0"/>
                  <a:t>: 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0</a:t>
                </a:r>
                <a:r>
                  <a:rPr lang="en-US" altLang="zh-CN" baseline="30000" dirty="0"/>
                  <a:t>th</a:t>
                </a:r>
                <a:r>
                  <a:rPr lang="en-US" altLang="zh-CN" dirty="0"/>
                  <a:t> order:   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c</a:t>
                </a:r>
                <a:r>
                  <a:rPr lang="en-US" altLang="zh-CN" dirty="0"/>
                  <a:t>(0</a:t>
                </a:r>
                <a:r>
                  <a:rPr lang="en-US" altLang="zh-CN" baseline="30000" dirty="0"/>
                  <a:t>+</a:t>
                </a:r>
                <a:r>
                  <a:rPr lang="en-US" altLang="zh-CN" dirty="0"/>
                  <a:t>) = 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c</a:t>
                </a:r>
                <a:r>
                  <a:rPr lang="en-US" altLang="zh-CN" dirty="0"/>
                  <a:t>(0</a:t>
                </a:r>
                <a:r>
                  <a:rPr lang="en-US" altLang="zh-CN" baseline="30000" dirty="0"/>
                  <a:t>-</a:t>
                </a:r>
                <a:r>
                  <a:rPr lang="en-US" altLang="zh-CN" dirty="0"/>
                  <a:t>); I</a:t>
                </a:r>
                <a:r>
                  <a:rPr lang="en-US" altLang="zh-CN" baseline="-25000" dirty="0"/>
                  <a:t>L</a:t>
                </a:r>
                <a:r>
                  <a:rPr lang="en-US" altLang="zh-CN" dirty="0"/>
                  <a:t>(0</a:t>
                </a:r>
                <a:r>
                  <a:rPr lang="en-US" altLang="zh-CN" baseline="30000" dirty="0"/>
                  <a:t>+</a:t>
                </a:r>
                <a:r>
                  <a:rPr lang="en-US" altLang="zh-CN" dirty="0"/>
                  <a:t>) = I</a:t>
                </a:r>
                <a:r>
                  <a:rPr lang="en-US" altLang="zh-CN" baseline="-25000" dirty="0"/>
                  <a:t>L</a:t>
                </a:r>
                <a:r>
                  <a:rPr lang="en-US" altLang="zh-CN" dirty="0"/>
                  <a:t>(0</a:t>
                </a:r>
                <a:r>
                  <a:rPr lang="en-US" altLang="zh-CN" baseline="30000" dirty="0"/>
                  <a:t>-</a:t>
                </a:r>
                <a:r>
                  <a:rPr lang="en-US" altLang="zh-CN" dirty="0"/>
                  <a:t>).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1</a:t>
                </a:r>
                <a:r>
                  <a:rPr lang="en-US" altLang="zh-CN" baseline="30000" dirty="0"/>
                  <a:t>st</a:t>
                </a:r>
                <a:r>
                  <a:rPr lang="en-US" altLang="zh-CN" dirty="0"/>
                  <a:t> order: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 we treat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 Capacitor as a voltage source with V= 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c</a:t>
                </a:r>
                <a:r>
                  <a:rPr lang="en-US" altLang="zh-CN" dirty="0"/>
                  <a:t>(0</a:t>
                </a:r>
                <a:r>
                  <a:rPr lang="en-US" altLang="zh-CN" baseline="30000" dirty="0"/>
                  <a:t>+</a:t>
                </a:r>
                <a:r>
                  <a:rPr lang="en-US" altLang="zh-CN" dirty="0"/>
                  <a:t>)  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 Inductor as a current source with I= I</a:t>
                </a:r>
                <a:r>
                  <a:rPr lang="en-US" altLang="zh-CN" baseline="-25000" dirty="0"/>
                  <a:t>L</a:t>
                </a:r>
                <a:r>
                  <a:rPr lang="en-US" altLang="zh-CN" dirty="0"/>
                  <a:t>(0</a:t>
                </a:r>
                <a:r>
                  <a:rPr lang="en-US" altLang="zh-CN" baseline="30000" dirty="0"/>
                  <a:t>+</a:t>
                </a:r>
                <a:r>
                  <a:rPr lang="en-US" altLang="zh-CN" dirty="0"/>
                  <a:t>) 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Then solve regular (without 1</a:t>
                </a:r>
                <a:r>
                  <a:rPr lang="en-US" altLang="zh-CN" baseline="30000" dirty="0"/>
                  <a:t>st </a:t>
                </a:r>
                <a:r>
                  <a:rPr lang="en-US" altLang="zh-CN" dirty="0"/>
                  <a:t>and</a:t>
                </a:r>
                <a:r>
                  <a:rPr lang="en-US" altLang="zh-CN" baseline="30000" dirty="0"/>
                  <a:t> </a:t>
                </a:r>
                <a:r>
                  <a:rPr lang="en-US" altLang="zh-CN" dirty="0"/>
                  <a:t>2</a:t>
                </a:r>
                <a:r>
                  <a:rPr lang="en-US" altLang="zh-CN" baseline="30000" dirty="0"/>
                  <a:t>nd </a:t>
                </a:r>
                <a:r>
                  <a:rPr lang="en-US" altLang="zh-CN" dirty="0"/>
                  <a:t>order terms)</a:t>
                </a:r>
                <a:r>
                  <a:rPr lang="en-US" altLang="zh-CN" baseline="30000" dirty="0"/>
                  <a:t> </a:t>
                </a:r>
                <a:r>
                  <a:rPr lang="en-US" altLang="zh-CN" dirty="0"/>
                  <a:t>circuit equations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6AA9C3-4D32-4676-88D8-FE3BAE118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76400"/>
                <a:ext cx="8343900" cy="3956148"/>
              </a:xfrm>
              <a:prstGeom prst="rect">
                <a:avLst/>
              </a:prstGeom>
              <a:blipFill>
                <a:blip r:embed="rId2"/>
                <a:stretch>
                  <a:fillRect l="-804" t="-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03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6791D5-309A-4451-82BA-A3F8199AF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519"/>
          <a:stretch/>
        </p:blipFill>
        <p:spPr>
          <a:xfrm>
            <a:off x="3737517" y="1954206"/>
            <a:ext cx="4949283" cy="28115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56D8435-3DE6-45C3-9B2A-752BB14297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2400" y="1295400"/>
                <a:ext cx="8534400" cy="920617"/>
              </a:xfrm>
            </p:spPr>
            <p:txBody>
              <a:bodyPr/>
              <a:lstStyle/>
              <a:p>
                <a:r>
                  <a:rPr lang="en-US" altLang="zh-CN" dirty="0"/>
                  <a:t>Example One</a:t>
                </a:r>
                <a:br>
                  <a:rPr lang="en-US" altLang="zh-CN" dirty="0"/>
                </a:br>
                <a:r>
                  <a:rPr lang="en-US" altLang="zh-CN" b="0" dirty="0">
                    <a:solidFill>
                      <a:schemeClr val="tx1"/>
                    </a:solidFill>
                  </a:rPr>
                  <a:t>The switch has been closed for a long time. It is open at 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</a:rPr>
                  <a:t>. Find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r>
                      <a:rPr lang="en-US" altLang="zh-CN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𝐶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d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r>
                      <a:rPr lang="en-US" altLang="zh-CN" b="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𝐶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𝑑𝑡</m:t>
                    </m:r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r>
                      <a:rPr lang="en-US" altLang="zh-CN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𝐿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𝑑𝑖</m:t>
                    </m:r>
                    <m:r>
                      <a:rPr lang="en-US" altLang="zh-CN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𝐿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𝑑𝑡</m:t>
                    </m:r>
                  </m:oMath>
                </a14:m>
                <a:br>
                  <a:rPr lang="en-US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56D8435-3DE6-45C3-9B2A-752BB14297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2400" y="1295400"/>
                <a:ext cx="8534400" cy="920617"/>
              </a:xfrm>
              <a:blipFill>
                <a:blip r:embed="rId3"/>
                <a:stretch>
                  <a:fillRect l="-1429" t="-78146" b="-20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8A36F0-8D86-46F9-AE17-03CA665150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4128D2-61B9-441E-BEC7-458057D20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490929"/>
            <a:ext cx="6059702" cy="236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0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Two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The switch has been closed for a long time. It is open 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. Find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𝑑𝑡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𝑑𝑡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70" t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5" name="Picture 2" descr="ale80571_08_0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89"/>
          <a:stretch/>
        </p:blipFill>
        <p:spPr bwMode="auto">
          <a:xfrm>
            <a:off x="4114800" y="2133600"/>
            <a:ext cx="3505200" cy="1512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C5B31C29-B1CA-4786-A3F3-8C99F0734A04}"/>
              </a:ext>
            </a:extLst>
          </p:cNvPr>
          <p:cNvGrpSpPr/>
          <p:nvPr/>
        </p:nvGrpSpPr>
        <p:grpSpPr>
          <a:xfrm>
            <a:off x="381000" y="4090943"/>
            <a:ext cx="8382000" cy="1998176"/>
            <a:chOff x="381000" y="4090943"/>
            <a:chExt cx="8382000" cy="1998176"/>
          </a:xfrm>
        </p:grpSpPr>
        <p:pic>
          <p:nvPicPr>
            <p:cNvPr id="8" name="Picture 2" descr="ale80571_08_003.jp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47"/>
            <a:stretch/>
          </p:blipFill>
          <p:spPr bwMode="auto">
            <a:xfrm>
              <a:off x="381000" y="4456490"/>
              <a:ext cx="8382000" cy="1632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3AFB3D7-3208-47A9-A88C-4EED50F55F9E}"/>
                </a:ext>
              </a:extLst>
            </p:cNvPr>
            <p:cNvSpPr txBox="1"/>
            <p:nvPr/>
          </p:nvSpPr>
          <p:spPr>
            <a:xfrm>
              <a:off x="1524000" y="4090943"/>
              <a:ext cx="7457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 = 0</a:t>
              </a:r>
              <a:r>
                <a:rPr lang="en-US" altLang="zh-CN" baseline="30000" dirty="0"/>
                <a:t>-</a:t>
              </a:r>
              <a:endParaRPr lang="zh-CN" altLang="en-US" baseline="30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5E2B033-8A2D-4BE1-AE9C-9D68B8624A05}"/>
                </a:ext>
              </a:extLst>
            </p:cNvPr>
            <p:cNvSpPr txBox="1"/>
            <p:nvPr/>
          </p:nvSpPr>
          <p:spPr>
            <a:xfrm>
              <a:off x="4495800" y="4093980"/>
              <a:ext cx="7873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 = 0</a:t>
              </a:r>
              <a:r>
                <a:rPr lang="en-US" altLang="zh-CN" baseline="30000" dirty="0"/>
                <a:t>+</a:t>
              </a:r>
              <a:endParaRPr lang="zh-CN" altLang="en-US" baseline="30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918B46F-7C10-4A48-BFC7-47F9EC6E1BC4}"/>
                    </a:ext>
                  </a:extLst>
                </p:cNvPr>
                <p:cNvSpPr txBox="1"/>
                <p:nvPr/>
              </p:nvSpPr>
              <p:spPr>
                <a:xfrm>
                  <a:off x="7509278" y="4095493"/>
                  <a:ext cx="83388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t =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r>
                    <a:rPr lang="en-US" altLang="zh-CN" dirty="0"/>
                    <a:t> </a:t>
                  </a:r>
                  <a:endParaRPr lang="zh-CN" altLang="en-US" baseline="30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2918B46F-7C10-4A48-BFC7-47F9EC6E1B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9278" y="4095493"/>
                  <a:ext cx="833883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8029" t="-7692" b="-292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6929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33689-BB10-4398-A37B-F8943FE0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 of Example Two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89513D-08A2-4302-8DA9-8AFEFC047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68318D3-EA0A-476F-B2EA-23FB5492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22699"/>
            <a:ext cx="4210638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76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Assume the circuit has reached steady state 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Find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𝑑𝑡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𝑑𝑡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t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Picture 2" descr="ale80571_08_01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57600"/>
            <a:ext cx="3009900" cy="1655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3F70549-FD49-4943-97BB-3CF510F41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956" y="2514600"/>
            <a:ext cx="5442044" cy="318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6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Solutions of the 2</a:t>
            </a:r>
            <a:r>
              <a:rPr lang="en-US" altLang="zh-CN" baseline="30000" dirty="0"/>
              <a:t>nd</a:t>
            </a:r>
            <a:r>
              <a:rPr lang="en-US" altLang="zh-CN" dirty="0"/>
              <a:t> Order Equation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6AA9C3-4D32-4676-88D8-FE3BAE118CAD}"/>
                  </a:ext>
                </a:extLst>
              </p:cNvPr>
              <p:cNvSpPr txBox="1"/>
              <p:nvPr/>
            </p:nvSpPr>
            <p:spPr>
              <a:xfrm>
                <a:off x="762000" y="1696244"/>
                <a:ext cx="6743700" cy="709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6AA9C3-4D32-4676-88D8-FE3BAE118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96244"/>
                <a:ext cx="6743700" cy="7098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A249DB7-CE4F-437F-91A4-BE29032095CE}"/>
                  </a:ext>
                </a:extLst>
              </p:cNvPr>
              <p:cNvSpPr/>
              <p:nvPr/>
            </p:nvSpPr>
            <p:spPr>
              <a:xfrm>
                <a:off x="677362" y="3859658"/>
                <a:ext cx="2590966" cy="709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A249DB7-CE4F-437F-91A4-BE2903209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62" y="3859658"/>
                <a:ext cx="2590966" cy="7098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470C0DA-E227-48E2-BAFA-C1ACCE2677CF}"/>
                  </a:ext>
                </a:extLst>
              </p:cNvPr>
              <p:cNvSpPr txBox="1"/>
              <p:nvPr/>
            </p:nvSpPr>
            <p:spPr>
              <a:xfrm>
                <a:off x="839844" y="3158755"/>
                <a:ext cx="1662122" cy="504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470C0DA-E227-48E2-BAFA-C1ACCE267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4" y="3158755"/>
                <a:ext cx="1662122" cy="504241"/>
              </a:xfrm>
              <a:prstGeom prst="rect">
                <a:avLst/>
              </a:prstGeom>
              <a:blipFill>
                <a:blip r:embed="rId4"/>
                <a:stretch>
                  <a:fillRect l="-4044" b="-7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A12F88A-B6EF-46E5-ABAA-D55724EBF35D}"/>
              </a:ext>
            </a:extLst>
          </p:cNvPr>
          <p:cNvSpPr txBox="1"/>
          <p:nvPr/>
        </p:nvSpPr>
        <p:spPr>
          <a:xfrm>
            <a:off x="863167" y="2561983"/>
            <a:ext cx="4527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 RLC circuits, we have a&gt;0 and b&gt;0.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20C068B-125C-4B7A-9398-D7A6F025FD5D}"/>
                  </a:ext>
                </a:extLst>
              </p:cNvPr>
              <p:cNvSpPr/>
              <p:nvPr/>
            </p:nvSpPr>
            <p:spPr>
              <a:xfrm>
                <a:off x="839844" y="4786173"/>
                <a:ext cx="8382000" cy="542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Initial conditions: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20C068B-125C-4B7A-9398-D7A6F025FD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4" y="4786173"/>
                <a:ext cx="8382000" cy="542969"/>
              </a:xfrm>
              <a:prstGeom prst="rect">
                <a:avLst/>
              </a:prstGeom>
              <a:blipFill>
                <a:blip r:embed="rId5"/>
                <a:stretch>
                  <a:fillRect l="-800" b="-6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8784702-970C-45CF-B04E-480970508A03}"/>
                  </a:ext>
                </a:extLst>
              </p:cNvPr>
              <p:cNvSpPr/>
              <p:nvPr/>
            </p:nvSpPr>
            <p:spPr>
              <a:xfrm>
                <a:off x="677362" y="5475564"/>
                <a:ext cx="7775311" cy="11197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The solution for y is a sum of the steady state solution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CN" dirty="0"/>
                  <a:t>) and a solution when c = 0, i.e. natural response with all voltage/current sources removed.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8784702-970C-45CF-B04E-480970508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62" y="5475564"/>
                <a:ext cx="7775311" cy="1119794"/>
              </a:xfrm>
              <a:prstGeom prst="rect">
                <a:avLst/>
              </a:prstGeom>
              <a:blipFill>
                <a:blip r:embed="rId6"/>
                <a:stretch>
                  <a:fillRect l="-784" r="-1646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231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A57FB-3B81-4396-86A9-BFA742A3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 of the 2</a:t>
            </a:r>
            <a:r>
              <a:rPr lang="en-US" altLang="zh-CN" baseline="30000" dirty="0"/>
              <a:t>nd</a:t>
            </a:r>
            <a:r>
              <a:rPr lang="en-US" altLang="zh-CN" dirty="0"/>
              <a:t> Order Equation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4ACDDE-4587-4DBA-A325-313BBB7FC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38E30A-BABC-48B4-BAC3-7CAEF4514D0D}"/>
                  </a:ext>
                </a:extLst>
              </p:cNvPr>
              <p:cNvSpPr txBox="1"/>
              <p:nvPr/>
            </p:nvSpPr>
            <p:spPr>
              <a:xfrm>
                <a:off x="639670" y="3847915"/>
                <a:ext cx="6576416" cy="1026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/2 &gt; </m:t>
                    </m:r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lang="en-US" altLang="zh-CN" dirty="0"/>
                  <a:t>, two real solutions: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endParaRPr lang="zh-CN" altLang="en-US" dirty="0"/>
              </a:p>
              <a:p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38E30A-BABC-48B4-BAC3-7CAEF4514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70" y="3847915"/>
                <a:ext cx="6576416" cy="1026435"/>
              </a:xfrm>
              <a:prstGeom prst="rect">
                <a:avLst/>
              </a:prstGeom>
              <a:blipFill>
                <a:blip r:embed="rId2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0029C47-9432-4696-B87C-9D7B2353CE70}"/>
                  </a:ext>
                </a:extLst>
              </p:cNvPr>
              <p:cNvSpPr txBox="1"/>
              <p:nvPr/>
            </p:nvSpPr>
            <p:spPr>
              <a:xfrm>
                <a:off x="685800" y="1622297"/>
                <a:ext cx="7848599" cy="734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First, try a solution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𝑝𝑡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0029C47-9432-4696-B87C-9D7B2353C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22297"/>
                <a:ext cx="7848599" cy="734240"/>
              </a:xfrm>
              <a:prstGeom prst="rect">
                <a:avLst/>
              </a:prstGeom>
              <a:blipFill>
                <a:blip r:embed="rId3"/>
                <a:stretch>
                  <a:fillRect l="-855" t="-3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97E425A-E999-42E0-BD68-C2B056485F54}"/>
                  </a:ext>
                </a:extLst>
              </p:cNvPr>
              <p:cNvSpPr txBox="1"/>
              <p:nvPr/>
            </p:nvSpPr>
            <p:spPr>
              <a:xfrm>
                <a:off x="639670" y="4669159"/>
                <a:ext cx="6807120" cy="7186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lang="en-US" altLang="zh-CN" dirty="0"/>
                  <a:t>, two complex solutions: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97E425A-E999-42E0-BD68-C2B056485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70" y="4669159"/>
                <a:ext cx="6807120" cy="718658"/>
              </a:xfrm>
              <a:prstGeom prst="rect">
                <a:avLst/>
              </a:prstGeom>
              <a:blipFill>
                <a:blip r:embed="rId4"/>
                <a:stretch>
                  <a:fillRect l="-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15B70A4-1A13-487A-A44F-ECD050ED69A4}"/>
                  </a:ext>
                </a:extLst>
              </p:cNvPr>
              <p:cNvSpPr txBox="1"/>
              <p:nvPr/>
            </p:nvSpPr>
            <p:spPr>
              <a:xfrm>
                <a:off x="685800" y="5652848"/>
                <a:ext cx="4517840" cy="504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lang="en-US" altLang="zh-CN" dirty="0"/>
                  <a:t>, one real solution: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15B70A4-1A13-487A-A44F-ECD050ED6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652848"/>
                <a:ext cx="4517840" cy="504241"/>
              </a:xfrm>
              <a:prstGeom prst="rect">
                <a:avLst/>
              </a:prstGeom>
              <a:blipFill>
                <a:blip r:embed="rId5"/>
                <a:stretch>
                  <a:fillRect l="-1484" b="-7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6C565BB-E4D4-4C27-9FD8-D507507A006A}"/>
                  </a:ext>
                </a:extLst>
              </p:cNvPr>
              <p:cNvSpPr txBox="1"/>
              <p:nvPr/>
            </p:nvSpPr>
            <p:spPr>
              <a:xfrm>
                <a:off x="914400" y="2525017"/>
                <a:ext cx="2521524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𝑎𝑝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6C565BB-E4D4-4C27-9FD8-D507507A0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525017"/>
                <a:ext cx="2521524" cy="923330"/>
              </a:xfrm>
              <a:prstGeom prst="rect">
                <a:avLst/>
              </a:prstGeom>
              <a:blipFill>
                <a:blip r:embed="rId6"/>
                <a:stretch>
                  <a:fillRect l="-1691" b="-8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310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A57FB-3B81-4396-86A9-BFA742A3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Second Solution for Critical Damping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4ACDDE-4587-4DBA-A325-313BBB7FC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A5955A7-F54F-4EDD-BA18-0A0BDB95C397}"/>
                  </a:ext>
                </a:extLst>
              </p:cNvPr>
              <p:cNvSpPr txBox="1"/>
              <p:nvPr/>
            </p:nvSpPr>
            <p:spPr>
              <a:xfrm>
                <a:off x="457200" y="1447800"/>
                <a:ext cx="4771371" cy="22154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When critically damped, we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    (1)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A5955A7-F54F-4EDD-BA18-0A0BDB95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47800"/>
                <a:ext cx="4771371" cy="2215478"/>
              </a:xfrm>
              <a:prstGeom prst="rect">
                <a:avLst/>
              </a:prstGeom>
              <a:blipFill>
                <a:blip r:embed="rId2"/>
                <a:stretch>
                  <a:fillRect l="-1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37ED014-B239-4F7D-99AA-F5042A09E5A3}"/>
                  </a:ext>
                </a:extLst>
              </p:cNvPr>
              <p:cNvSpPr/>
              <p:nvPr/>
            </p:nvSpPr>
            <p:spPr>
              <a:xfrm>
                <a:off x="453228" y="2971800"/>
                <a:ext cx="7738272" cy="32405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In addition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dirty="0"/>
                  <a:t> also satisfies the above equation.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Proof: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Therefore, the left side of Eq. (1)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37ED014-B239-4F7D-99AA-F5042A09E5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28" y="2971800"/>
                <a:ext cx="7738272" cy="3240567"/>
              </a:xfrm>
              <a:prstGeom prst="rect">
                <a:avLst/>
              </a:prstGeom>
              <a:blipFill>
                <a:blip r:embed="rId3"/>
                <a:stretch>
                  <a:fillRect l="-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616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06256-8CCC-43EE-89A0-EA564645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General 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DC72CB-D11D-48C2-B541-9F14E47492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63133"/>
                <a:ext cx="8229600" cy="1989667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The general solution is a linear combination of the two solutions that we find</a:t>
                </a:r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DC72CB-D11D-48C2-B541-9F14E47492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63133"/>
                <a:ext cx="8229600" cy="1989667"/>
              </a:xfrm>
              <a:blipFill>
                <a:blip r:embed="rId3"/>
                <a:stretch>
                  <a:fillRect l="-296" t="-2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A0789D-4A38-44C4-9E37-5CF39E8B3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E493858-D231-42B9-B196-98BCC6A131C3}"/>
              </a:ext>
            </a:extLst>
          </p:cNvPr>
          <p:cNvGrpSpPr/>
          <p:nvPr/>
        </p:nvGrpSpPr>
        <p:grpSpPr>
          <a:xfrm>
            <a:off x="152400" y="3505201"/>
            <a:ext cx="8559800" cy="2679131"/>
            <a:chOff x="152400" y="3505201"/>
            <a:chExt cx="8559800" cy="2679131"/>
          </a:xfrm>
        </p:grpSpPr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25D9731A-B88C-417B-B5B2-993EE1C21D37}"/>
                </a:ext>
              </a:extLst>
            </p:cNvPr>
            <p:cNvSpPr/>
            <p:nvPr/>
          </p:nvSpPr>
          <p:spPr>
            <a:xfrm>
              <a:off x="152400" y="4953000"/>
              <a:ext cx="304800" cy="1219200"/>
            </a:xfrm>
            <a:prstGeom prst="leftBrace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highlight>
                  <a:srgbClr val="000000"/>
                </a:highligh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15752F9-61B7-4EA5-A3B4-23DCEF0943FF}"/>
                    </a:ext>
                  </a:extLst>
                </p:cNvPr>
                <p:cNvSpPr txBox="1"/>
                <p:nvPr/>
              </p:nvSpPr>
              <p:spPr>
                <a:xfrm>
                  <a:off x="5188671" y="5018649"/>
                  <a:ext cx="3523529" cy="9344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CN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𝑑𝑡</m:t>
                                          </m:r>
                                        </m:den>
                                      </m:f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𝑑𝑡</m:t>
                                          </m:r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d>
                          </m:e>
                          <m:sup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1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15752F9-61B7-4EA5-A3B4-23DCEF0943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8671" y="5018649"/>
                  <a:ext cx="3523529" cy="9344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D697608E-7398-4299-8F7D-279397138CF5}"/>
                </a:ext>
              </a:extLst>
            </p:cNvPr>
            <p:cNvSpPr/>
            <p:nvPr/>
          </p:nvSpPr>
          <p:spPr>
            <a:xfrm>
              <a:off x="4533900" y="5320538"/>
              <a:ext cx="533400" cy="2291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D8FB44D-BC80-4940-AC32-C2A1980F8F63}"/>
                    </a:ext>
                  </a:extLst>
                </p:cNvPr>
                <p:cNvSpPr/>
                <p:nvPr/>
              </p:nvSpPr>
              <p:spPr>
                <a:xfrm>
                  <a:off x="536935" y="3505201"/>
                  <a:ext cx="4572000" cy="2679131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>
                    <a:buFont typeface="Wingdings" panose="05000000000000000000" pitchFamily="2" charset="2"/>
                    <a:buChar char="Ø"/>
                  </a:pPr>
                  <a:r>
                    <a:rPr lang="en-US" altLang="zh-CN" dirty="0"/>
                    <a:t>To uniquely determine A and B, we apply the initial conditions for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(0)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dirty="0"/>
                    <a:t> and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(0)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dirty="0"/>
                    <a:t>: </a:t>
                  </a:r>
                </a:p>
                <a:p>
                  <a:pPr marL="0" indent="0">
                    <a:buNone/>
                  </a:pPr>
                  <a:endParaRPr lang="en-US" altLang="zh-CN" dirty="0"/>
                </a:p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altLang="zh-CN" dirty="0"/>
                </a:p>
                <a:p>
                  <a:pPr marL="0" indent="0">
                    <a:buNone/>
                  </a:pPr>
                  <a:endParaRPr lang="en-US" altLang="zh-CN" dirty="0"/>
                </a:p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D8FB44D-BC80-4940-AC32-C2A1980F8F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35" y="3505201"/>
                  <a:ext cx="4572000" cy="2679131"/>
                </a:xfrm>
                <a:prstGeom prst="rect">
                  <a:avLst/>
                </a:prstGeom>
                <a:blipFill>
                  <a:blip r:embed="rId5"/>
                  <a:stretch>
                    <a:fillRect l="-1333" t="-911" r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707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Overdamping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381A9C-58A6-462F-9425-DE764094F9A3}"/>
                  </a:ext>
                </a:extLst>
              </p:cNvPr>
              <p:cNvSpPr txBox="1"/>
              <p:nvPr/>
            </p:nvSpPr>
            <p:spPr>
              <a:xfrm>
                <a:off x="537323" y="2521323"/>
                <a:ext cx="27944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381A9C-58A6-462F-9425-DE764094F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23" y="2521323"/>
                <a:ext cx="2794483" cy="307777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DB2EDE-AFF4-4306-BF35-6C6DF09381D5}"/>
                  </a:ext>
                </a:extLst>
              </p:cNvPr>
              <p:cNvSpPr txBox="1"/>
              <p:nvPr/>
            </p:nvSpPr>
            <p:spPr>
              <a:xfrm>
                <a:off x="520390" y="1321921"/>
                <a:ext cx="8360494" cy="7186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/2 &gt; </m:t>
                    </m:r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lang="en-US" altLang="zh-CN" dirty="0"/>
                  <a:t>, two real solutions: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𝑝𝑡</m:t>
                        </m:r>
                      </m:sup>
                    </m:sSup>
                  </m:oMath>
                </a14:m>
                <a:r>
                  <a:rPr lang="en-US" altLang="zh-CN" dirty="0"/>
                  <a:t> with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DB2EDE-AFF4-4306-BF35-6C6DF0938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" y="1321921"/>
                <a:ext cx="8360494" cy="718658"/>
              </a:xfrm>
              <a:prstGeom prst="rect">
                <a:avLst/>
              </a:prstGeom>
              <a:blipFill>
                <a:blip r:embed="rId4"/>
                <a:stretch>
                  <a:fillRect l="-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5E4ED3-B033-42BA-904E-A2454613A95E}"/>
                  </a:ext>
                </a:extLst>
              </p:cNvPr>
              <p:cNvSpPr txBox="1"/>
              <p:nvPr/>
            </p:nvSpPr>
            <p:spPr>
              <a:xfrm>
                <a:off x="631643" y="3333874"/>
                <a:ext cx="5400325" cy="12030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zh-CN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  <m:r>
                                      <a:rPr lang="en-US" altLang="zh-CN" sz="180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′(0)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′(0)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′(0)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5E4ED3-B033-42BA-904E-A2454613A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43" y="3333874"/>
                <a:ext cx="5400325" cy="1203086"/>
              </a:xfrm>
              <a:prstGeom prst="rect">
                <a:avLst/>
              </a:prstGeom>
              <a:blipFill>
                <a:blip r:embed="rId5"/>
                <a:stretch>
                  <a:fillRect b="-6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77A6D7F-9840-472A-8C8C-6A8B0E8E3604}"/>
                  </a:ext>
                </a:extLst>
              </p:cNvPr>
              <p:cNvSpPr txBox="1"/>
              <p:nvPr/>
            </p:nvSpPr>
            <p:spPr>
              <a:xfrm>
                <a:off x="745067" y="5392917"/>
                <a:ext cx="6074996" cy="6491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77A6D7F-9840-472A-8C8C-6A8B0E8E3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67" y="5392917"/>
                <a:ext cx="6074996" cy="6491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911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Underdamping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381A9C-58A6-462F-9425-DE764094F9A3}"/>
                  </a:ext>
                </a:extLst>
              </p:cNvPr>
              <p:cNvSpPr txBox="1"/>
              <p:nvPr/>
            </p:nvSpPr>
            <p:spPr>
              <a:xfrm>
                <a:off x="563137" y="2688639"/>
                <a:ext cx="6102696" cy="6696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381A9C-58A6-462F-9425-DE764094F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37" y="2688639"/>
                <a:ext cx="6102696" cy="669671"/>
              </a:xfrm>
              <a:prstGeom prst="rect">
                <a:avLst/>
              </a:prstGeom>
              <a:blipFill>
                <a:blip r:embed="rId3"/>
                <a:stretch>
                  <a:fillRect l="-100"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DB2EDE-AFF4-4306-BF35-6C6DF09381D5}"/>
                  </a:ext>
                </a:extLst>
              </p:cNvPr>
              <p:cNvSpPr txBox="1"/>
              <p:nvPr/>
            </p:nvSpPr>
            <p:spPr>
              <a:xfrm>
                <a:off x="520390" y="1321921"/>
                <a:ext cx="8203721" cy="7186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lang="en-US" altLang="zh-CN" dirty="0"/>
                  <a:t>, two complex solutions: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𝑝𝑡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with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DB2EDE-AFF4-4306-BF35-6C6DF0938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" y="1321921"/>
                <a:ext cx="8203721" cy="718658"/>
              </a:xfrm>
              <a:prstGeom prst="rect">
                <a:avLst/>
              </a:prstGeom>
              <a:blipFill>
                <a:blip r:embed="rId4"/>
                <a:stretch>
                  <a:fillRect l="-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5E4ED3-B033-42BA-904E-A2454613A95E}"/>
                  </a:ext>
                </a:extLst>
              </p:cNvPr>
              <p:cNvSpPr txBox="1"/>
              <p:nvPr/>
            </p:nvSpPr>
            <p:spPr>
              <a:xfrm>
                <a:off x="685800" y="3499691"/>
                <a:ext cx="8839200" cy="16455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′(0)</m:t>
                      </m:r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(0)]/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endParaRPr lang="en-US" altLang="zh-CN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)=[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(0)</m:t>
                          </m:r>
                        </m:num>
                        <m:den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func>
                        <m:func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5E4ED3-B033-42BA-904E-A2454613A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499691"/>
                <a:ext cx="8839200" cy="1645515"/>
              </a:xfrm>
              <a:prstGeom prst="rect">
                <a:avLst/>
              </a:prstGeom>
              <a:blipFill>
                <a:blip r:embed="rId5"/>
                <a:stretch>
                  <a:fillRect l="-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FFF0A2C-2055-45D6-8B8F-76A604DDAFA0}"/>
                  </a:ext>
                </a:extLst>
              </p:cNvPr>
              <p:cNvSpPr/>
              <p:nvPr/>
            </p:nvSpPr>
            <p:spPr>
              <a:xfrm>
                <a:off x="529270" y="1939304"/>
                <a:ext cx="4687886" cy="7186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/>
                  <a:t> </a:t>
                </a:r>
                <a:r>
                  <a:rPr lang="en-US" altLang="zh-CN" dirty="0"/>
                  <a:t>Define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ra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FFF0A2C-2055-45D6-8B8F-76A604DDAF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0" y="1939304"/>
                <a:ext cx="4687886" cy="7186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10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09600" y="560718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Critical damping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DB2EDE-AFF4-4306-BF35-6C6DF09381D5}"/>
                  </a:ext>
                </a:extLst>
              </p:cNvPr>
              <p:cNvSpPr txBox="1"/>
              <p:nvPr/>
            </p:nvSpPr>
            <p:spPr>
              <a:xfrm>
                <a:off x="520390" y="1321921"/>
                <a:ext cx="5924379" cy="586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lang="en-US" altLang="zh-CN" sz="2400" dirty="0"/>
                  <a:t>, two solutions: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DB2EDE-AFF4-4306-BF35-6C6DF0938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" y="1321921"/>
                <a:ext cx="5924379" cy="586571"/>
              </a:xfrm>
              <a:prstGeom prst="rect">
                <a:avLst/>
              </a:prstGeom>
              <a:blipFill>
                <a:blip r:embed="rId3"/>
                <a:stretch>
                  <a:fillRect l="-1543" b="-13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5E4ED3-B033-42BA-904E-A2454613A95E}"/>
                  </a:ext>
                </a:extLst>
              </p:cNvPr>
              <p:cNvSpPr txBox="1"/>
              <p:nvPr/>
            </p:nvSpPr>
            <p:spPr>
              <a:xfrm>
                <a:off x="609600" y="3462867"/>
                <a:ext cx="8839200" cy="18642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′(0)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5E4ED3-B033-42BA-904E-A2454613A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462867"/>
                <a:ext cx="8839200" cy="1864293"/>
              </a:xfrm>
              <a:prstGeom prst="rect">
                <a:avLst/>
              </a:prstGeom>
              <a:blipFill>
                <a:blip r:embed="rId4"/>
                <a:stretch>
                  <a:fillRect l="-1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FFF0A2C-2055-45D6-8B8F-76A604DDAFA0}"/>
                  </a:ext>
                </a:extLst>
              </p:cNvPr>
              <p:cNvSpPr/>
              <p:nvPr/>
            </p:nvSpPr>
            <p:spPr>
              <a:xfrm>
                <a:off x="520390" y="2195487"/>
                <a:ext cx="1963423" cy="5831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/>
                  <a:t> </a:t>
                </a:r>
                <a:r>
                  <a:rPr lang="en-US" altLang="zh-CN" sz="2400" dirty="0"/>
                  <a:t>Define 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FFF0A2C-2055-45D6-8B8F-76A604DDAF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90" y="2195487"/>
                <a:ext cx="1963423" cy="583173"/>
              </a:xfrm>
              <a:prstGeom prst="rect">
                <a:avLst/>
              </a:prstGeom>
              <a:blipFill>
                <a:blip r:embed="rId5"/>
                <a:stretch>
                  <a:fillRect l="-311" t="-1042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4725B6B-7D79-4704-8A72-B24DF0D35864}"/>
                  </a:ext>
                </a:extLst>
              </p:cNvPr>
              <p:cNvSpPr/>
              <p:nvPr/>
            </p:nvSpPr>
            <p:spPr>
              <a:xfrm>
                <a:off x="2819400" y="2282156"/>
                <a:ext cx="2923877" cy="4792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4725B6B-7D79-4704-8A72-B24DF0D35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282156"/>
                <a:ext cx="2923877" cy="4792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712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86A27-9DC0-423F-82C9-BDA2DCFA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 (Lesson 2)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RLC </a:t>
                </a:r>
                <a:r>
                  <a:rPr lang="zh-CN" altLang="en-US" dirty="0"/>
                  <a:t>串联电路的自然响应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阻尼特性：欠，过，临界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初始条件：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RLC</a:t>
                </a:r>
                <a:r>
                  <a:rPr lang="zh-CN" altLang="en-US" dirty="0"/>
                  <a:t>串联电路的阶跃响应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RLC</a:t>
                </a:r>
                <a:r>
                  <a:rPr lang="zh-CN" altLang="en-US" dirty="0"/>
                  <a:t>串联电路的全响应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其它二阶电路的分析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冲击响应的分析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  <a:blipFill>
                <a:blip r:embed="rId2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1A0A56-36BF-447B-BA2C-9FC0A4A643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F3F0DB-B53F-47F0-9FB1-6E972764732A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643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86A27-9DC0-423F-82C9-BDA2DCFA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二阶电路时域分析的重要性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3030EF-C99D-4982-8571-5E18DDF4B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二阶电路应用广泛 （金属探测器，打火塞，</a:t>
            </a:r>
            <a:r>
              <a:rPr lang="en-US" altLang="zh-CN" dirty="0"/>
              <a:t>MRI</a:t>
            </a:r>
            <a:r>
              <a:rPr lang="zh-CN" altLang="en-US" dirty="0"/>
              <a:t>线圈</a:t>
            </a:r>
            <a:r>
              <a:rPr lang="en-US" altLang="zh-CN" dirty="0"/>
              <a:t>…)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频域分析虽然简单，但无法得到每一时刻的电路特性。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理论分析同样适用于其他系统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1A0A56-36BF-447B-BA2C-9FC0A4A643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F3F0DB-B53F-47F0-9FB1-6E972764732A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02DB7CE-10B5-40CD-9AAA-65F1A320667B}"/>
              </a:ext>
            </a:extLst>
          </p:cNvPr>
          <p:cNvGrpSpPr>
            <a:grpSpLocks noChangeAspect="1"/>
          </p:cNvGrpSpPr>
          <p:nvPr/>
        </p:nvGrpSpPr>
        <p:grpSpPr>
          <a:xfrm>
            <a:off x="304800" y="3146645"/>
            <a:ext cx="3429000" cy="1720465"/>
            <a:chOff x="2264724" y="3429000"/>
            <a:chExt cx="5835161" cy="3113477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ED2FE52-305B-4282-AF02-DF0951740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724" y="3429000"/>
              <a:ext cx="5835161" cy="311347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26D843F-F926-4654-A2A8-178BE582B629}"/>
                </a:ext>
              </a:extLst>
            </p:cNvPr>
            <p:cNvSpPr/>
            <p:nvPr/>
          </p:nvSpPr>
          <p:spPr>
            <a:xfrm>
              <a:off x="3247053" y="4196859"/>
              <a:ext cx="270588" cy="1772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3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Picture 2" descr="Image result for MRI RF receiver coil">
            <a:extLst>
              <a:ext uri="{FF2B5EF4-FFF2-40B4-BE49-F238E27FC236}">
                <a16:creationId xmlns:a16="http://schemas.microsoft.com/office/drawing/2014/main" id="{4887970A-7B40-4EC7-98D4-B2D58BB47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360" y="3374076"/>
            <a:ext cx="2643836" cy="184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F2349B5-80FC-46FE-BBA1-1B31EC72C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227" y="3483800"/>
            <a:ext cx="1063237" cy="1943552"/>
          </a:xfrm>
          <a:prstGeom prst="rect">
            <a:avLst/>
          </a:prstGeom>
        </p:spPr>
      </p:pic>
      <p:pic>
        <p:nvPicPr>
          <p:cNvPr id="1028" name="Picture 4" descr="金属探测器手持式便携可折叠式高精度探测仪小型安检户外检测仪-阿里巴巴">
            <a:extLst>
              <a:ext uri="{FF2B5EF4-FFF2-40B4-BE49-F238E27FC236}">
                <a16:creationId xmlns:a16="http://schemas.microsoft.com/office/drawing/2014/main" id="{43E1C9BC-3BB6-4640-8F05-59C736636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113" y="4900530"/>
            <a:ext cx="1833645" cy="183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18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F30164F-1454-427F-9641-A418D64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457901-7A25-4A23-B63E-E666F2DA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EE3D-9CB3-427B-805F-C9E05F62120E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C7BD2F-3443-4531-9406-3929F5125A1A}"/>
              </a:ext>
            </a:extLst>
          </p:cNvPr>
          <p:cNvSpPr txBox="1"/>
          <p:nvPr/>
        </p:nvSpPr>
        <p:spPr>
          <a:xfrm>
            <a:off x="304800" y="694935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Damping conditions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5D09BDA-4C40-435F-BFA7-F53B71F9ED97}"/>
                  </a:ext>
                </a:extLst>
              </p:cNvPr>
              <p:cNvSpPr txBox="1"/>
              <p:nvPr/>
            </p:nvSpPr>
            <p:spPr>
              <a:xfrm>
                <a:off x="545339" y="1652156"/>
                <a:ext cx="6743700" cy="57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en-US" altLang="zh-CN" dirty="0">
                    <a:sym typeface="Wingdings" panose="05000000000000000000" pitchFamily="2" charset="2"/>
                  </a:rPr>
                  <a:t>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5D09BDA-4C40-435F-BFA7-F53B71F9E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39" y="1652156"/>
                <a:ext cx="6743700" cy="5724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C53FA4E-EEFB-4A01-B0A1-0F698865B965}"/>
                  </a:ext>
                </a:extLst>
              </p:cNvPr>
              <p:cNvSpPr txBox="1"/>
              <p:nvPr/>
            </p:nvSpPr>
            <p:spPr>
              <a:xfrm>
                <a:off x="3458493" y="1309358"/>
                <a:ext cx="1220206" cy="566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C53FA4E-EEFB-4A01-B0A1-0F698865B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493" y="1309358"/>
                <a:ext cx="1220206" cy="5666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箭头: 右 13">
            <a:extLst>
              <a:ext uri="{FF2B5EF4-FFF2-40B4-BE49-F238E27FC236}">
                <a16:creationId xmlns:a16="http://schemas.microsoft.com/office/drawing/2014/main" id="{306E673D-CA3E-4CE3-B83A-5856F2EECCB7}"/>
              </a:ext>
            </a:extLst>
          </p:cNvPr>
          <p:cNvSpPr/>
          <p:nvPr/>
        </p:nvSpPr>
        <p:spPr>
          <a:xfrm>
            <a:off x="3498089" y="1820888"/>
            <a:ext cx="1220206" cy="2862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F937BA4-1BFA-43C7-B860-582BA96FBA85}"/>
                  </a:ext>
                </a:extLst>
              </p:cNvPr>
              <p:cNvSpPr/>
              <p:nvPr/>
            </p:nvSpPr>
            <p:spPr>
              <a:xfrm>
                <a:off x="888745" y="2710720"/>
                <a:ext cx="1882375" cy="502573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F937BA4-1BFA-43C7-B860-582BA96FBA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45" y="2710720"/>
                <a:ext cx="1882375" cy="502573"/>
              </a:xfrm>
              <a:prstGeom prst="rect">
                <a:avLst/>
              </a:prstGeom>
              <a:blipFill>
                <a:blip r:embed="rId4"/>
                <a:stretch>
                  <a:fillRect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CDDDE75-F790-4AE6-BD91-3A1A6D5D911D}"/>
                  </a:ext>
                </a:extLst>
              </p:cNvPr>
              <p:cNvSpPr txBox="1"/>
              <p:nvPr/>
            </p:nvSpPr>
            <p:spPr>
              <a:xfrm>
                <a:off x="511726" y="3718443"/>
                <a:ext cx="7133674" cy="4190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Three damping conditions can be identified depending on the relative values between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: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Overdamping 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Underdamping (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Critical damping (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CDDDE75-F790-4AE6-BD91-3A1A6D5D9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26" y="3718443"/>
                <a:ext cx="7133674" cy="4190314"/>
              </a:xfrm>
              <a:prstGeom prst="rect">
                <a:avLst/>
              </a:prstGeom>
              <a:blipFill>
                <a:blip r:embed="rId5"/>
                <a:stretch>
                  <a:fillRect l="-940" r="-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199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C040722-23C3-456F-AC8F-C96BBE782EBE}"/>
              </a:ext>
            </a:extLst>
          </p:cNvPr>
          <p:cNvCxnSpPr/>
          <p:nvPr/>
        </p:nvCxnSpPr>
        <p:spPr>
          <a:xfrm>
            <a:off x="7849139" y="2181400"/>
            <a:ext cx="0" cy="1175969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F30164F-1454-427F-9641-A418D64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457901-7A25-4A23-B63E-E666F2DA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EE3D-9CB3-427B-805F-C9E05F62120E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C7BD2F-3443-4531-9406-3929F5125A1A}"/>
              </a:ext>
            </a:extLst>
          </p:cNvPr>
          <p:cNvSpPr txBox="1"/>
          <p:nvPr/>
        </p:nvSpPr>
        <p:spPr>
          <a:xfrm>
            <a:off x="304800" y="694935"/>
            <a:ext cx="2624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Initial conditions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76809C0-10BA-4751-9130-8278C7406FD2}"/>
                  </a:ext>
                </a:extLst>
              </p:cNvPr>
              <p:cNvSpPr/>
              <p:nvPr/>
            </p:nvSpPr>
            <p:spPr>
              <a:xfrm>
                <a:off x="49870" y="2536464"/>
                <a:ext cx="5355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76809C0-10BA-4751-9130-8278C7406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0" y="2536464"/>
                <a:ext cx="535531" cy="400110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8B72BD0E-13F8-4D3E-A06E-861735F51501}"/>
              </a:ext>
            </a:extLst>
          </p:cNvPr>
          <p:cNvGrpSpPr/>
          <p:nvPr/>
        </p:nvGrpSpPr>
        <p:grpSpPr>
          <a:xfrm>
            <a:off x="4638053" y="2169394"/>
            <a:ext cx="466790" cy="1174744"/>
            <a:chOff x="9258159" y="345403"/>
            <a:chExt cx="466790" cy="1174744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C443B7CD-87E2-4AF8-B71C-CD2D2D2E2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58159" y="838000"/>
              <a:ext cx="466790" cy="285790"/>
            </a:xfrm>
            <a:prstGeom prst="rect">
              <a:avLst/>
            </a:prstGeom>
          </p:spPr>
        </p:pic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595FBCE-4C43-4A89-AE56-59DA0AC5ED03}"/>
                </a:ext>
              </a:extLst>
            </p:cNvPr>
            <p:cNvCxnSpPr>
              <a:cxnSpLocks/>
            </p:cNvCxnSpPr>
            <p:nvPr/>
          </p:nvCxnSpPr>
          <p:spPr>
            <a:xfrm>
              <a:off x="9510408" y="1123790"/>
              <a:ext cx="0" cy="39635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FBE641E-7120-4067-9B4B-8A99CE04EB1E}"/>
                </a:ext>
              </a:extLst>
            </p:cNvPr>
            <p:cNvCxnSpPr>
              <a:cxnSpLocks/>
            </p:cNvCxnSpPr>
            <p:nvPr/>
          </p:nvCxnSpPr>
          <p:spPr>
            <a:xfrm>
              <a:off x="9491554" y="345403"/>
              <a:ext cx="14109" cy="5013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5E42563-4F39-49D7-9F87-DA80BA6A2834}"/>
              </a:ext>
            </a:extLst>
          </p:cNvPr>
          <p:cNvGrpSpPr/>
          <p:nvPr/>
        </p:nvGrpSpPr>
        <p:grpSpPr>
          <a:xfrm>
            <a:off x="4871448" y="1767486"/>
            <a:ext cx="1620905" cy="435275"/>
            <a:chOff x="1983467" y="3643490"/>
            <a:chExt cx="1620905" cy="435275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28BA077-07D8-47B6-B64D-B8778F05E933}"/>
                </a:ext>
              </a:extLst>
            </p:cNvPr>
            <p:cNvGrpSpPr/>
            <p:nvPr/>
          </p:nvGrpSpPr>
          <p:grpSpPr>
            <a:xfrm>
              <a:off x="2596914" y="3643490"/>
              <a:ext cx="351692" cy="435275"/>
              <a:chOff x="1424747" y="304742"/>
              <a:chExt cx="351692" cy="435275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EBDEA5F0-5DFD-45A8-9C31-EDCFEBE6E9EA}"/>
                  </a:ext>
                </a:extLst>
              </p:cNvPr>
              <p:cNvSpPr/>
              <p:nvPr/>
            </p:nvSpPr>
            <p:spPr>
              <a:xfrm rot="16200000">
                <a:off x="1534651" y="498229"/>
                <a:ext cx="131884" cy="351692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0986DFD-C452-4FEA-B875-47952A1BA888}"/>
                  </a:ext>
                </a:extLst>
              </p:cNvPr>
              <p:cNvSpPr txBox="1"/>
              <p:nvPr/>
            </p:nvSpPr>
            <p:spPr>
              <a:xfrm>
                <a:off x="1460205" y="304742"/>
                <a:ext cx="3032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R</a:t>
                </a:r>
                <a:endParaRPr lang="zh-CN" altLang="en-US" sz="1600" dirty="0"/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DD5F706-7616-4B9C-990C-F2FDA0956E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8419" y="4027327"/>
              <a:ext cx="675953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0181D33-D639-427A-96F6-544B5A49C1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3467" y="4027327"/>
              <a:ext cx="613449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0E6AB67-6033-4BB4-AD8B-26A5DF3BBC60}"/>
              </a:ext>
            </a:extLst>
          </p:cNvPr>
          <p:cNvGrpSpPr/>
          <p:nvPr/>
        </p:nvGrpSpPr>
        <p:grpSpPr>
          <a:xfrm>
            <a:off x="6342668" y="2323262"/>
            <a:ext cx="299370" cy="1020876"/>
            <a:chOff x="5823172" y="1461449"/>
            <a:chExt cx="299370" cy="1020876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449B0AA-A3DA-419E-85E9-61C324105EED}"/>
                </a:ext>
              </a:extLst>
            </p:cNvPr>
            <p:cNvCxnSpPr>
              <a:cxnSpLocks/>
            </p:cNvCxnSpPr>
            <p:nvPr/>
          </p:nvCxnSpPr>
          <p:spPr>
            <a:xfrm>
              <a:off x="5972857" y="2223987"/>
              <a:ext cx="0" cy="258338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B6357BCC-EC2E-4DD7-8126-94A91C0FC5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8578"/>
            <a:stretch/>
          </p:blipFill>
          <p:spPr>
            <a:xfrm>
              <a:off x="5823172" y="1461449"/>
              <a:ext cx="299370" cy="857370"/>
            </a:xfrm>
            <a:prstGeom prst="rect">
              <a:avLst/>
            </a:prstGeom>
          </p:spPr>
        </p:pic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095896C-9CEC-4D50-8F17-EC9FBB8A82AD}"/>
              </a:ext>
            </a:extLst>
          </p:cNvPr>
          <p:cNvCxnSpPr>
            <a:cxnSpLocks/>
          </p:cNvCxnSpPr>
          <p:nvPr/>
        </p:nvCxnSpPr>
        <p:spPr>
          <a:xfrm>
            <a:off x="4885557" y="3344138"/>
            <a:ext cx="233077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5025756-4516-403B-B4AF-6B9A4F6D7B8E}"/>
              </a:ext>
            </a:extLst>
          </p:cNvPr>
          <p:cNvCxnSpPr>
            <a:cxnSpLocks/>
          </p:cNvCxnSpPr>
          <p:nvPr/>
        </p:nvCxnSpPr>
        <p:spPr>
          <a:xfrm flipH="1">
            <a:off x="6461506" y="2114146"/>
            <a:ext cx="290356" cy="257672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69C391-0A1B-4596-AB8A-8867E265AC3E}"/>
              </a:ext>
            </a:extLst>
          </p:cNvPr>
          <p:cNvCxnSpPr>
            <a:cxnSpLocks/>
          </p:cNvCxnSpPr>
          <p:nvPr/>
        </p:nvCxnSpPr>
        <p:spPr>
          <a:xfrm flipH="1">
            <a:off x="6685417" y="2181400"/>
            <a:ext cx="53091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弧形 32">
            <a:extLst>
              <a:ext uri="{FF2B5EF4-FFF2-40B4-BE49-F238E27FC236}">
                <a16:creationId xmlns:a16="http://schemas.microsoft.com/office/drawing/2014/main" id="{6D6A72E4-D56E-47A8-88DA-06E672B622CD}"/>
              </a:ext>
            </a:extLst>
          </p:cNvPr>
          <p:cNvSpPr/>
          <p:nvPr/>
        </p:nvSpPr>
        <p:spPr>
          <a:xfrm>
            <a:off x="6309609" y="2124988"/>
            <a:ext cx="376771" cy="388948"/>
          </a:xfrm>
          <a:prstGeom prst="arc">
            <a:avLst/>
          </a:prstGeom>
          <a:ln w="15875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E245AC1-C533-4A2B-B6C2-A1375F836C57}"/>
              </a:ext>
            </a:extLst>
          </p:cNvPr>
          <p:cNvSpPr txBox="1"/>
          <p:nvPr/>
        </p:nvSpPr>
        <p:spPr>
          <a:xfrm>
            <a:off x="6557208" y="2619660"/>
            <a:ext cx="279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</a:t>
            </a:r>
            <a:endParaRPr lang="zh-CN" altLang="en-US" sz="16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34732-5DC4-4741-BD17-06182DA88358}"/>
              </a:ext>
            </a:extLst>
          </p:cNvPr>
          <p:cNvSpPr txBox="1"/>
          <p:nvPr/>
        </p:nvSpPr>
        <p:spPr>
          <a:xfrm>
            <a:off x="5029786" y="267925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C</a:t>
            </a:r>
            <a:endParaRPr lang="zh-CN" altLang="en-US" sz="16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F450BDA-C70B-4AC5-A7C4-4F9AAE067D9A}"/>
              </a:ext>
            </a:extLst>
          </p:cNvPr>
          <p:cNvSpPr txBox="1"/>
          <p:nvPr/>
        </p:nvSpPr>
        <p:spPr>
          <a:xfrm>
            <a:off x="4641846" y="27527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-</a:t>
            </a:r>
            <a:endParaRPr lang="zh-CN" altLang="en-US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7F38BB4-C1D3-4DAD-905C-C936F98946B7}"/>
              </a:ext>
            </a:extLst>
          </p:cNvPr>
          <p:cNvSpPr txBox="1"/>
          <p:nvPr/>
        </p:nvSpPr>
        <p:spPr>
          <a:xfrm>
            <a:off x="6202807" y="28637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-</a:t>
            </a:r>
            <a:endParaRPr lang="zh-CN" altLang="en-US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A7D55BE-262B-4964-8D7D-7201106040DA}"/>
              </a:ext>
            </a:extLst>
          </p:cNvPr>
          <p:cNvSpPr txBox="1"/>
          <p:nvPr/>
        </p:nvSpPr>
        <p:spPr>
          <a:xfrm>
            <a:off x="6159152" y="2340232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+</a:t>
            </a:r>
            <a:endParaRPr lang="zh-CN" altLang="en-US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565B615-0941-475A-8EC5-A2924A581AC1}"/>
              </a:ext>
            </a:extLst>
          </p:cNvPr>
          <p:cNvSpPr txBox="1"/>
          <p:nvPr/>
        </p:nvSpPr>
        <p:spPr>
          <a:xfrm>
            <a:off x="4596515" y="235929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+</a:t>
            </a:r>
            <a:endParaRPr lang="zh-CN" altLang="en-US" b="1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3503E80-DB2D-4E0B-A1C7-6429FA64083A}"/>
              </a:ext>
            </a:extLst>
          </p:cNvPr>
          <p:cNvSpPr/>
          <p:nvPr/>
        </p:nvSpPr>
        <p:spPr>
          <a:xfrm>
            <a:off x="4920600" y="2335661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U</a:t>
            </a:r>
            <a:r>
              <a:rPr lang="en-US" altLang="zh-CN" baseline="-25000" dirty="0" err="1"/>
              <a:t>c</a:t>
            </a:r>
            <a:endParaRPr lang="zh-CN" altLang="en-US" baseline="-25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81220E6-F80B-4178-9CBB-F5A07836007F}"/>
              </a:ext>
            </a:extLst>
          </p:cNvPr>
          <p:cNvSpPr/>
          <p:nvPr/>
        </p:nvSpPr>
        <p:spPr>
          <a:xfrm>
            <a:off x="6021232" y="2617812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U</a:t>
            </a:r>
            <a:r>
              <a:rPr lang="en-US" altLang="zh-CN" baseline="-25000" dirty="0"/>
              <a:t>L</a:t>
            </a:r>
            <a:endParaRPr lang="zh-CN" altLang="en-US" baseline="-25000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ADC10D-D6BF-4908-A1F5-858F914D7408}"/>
              </a:ext>
            </a:extLst>
          </p:cNvPr>
          <p:cNvGrpSpPr/>
          <p:nvPr/>
        </p:nvGrpSpPr>
        <p:grpSpPr>
          <a:xfrm>
            <a:off x="6988142" y="2169394"/>
            <a:ext cx="706505" cy="1187975"/>
            <a:chOff x="2475510" y="191442"/>
            <a:chExt cx="706505" cy="1187975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25832713-ACCA-45F2-AF4C-9F70A62B5E9D}"/>
                </a:ext>
              </a:extLst>
            </p:cNvPr>
            <p:cNvGrpSpPr/>
            <p:nvPr/>
          </p:nvGrpSpPr>
          <p:grpSpPr>
            <a:xfrm>
              <a:off x="2475510" y="551442"/>
              <a:ext cx="706505" cy="468000"/>
              <a:chOff x="1757031" y="1415562"/>
              <a:chExt cx="706505" cy="468000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92C2ED89-20C4-42B0-8EAF-4D0BFD26247C}"/>
                  </a:ext>
                </a:extLst>
              </p:cNvPr>
              <p:cNvSpPr/>
              <p:nvPr/>
            </p:nvSpPr>
            <p:spPr>
              <a:xfrm>
                <a:off x="1757031" y="1415562"/>
                <a:ext cx="468000" cy="468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BCFF93DA-830B-46A0-931C-EB109703EF11}"/>
                  </a:ext>
                </a:extLst>
              </p:cNvPr>
              <p:cNvSpPr txBox="1"/>
              <p:nvPr/>
            </p:nvSpPr>
            <p:spPr>
              <a:xfrm>
                <a:off x="2209940" y="1434045"/>
                <a:ext cx="2535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A0E19D85-3F9B-49F7-BFED-8AEF66E3D39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38131" y="763627"/>
              <a:ext cx="336946" cy="5813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C65C0160-3530-4B6C-8C37-FD791173A740}"/>
                </a:ext>
              </a:extLst>
            </p:cNvPr>
            <p:cNvCxnSpPr>
              <a:cxnSpLocks/>
            </p:cNvCxnSpPr>
            <p:nvPr/>
          </p:nvCxnSpPr>
          <p:spPr>
            <a:xfrm>
              <a:off x="2703697" y="1019417"/>
              <a:ext cx="0" cy="360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6170E6A-6B0B-4099-A08F-92DE02F966EE}"/>
                </a:ext>
              </a:extLst>
            </p:cNvPr>
            <p:cNvCxnSpPr>
              <a:cxnSpLocks/>
            </p:cNvCxnSpPr>
            <p:nvPr/>
          </p:nvCxnSpPr>
          <p:spPr>
            <a:xfrm>
              <a:off x="2703697" y="191442"/>
              <a:ext cx="0" cy="360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41EF470-0985-4904-8B53-E3BD9B8B8A2D}"/>
                  </a:ext>
                </a:extLst>
              </p:cNvPr>
              <p:cNvSpPr txBox="1"/>
              <p:nvPr/>
            </p:nvSpPr>
            <p:spPr>
              <a:xfrm>
                <a:off x="657663" y="1458544"/>
                <a:ext cx="2521497" cy="455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sz="1800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800" b="0" i="0" baseline="-2500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1800" baseline="-25000" dirty="0"/>
              </a:p>
              <a:p>
                <a:endParaRPr lang="zh-CN" altLang="en-US" sz="1800" baseline="-25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41EF470-0985-4904-8B53-E3BD9B8B8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63" y="1458544"/>
                <a:ext cx="2521497" cy="455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49C7277-2610-4985-9242-F9E8A3E8D20C}"/>
                  </a:ext>
                </a:extLst>
              </p:cNvPr>
              <p:cNvSpPr txBox="1"/>
              <p:nvPr/>
            </p:nvSpPr>
            <p:spPr>
              <a:xfrm>
                <a:off x="5048836" y="1358043"/>
                <a:ext cx="3485553" cy="5786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1800" dirty="0"/>
                  <a:t>,</a:t>
                </a:r>
                <a:r>
                  <a:rPr lang="en-US" altLang="zh-CN" sz="1800" baseline="-25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(0)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endParaRPr lang="en-US" altLang="zh-CN" sz="1800" baseline="-25000" dirty="0"/>
              </a:p>
              <a:p>
                <a:endParaRPr lang="zh-CN" altLang="en-US" sz="1800" baseline="-250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49C7277-2610-4985-9242-F9E8A3E8D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836" y="1358043"/>
                <a:ext cx="3485553" cy="578685"/>
              </a:xfrm>
              <a:prstGeom prst="rect">
                <a:avLst/>
              </a:prstGeom>
              <a:blipFill>
                <a:blip r:embed="rId6"/>
                <a:stretch>
                  <a:fillRect l="-2273" t="-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CC37EE23-3601-4E1C-9BD1-15054C2F4063}"/>
              </a:ext>
            </a:extLst>
          </p:cNvPr>
          <p:cNvGrpSpPr/>
          <p:nvPr/>
        </p:nvGrpSpPr>
        <p:grpSpPr>
          <a:xfrm>
            <a:off x="468257" y="1859478"/>
            <a:ext cx="2766254" cy="1654800"/>
            <a:chOff x="417558" y="3594578"/>
            <a:chExt cx="2766254" cy="1654800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076F4BCD-8D8F-4DB7-B249-B0F423E85D56}"/>
                </a:ext>
              </a:extLst>
            </p:cNvPr>
            <p:cNvGrpSpPr/>
            <p:nvPr/>
          </p:nvGrpSpPr>
          <p:grpSpPr>
            <a:xfrm rot="16200000" flipV="1">
              <a:off x="-42102" y="4501719"/>
              <a:ext cx="1207319" cy="288000"/>
              <a:chOff x="9237150" y="2480513"/>
              <a:chExt cx="1207319" cy="288000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E64614EC-00D8-424E-9BF8-73656D58727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779079" y="2624513"/>
                <a:ext cx="180000" cy="0"/>
              </a:xfrm>
              <a:prstGeom prst="line">
                <a:avLst/>
              </a:prstGeom>
              <a:ln w="254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E1193A34-2A60-47F9-B7EF-501058EDCDB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807140" y="2624513"/>
                <a:ext cx="288000" cy="0"/>
              </a:xfrm>
              <a:prstGeom prst="line">
                <a:avLst/>
              </a:prstGeom>
              <a:ln w="254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E7E2BBEE-E1EB-4DD3-A1B2-B706E88ADFB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48820" y="2312843"/>
                <a:ext cx="0" cy="62333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C9426C0A-56E0-4B1C-B045-71DBD397B6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02518" y="2382561"/>
                <a:ext cx="0" cy="48390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2C936683-F53E-45A4-98BD-98083FBEDEEF}"/>
                </a:ext>
              </a:extLst>
            </p:cNvPr>
            <p:cNvGrpSpPr/>
            <p:nvPr/>
          </p:nvGrpSpPr>
          <p:grpSpPr>
            <a:xfrm>
              <a:off x="985413" y="4201106"/>
              <a:ext cx="466790" cy="1048272"/>
              <a:chOff x="9258159" y="471875"/>
              <a:chExt cx="466790" cy="1048272"/>
            </a:xfrm>
          </p:grpSpPr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925B273E-9BC1-4358-8384-D65849C038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8159" y="838000"/>
                <a:ext cx="466790" cy="285790"/>
              </a:xfrm>
              <a:prstGeom prst="rect">
                <a:avLst/>
              </a:prstGeom>
            </p:spPr>
          </p:pic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0C2EEA86-D66C-4ABB-A689-A9DC56CA9E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0408" y="1123790"/>
                <a:ext cx="0" cy="3963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B95D3896-6059-4653-9DF2-A6609C53C4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05663" y="471875"/>
                <a:ext cx="0" cy="37489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B238052A-11BA-4539-A105-545861A498E0}"/>
                </a:ext>
              </a:extLst>
            </p:cNvPr>
            <p:cNvGrpSpPr/>
            <p:nvPr/>
          </p:nvGrpSpPr>
          <p:grpSpPr>
            <a:xfrm>
              <a:off x="1452203" y="3672726"/>
              <a:ext cx="1387510" cy="435275"/>
              <a:chOff x="2216862" y="3643490"/>
              <a:chExt cx="1387510" cy="435275"/>
            </a:xfrm>
          </p:grpSpPr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2F7F18A1-0B8E-45E6-8553-4FC622CF02A2}"/>
                  </a:ext>
                </a:extLst>
              </p:cNvPr>
              <p:cNvGrpSpPr/>
              <p:nvPr/>
            </p:nvGrpSpPr>
            <p:grpSpPr>
              <a:xfrm>
                <a:off x="2596914" y="3643490"/>
                <a:ext cx="351692" cy="435275"/>
                <a:chOff x="1424747" y="304742"/>
                <a:chExt cx="351692" cy="435275"/>
              </a:xfrm>
            </p:grpSpPr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6797041C-78CA-4E2D-9DA2-E5AD5687CCB5}"/>
                    </a:ext>
                  </a:extLst>
                </p:cNvPr>
                <p:cNvSpPr/>
                <p:nvPr/>
              </p:nvSpPr>
              <p:spPr>
                <a:xfrm rot="16200000">
                  <a:off x="1534651" y="498229"/>
                  <a:ext cx="131884" cy="351692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63BFC666-73CA-47E7-88D8-B8391E67AF52}"/>
                    </a:ext>
                  </a:extLst>
                </p:cNvPr>
                <p:cNvSpPr txBox="1"/>
                <p:nvPr/>
              </p:nvSpPr>
              <p:spPr>
                <a:xfrm>
                  <a:off x="1460205" y="304742"/>
                  <a:ext cx="30328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R</a:t>
                  </a:r>
                  <a:endParaRPr lang="zh-CN" altLang="en-US" sz="1600" dirty="0"/>
                </a:p>
              </p:txBody>
            </p:sp>
          </p:grp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571FB83F-186E-4C2A-9643-6B1BB1A585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8419" y="4027327"/>
                <a:ext cx="675953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12AB3E8F-3E8A-45B7-8BE7-E509A00F8E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16862" y="4027327"/>
                <a:ext cx="380053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BF3E3FC3-24B8-437E-A627-937DFF5A9CE8}"/>
                </a:ext>
              </a:extLst>
            </p:cNvPr>
            <p:cNvGrpSpPr/>
            <p:nvPr/>
          </p:nvGrpSpPr>
          <p:grpSpPr>
            <a:xfrm>
              <a:off x="2690028" y="4228502"/>
              <a:ext cx="299370" cy="1020876"/>
              <a:chOff x="5823172" y="1461449"/>
              <a:chExt cx="299370" cy="1020876"/>
            </a:xfrm>
          </p:grpSpPr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4E83CDC5-449A-422C-9155-114D4FC66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2857" y="2223987"/>
                <a:ext cx="0" cy="258338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3" name="图片 72">
                <a:extLst>
                  <a:ext uri="{FF2B5EF4-FFF2-40B4-BE49-F238E27FC236}">
                    <a16:creationId xmlns:a16="http://schemas.microsoft.com/office/drawing/2014/main" id="{5095B6C3-97CC-4592-80BF-D0C25B5873D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8578"/>
              <a:stretch/>
            </p:blipFill>
            <p:spPr>
              <a:xfrm>
                <a:off x="5823172" y="1461449"/>
                <a:ext cx="299370" cy="857370"/>
              </a:xfrm>
              <a:prstGeom prst="rect">
                <a:avLst/>
              </a:prstGeom>
            </p:spPr>
          </p:pic>
        </p:grp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4E2A192B-1E13-40D4-B836-91FA8F32FB4C}"/>
                </a:ext>
              </a:extLst>
            </p:cNvPr>
            <p:cNvCxnSpPr>
              <a:cxnSpLocks/>
            </p:cNvCxnSpPr>
            <p:nvPr/>
          </p:nvCxnSpPr>
          <p:spPr>
            <a:xfrm>
              <a:off x="544516" y="5249378"/>
              <a:ext cx="2295197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BF1D9652-FE00-4A1B-92CD-359ADAF1897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95713" y="4200563"/>
              <a:ext cx="288000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A340E960-76A8-4918-9629-B6DFF4B77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517" y="4042059"/>
              <a:ext cx="530912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7972826B-0FD7-48F2-8B95-0A183FDECBF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576" y="3996482"/>
              <a:ext cx="187342" cy="20408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弧形 59">
              <a:extLst>
                <a:ext uri="{FF2B5EF4-FFF2-40B4-BE49-F238E27FC236}">
                  <a16:creationId xmlns:a16="http://schemas.microsoft.com/office/drawing/2014/main" id="{2E0657F4-813A-48CE-9564-333179433DF5}"/>
                </a:ext>
              </a:extLst>
            </p:cNvPr>
            <p:cNvSpPr/>
            <p:nvPr/>
          </p:nvSpPr>
          <p:spPr>
            <a:xfrm flipH="1">
              <a:off x="1123980" y="4031402"/>
              <a:ext cx="376771" cy="388948"/>
            </a:xfrm>
            <a:prstGeom prst="arc">
              <a:avLst/>
            </a:prstGeom>
            <a:ln w="15875"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4785101-B7BD-4943-B3E6-CDAFA8677A76}"/>
                </a:ext>
              </a:extLst>
            </p:cNvPr>
            <p:cNvSpPr txBox="1"/>
            <p:nvPr/>
          </p:nvSpPr>
          <p:spPr>
            <a:xfrm>
              <a:off x="2904568" y="4524900"/>
              <a:ext cx="2792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L</a:t>
              </a:r>
              <a:endParaRPr lang="zh-CN" altLang="en-US" sz="16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33850000-D726-4EDB-BBF8-655C8F20C2F9}"/>
                </a:ext>
              </a:extLst>
            </p:cNvPr>
            <p:cNvSpPr txBox="1"/>
            <p:nvPr/>
          </p:nvSpPr>
          <p:spPr>
            <a:xfrm>
              <a:off x="1377146" y="4584494"/>
              <a:ext cx="311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C</a:t>
              </a:r>
              <a:endParaRPr lang="zh-CN" altLang="en-US" sz="1600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E7EE57D-6BB3-4A6A-9A29-F0CC6FC30DEE}"/>
                </a:ext>
              </a:extLst>
            </p:cNvPr>
            <p:cNvSpPr txBox="1"/>
            <p:nvPr/>
          </p:nvSpPr>
          <p:spPr>
            <a:xfrm>
              <a:off x="989206" y="465802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-</a:t>
              </a:r>
              <a:endParaRPr lang="zh-CN" altLang="en-US" b="1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4C968B95-E8B9-4DE7-AAC8-9CEE4D43CA1F}"/>
                </a:ext>
              </a:extLst>
            </p:cNvPr>
            <p:cNvSpPr txBox="1"/>
            <p:nvPr/>
          </p:nvSpPr>
          <p:spPr>
            <a:xfrm>
              <a:off x="2550167" y="476903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-</a:t>
              </a:r>
              <a:endParaRPr lang="zh-CN" altLang="en-US" b="1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CD3212F-1CB1-4783-8625-8332AA3D565C}"/>
                </a:ext>
              </a:extLst>
            </p:cNvPr>
            <p:cNvSpPr txBox="1"/>
            <p:nvPr/>
          </p:nvSpPr>
          <p:spPr>
            <a:xfrm>
              <a:off x="2506512" y="4245472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+</a:t>
              </a:r>
              <a:endParaRPr lang="zh-CN" altLang="en-US" b="1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834E809-7EE1-404D-B125-27E7BD3B0303}"/>
                </a:ext>
              </a:extLst>
            </p:cNvPr>
            <p:cNvSpPr txBox="1"/>
            <p:nvPr/>
          </p:nvSpPr>
          <p:spPr>
            <a:xfrm>
              <a:off x="979371" y="4346694"/>
              <a:ext cx="344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+</a:t>
              </a:r>
              <a:endParaRPr lang="zh-CN" altLang="en-US" b="1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E840420C-78D5-4833-93AE-2AFE0F58E20F}"/>
                </a:ext>
              </a:extLst>
            </p:cNvPr>
            <p:cNvSpPr/>
            <p:nvPr/>
          </p:nvSpPr>
          <p:spPr>
            <a:xfrm>
              <a:off x="1189555" y="4283639"/>
              <a:ext cx="4074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err="1"/>
                <a:t>U</a:t>
              </a:r>
              <a:r>
                <a:rPr lang="en-US" altLang="zh-CN" baseline="-25000" dirty="0" err="1"/>
                <a:t>c</a:t>
              </a:r>
              <a:endParaRPr lang="zh-CN" altLang="en-US" baseline="-25000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8B430630-211C-41B0-A007-E9F39D7190C5}"/>
                </a:ext>
              </a:extLst>
            </p:cNvPr>
            <p:cNvSpPr/>
            <p:nvPr/>
          </p:nvSpPr>
          <p:spPr>
            <a:xfrm>
              <a:off x="2368592" y="4523052"/>
              <a:ext cx="4106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U</a:t>
              </a:r>
              <a:r>
                <a:rPr lang="en-US" altLang="zh-CN" baseline="-25000" dirty="0"/>
                <a:t>L</a:t>
              </a:r>
              <a:endParaRPr lang="zh-CN" altLang="en-US" baseline="-250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42F3953-0884-427A-AEFF-4DA7FCD972BA}"/>
                </a:ext>
              </a:extLst>
            </p:cNvPr>
            <p:cNvSpPr txBox="1"/>
            <p:nvPr/>
          </p:nvSpPr>
          <p:spPr>
            <a:xfrm>
              <a:off x="903016" y="3594578"/>
              <a:ext cx="5469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t=0</a:t>
              </a:r>
              <a:endParaRPr lang="zh-CN" altLang="en-US" dirty="0"/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27EAD85F-E03A-427A-B3CA-FDF2F824700A}"/>
                </a:ext>
              </a:extLst>
            </p:cNvPr>
            <p:cNvCxnSpPr/>
            <p:nvPr/>
          </p:nvCxnSpPr>
          <p:spPr>
            <a:xfrm>
              <a:off x="2839713" y="4083236"/>
              <a:ext cx="0" cy="20040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7EB470D3-48E5-4A7B-A432-D49DF8C7BBB3}"/>
                </a:ext>
              </a:extLst>
            </p:cNvPr>
            <p:cNvSpPr txBox="1"/>
            <p:nvPr/>
          </p:nvSpPr>
          <p:spPr>
            <a:xfrm>
              <a:off x="2856446" y="3970558"/>
              <a:ext cx="242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i</a:t>
              </a:r>
              <a:endParaRPr lang="zh-CN" altLang="en-US" dirty="0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8A7E85A8-4F2D-4F0E-9A3D-D38B84DB8706}"/>
              </a:ext>
            </a:extLst>
          </p:cNvPr>
          <p:cNvSpPr/>
          <p:nvPr/>
        </p:nvSpPr>
        <p:spPr>
          <a:xfrm>
            <a:off x="553221" y="3081033"/>
            <a:ext cx="104584" cy="243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62B1AE1-B7A5-45AD-A207-508DDA01F8F4}"/>
              </a:ext>
            </a:extLst>
          </p:cNvPr>
          <p:cNvSpPr/>
          <p:nvPr/>
        </p:nvSpPr>
        <p:spPr>
          <a:xfrm>
            <a:off x="7805000" y="2617812"/>
            <a:ext cx="98746" cy="290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DA259C9F-9E6E-4274-97C4-DC855E8CB266}"/>
              </a:ext>
            </a:extLst>
          </p:cNvPr>
          <p:cNvCxnSpPr/>
          <p:nvPr/>
        </p:nvCxnSpPr>
        <p:spPr>
          <a:xfrm>
            <a:off x="7216329" y="2181400"/>
            <a:ext cx="63281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66E1C4D9-4F5F-4629-82B4-8E9E2948CF8C}"/>
              </a:ext>
            </a:extLst>
          </p:cNvPr>
          <p:cNvCxnSpPr/>
          <p:nvPr/>
        </p:nvCxnSpPr>
        <p:spPr>
          <a:xfrm>
            <a:off x="7216329" y="3352800"/>
            <a:ext cx="632810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DA27B939-8D07-46BE-A231-AE7D0021D306}"/>
              </a:ext>
            </a:extLst>
          </p:cNvPr>
          <p:cNvSpPr txBox="1"/>
          <p:nvPr/>
        </p:nvSpPr>
        <p:spPr>
          <a:xfrm>
            <a:off x="6316560" y="1730441"/>
            <a:ext cx="546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t=0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2596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F30164F-1454-427F-9641-A418D64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C7BD2F-3443-4531-9406-3929F5125A1A}"/>
                  </a:ext>
                </a:extLst>
              </p:cNvPr>
              <p:cNvSpPr txBox="1"/>
              <p:nvPr/>
            </p:nvSpPr>
            <p:spPr>
              <a:xfrm>
                <a:off x="372268" y="710780"/>
                <a:ext cx="35166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Overdamping (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FF0000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C7BD2F-3443-4531-9406-3929F512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68" y="710780"/>
                <a:ext cx="3516668" cy="461665"/>
              </a:xfrm>
              <a:prstGeom prst="rect">
                <a:avLst/>
              </a:prstGeom>
              <a:blipFill>
                <a:blip r:embed="rId2"/>
                <a:stretch>
                  <a:fillRect l="-2600" t="-9333" r="-17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CF7E31E-589C-45C7-A702-62C952E55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3059068"/>
                  </p:ext>
                </p:extLst>
              </p:nvPr>
            </p:nvGraphicFramePr>
            <p:xfrm>
              <a:off x="685800" y="2438400"/>
              <a:ext cx="7905750" cy="26551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9834">
                      <a:extLst>
                        <a:ext uri="{9D8B030D-6E8A-4147-A177-3AD203B41FA5}">
                          <a16:colId xmlns:a16="http://schemas.microsoft.com/office/drawing/2014/main" val="2690933290"/>
                        </a:ext>
                      </a:extLst>
                    </a:gridCol>
                    <a:gridCol w="3733800">
                      <a:extLst>
                        <a:ext uri="{9D8B030D-6E8A-4147-A177-3AD203B41FA5}">
                          <a16:colId xmlns:a16="http://schemas.microsoft.com/office/drawing/2014/main" val="3848838086"/>
                        </a:ext>
                      </a:extLst>
                    </a:gridCol>
                    <a:gridCol w="3052116">
                      <a:extLst>
                        <a:ext uri="{9D8B030D-6E8A-4147-A177-3AD203B41FA5}">
                          <a16:colId xmlns:a16="http://schemas.microsoft.com/office/drawing/2014/main" val="32470568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577791"/>
                      </a:ext>
                    </a:extLst>
                  </a:tr>
                  <a:tr h="1964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46472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9843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235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CF7E31E-589C-45C7-A702-62C952E55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3059068"/>
                  </p:ext>
                </p:extLst>
              </p:nvPr>
            </p:nvGraphicFramePr>
            <p:xfrm>
              <a:off x="685800" y="2438400"/>
              <a:ext cx="7905750" cy="26551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9834">
                      <a:extLst>
                        <a:ext uri="{9D8B030D-6E8A-4147-A177-3AD203B41FA5}">
                          <a16:colId xmlns:a16="http://schemas.microsoft.com/office/drawing/2014/main" val="2690933290"/>
                        </a:ext>
                      </a:extLst>
                    </a:gridCol>
                    <a:gridCol w="3733800">
                      <a:extLst>
                        <a:ext uri="{9D8B030D-6E8A-4147-A177-3AD203B41FA5}">
                          <a16:colId xmlns:a16="http://schemas.microsoft.com/office/drawing/2014/main" val="3848838086"/>
                        </a:ext>
                      </a:extLst>
                    </a:gridCol>
                    <a:gridCol w="3052116">
                      <a:extLst>
                        <a:ext uri="{9D8B030D-6E8A-4147-A177-3AD203B41FA5}">
                          <a16:colId xmlns:a16="http://schemas.microsoft.com/office/drawing/2014/main" val="32470568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9836" r="-82382" b="-6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9836" r="-798" b="-618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577791"/>
                      </a:ext>
                    </a:extLst>
                  </a:tr>
                  <a:tr h="94430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43226" r="-607609" b="-14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43226" r="-82382" b="-14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43226" r="-798" b="-14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4647286"/>
                      </a:ext>
                    </a:extLst>
                  </a:tr>
                  <a:tr h="66998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201818" r="-607609" b="-1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201818" r="-82382" b="-1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201818" r="-798" b="-1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843863"/>
                      </a:ext>
                    </a:extLst>
                  </a:tr>
                  <a:tr h="66998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301818" r="-607609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301818" r="-82382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301818" r="-798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23553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BD23DE9-D029-42BE-9A4D-5633FAB153EE}"/>
              </a:ext>
            </a:extLst>
          </p:cNvPr>
          <p:cNvCxnSpPr/>
          <p:nvPr/>
        </p:nvCxnSpPr>
        <p:spPr>
          <a:xfrm flipV="1">
            <a:off x="5006034" y="3352800"/>
            <a:ext cx="762000" cy="76200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0E718CA-9A2F-49F7-B3D8-11CAE55563D0}"/>
              </a:ext>
            </a:extLst>
          </p:cNvPr>
          <p:cNvCxnSpPr>
            <a:cxnSpLocks/>
          </p:cNvCxnSpPr>
          <p:nvPr/>
        </p:nvCxnSpPr>
        <p:spPr>
          <a:xfrm flipV="1">
            <a:off x="5082234" y="4254500"/>
            <a:ext cx="609600" cy="46990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AA7A0BB-4BF3-4626-B634-BF505FDBD120}"/>
                  </a:ext>
                </a:extLst>
              </p:cNvPr>
              <p:cNvSpPr/>
              <p:nvPr/>
            </p:nvSpPr>
            <p:spPr>
              <a:xfrm>
                <a:off x="1004507" y="1172445"/>
                <a:ext cx="8765054" cy="1235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dirty="0"/>
                  <a:t>， </a:t>
                </a:r>
                <a:endParaRPr lang="en-US" altLang="zh-CN" dirty="0"/>
              </a:p>
              <a:p>
                <a:r>
                  <a:rPr lang="en-US" altLang="zh-CN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AA7A0BB-4BF3-4626-B634-BF505FDBD1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507" y="1172445"/>
                <a:ext cx="8765054" cy="1235082"/>
              </a:xfrm>
              <a:prstGeom prst="rect">
                <a:avLst/>
              </a:prstGeom>
              <a:blipFill>
                <a:blip r:embed="rId4"/>
                <a:stretch>
                  <a:fillRect l="-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01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Source-Free Series RLC Circuit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0E36BF0-030B-4C41-BB35-DEDF785782D2}"/>
                  </a:ext>
                </a:extLst>
              </p:cNvPr>
              <p:cNvSpPr txBox="1"/>
              <p:nvPr/>
            </p:nvSpPr>
            <p:spPr>
              <a:xfrm>
                <a:off x="1219200" y="3200400"/>
                <a:ext cx="360489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Unit of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en-US" altLang="zh-CN" dirty="0" err="1"/>
                  <a:t>neper</a:t>
                </a:r>
                <a:r>
                  <a:rPr lang="en-US" altLang="zh-CN" dirty="0"/>
                  <a:t> per s (Np/s)</a:t>
                </a:r>
              </a:p>
              <a:p>
                <a:r>
                  <a:rPr lang="en-US" altLang="zh-CN" dirty="0"/>
                  <a:t>Unit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: radian per s (rad/s)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0E36BF0-030B-4C41-BB35-DEDF78578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200400"/>
                <a:ext cx="3604898" cy="707886"/>
              </a:xfrm>
              <a:prstGeom prst="rect">
                <a:avLst/>
              </a:prstGeom>
              <a:blipFill>
                <a:blip r:embed="rId3"/>
                <a:stretch>
                  <a:fillRect l="-1692" t="-3448" r="-846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4E3D225F-740A-4FC1-BC49-3DB6D1816173}"/>
                  </a:ext>
                </a:extLst>
              </p:cNvPr>
              <p:cNvSpPr/>
              <p:nvPr/>
            </p:nvSpPr>
            <p:spPr>
              <a:xfrm>
                <a:off x="1257300" y="2522606"/>
                <a:ext cx="2017668" cy="5425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zh-CN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LC</m:t>
                            </m:r>
                          </m:e>
                        </m:rad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4E3D225F-740A-4FC1-BC49-3DB6D1816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" y="2522606"/>
                <a:ext cx="2017668" cy="542584"/>
              </a:xfrm>
              <a:prstGeom prst="rect">
                <a:avLst/>
              </a:prstGeom>
              <a:blipFill>
                <a:blip r:embed="rId4"/>
                <a:stretch>
                  <a:fillRect b="-4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76744AB-D0E8-4057-B967-756A73547310}"/>
                  </a:ext>
                </a:extLst>
              </p:cNvPr>
              <p:cNvSpPr/>
              <p:nvPr/>
            </p:nvSpPr>
            <p:spPr>
              <a:xfrm>
                <a:off x="1051428" y="1568105"/>
                <a:ext cx="3118290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76744AB-D0E8-4057-B967-756A73547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428" y="1568105"/>
                <a:ext cx="3118290" cy="676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1E77DF62-1469-42AF-9E9F-7A8C538A5845}"/>
              </a:ext>
            </a:extLst>
          </p:cNvPr>
          <p:cNvSpPr/>
          <p:nvPr/>
        </p:nvSpPr>
        <p:spPr>
          <a:xfrm>
            <a:off x="1219200" y="4026952"/>
            <a:ext cx="29386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 </a:t>
            </a:r>
            <a:r>
              <a:rPr lang="en-US" altLang="zh-CN" dirty="0" err="1"/>
              <a:t>neper</a:t>
            </a:r>
            <a:r>
              <a:rPr lang="en-US" altLang="zh-CN" dirty="0"/>
              <a:t>: signal ratio = e</a:t>
            </a:r>
            <a:r>
              <a:rPr lang="en-US" altLang="zh-CN" baseline="30000" dirty="0"/>
              <a:t>x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7D2F36E-8089-4FDC-8F72-4098C4AB18EB}"/>
                  </a:ext>
                </a:extLst>
              </p:cNvPr>
              <p:cNvSpPr/>
              <p:nvPr/>
            </p:nvSpPr>
            <p:spPr>
              <a:xfrm>
                <a:off x="1143000" y="4724400"/>
                <a:ext cx="1392240" cy="670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7D2F36E-8089-4FDC-8F72-4098C4AB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724400"/>
                <a:ext cx="1392240" cy="6705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638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22A02-2E98-4CA4-805D-C5CD14FE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时间曲线分析规则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81C966-E614-4AA6-A64E-2A434A3DA6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单调递增</a:t>
                </a:r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单调递减</a:t>
                </a:r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达到峰值或谷底</a:t>
                </a:r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为凹函数 </a:t>
                </a:r>
                <a:r>
                  <a:rPr lang="en-US" altLang="zh-CN" dirty="0"/>
                  <a:t>(Convex)</a:t>
                </a:r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为凸函数 </a:t>
                </a:r>
                <a:r>
                  <a:rPr lang="en-US" altLang="zh-CN" dirty="0"/>
                  <a:t>(Concave)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81C966-E614-4AA6-A64E-2A434A3DA6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t="-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F8908-9DDC-4588-A9EE-F85BEA8B8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57562D-9B76-4BD0-A7F3-D1FE0BEA8074}"/>
              </a:ext>
            </a:extLst>
          </p:cNvPr>
          <p:cNvCxnSpPr>
            <a:cxnSpLocks/>
          </p:cNvCxnSpPr>
          <p:nvPr/>
        </p:nvCxnSpPr>
        <p:spPr>
          <a:xfrm>
            <a:off x="5466404" y="5376176"/>
            <a:ext cx="1007218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D1853BC-D245-46C7-BDE3-00019F6CE8D1}"/>
              </a:ext>
            </a:extLst>
          </p:cNvPr>
          <p:cNvSpPr/>
          <p:nvPr/>
        </p:nvSpPr>
        <p:spPr>
          <a:xfrm>
            <a:off x="5622182" y="5016248"/>
            <a:ext cx="765242" cy="719856"/>
          </a:xfrm>
          <a:custGeom>
            <a:avLst/>
            <a:gdLst>
              <a:gd name="connsiteX0" fmla="*/ 0 w 765242"/>
              <a:gd name="connsiteY0" fmla="*/ 706885 h 719856"/>
              <a:gd name="connsiteX1" fmla="*/ 317770 w 765242"/>
              <a:gd name="connsiteY1" fmla="*/ 9 h 719856"/>
              <a:gd name="connsiteX2" fmla="*/ 765242 w 765242"/>
              <a:gd name="connsiteY2" fmla="*/ 719856 h 719856"/>
              <a:gd name="connsiteX3" fmla="*/ 765242 w 765242"/>
              <a:gd name="connsiteY3" fmla="*/ 719856 h 71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242" h="719856">
                <a:moveTo>
                  <a:pt x="0" y="706885"/>
                </a:moveTo>
                <a:cubicBezTo>
                  <a:pt x="95115" y="352366"/>
                  <a:pt x="190230" y="-2153"/>
                  <a:pt x="317770" y="9"/>
                </a:cubicBezTo>
                <a:cubicBezTo>
                  <a:pt x="445310" y="2171"/>
                  <a:pt x="765242" y="719856"/>
                  <a:pt x="765242" y="719856"/>
                </a:cubicBezTo>
                <a:lnTo>
                  <a:pt x="765242" y="71985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E07E619E-E659-4ED1-AE5E-F014DCC306AE}"/>
              </a:ext>
            </a:extLst>
          </p:cNvPr>
          <p:cNvSpPr/>
          <p:nvPr/>
        </p:nvSpPr>
        <p:spPr>
          <a:xfrm flipV="1">
            <a:off x="5622182" y="3886200"/>
            <a:ext cx="765242" cy="719856"/>
          </a:xfrm>
          <a:custGeom>
            <a:avLst/>
            <a:gdLst>
              <a:gd name="connsiteX0" fmla="*/ 0 w 765242"/>
              <a:gd name="connsiteY0" fmla="*/ 706885 h 719856"/>
              <a:gd name="connsiteX1" fmla="*/ 317770 w 765242"/>
              <a:gd name="connsiteY1" fmla="*/ 9 h 719856"/>
              <a:gd name="connsiteX2" fmla="*/ 765242 w 765242"/>
              <a:gd name="connsiteY2" fmla="*/ 719856 h 719856"/>
              <a:gd name="connsiteX3" fmla="*/ 765242 w 765242"/>
              <a:gd name="connsiteY3" fmla="*/ 719856 h 71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242" h="719856">
                <a:moveTo>
                  <a:pt x="0" y="706885"/>
                </a:moveTo>
                <a:cubicBezTo>
                  <a:pt x="95115" y="352366"/>
                  <a:pt x="190230" y="-2153"/>
                  <a:pt x="317770" y="9"/>
                </a:cubicBezTo>
                <a:cubicBezTo>
                  <a:pt x="445310" y="2171"/>
                  <a:pt x="765242" y="719856"/>
                  <a:pt x="765242" y="719856"/>
                </a:cubicBezTo>
                <a:lnTo>
                  <a:pt x="765242" y="71985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F0CBD0D-8945-4B5E-9300-7B9174CC8ECA}"/>
              </a:ext>
            </a:extLst>
          </p:cNvPr>
          <p:cNvCxnSpPr>
            <a:cxnSpLocks/>
          </p:cNvCxnSpPr>
          <p:nvPr/>
        </p:nvCxnSpPr>
        <p:spPr>
          <a:xfrm>
            <a:off x="5501194" y="4275856"/>
            <a:ext cx="1007218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495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2DF5FD-3CC4-43BA-99D3-364DA339D889}"/>
                  </a:ext>
                </a:extLst>
              </p:cNvPr>
              <p:cNvSpPr txBox="1"/>
              <p:nvPr/>
            </p:nvSpPr>
            <p:spPr>
              <a:xfrm>
                <a:off x="423133" y="928895"/>
                <a:ext cx="47959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</a:rPr>
                  <a:t>Time course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0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2DF5FD-3CC4-43BA-99D3-364DA339D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33" y="928895"/>
                <a:ext cx="4795993" cy="523220"/>
              </a:xfrm>
              <a:prstGeom prst="rect">
                <a:avLst/>
              </a:prstGeom>
              <a:blipFill>
                <a:blip r:embed="rId3"/>
                <a:stretch>
                  <a:fillRect l="-2541" t="-11628" r="-1525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BBFDE276-314F-492C-B561-7603E2D239D6}"/>
              </a:ext>
            </a:extLst>
          </p:cNvPr>
          <p:cNvSpPr txBox="1"/>
          <p:nvPr/>
        </p:nvSpPr>
        <p:spPr>
          <a:xfrm>
            <a:off x="3578487" y="3207404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m</a:t>
            </a:r>
            <a:endParaRPr lang="zh-CN" altLang="en-US" baseline="-250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B6D9CD9-B417-4186-9E87-9980619C69CE}"/>
              </a:ext>
            </a:extLst>
          </p:cNvPr>
          <p:cNvSpPr txBox="1"/>
          <p:nvPr/>
        </p:nvSpPr>
        <p:spPr>
          <a:xfrm>
            <a:off x="905156" y="5335595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电容释放能量</a:t>
            </a:r>
            <a:r>
              <a:rPr lang="en-US" altLang="zh-CN" sz="1800" dirty="0"/>
              <a:t>:   t&gt;0</a:t>
            </a:r>
          </a:p>
          <a:p>
            <a:r>
              <a:rPr lang="zh-CN" altLang="en-US" sz="1800" dirty="0"/>
              <a:t>电感吸收能量：</a:t>
            </a:r>
            <a:r>
              <a:rPr lang="en-US" altLang="zh-CN" sz="1800" dirty="0"/>
              <a:t>0&lt; t &lt; t</a:t>
            </a:r>
            <a:r>
              <a:rPr lang="en-US" altLang="zh-CN" sz="1800" baseline="-25000" dirty="0"/>
              <a:t>m</a:t>
            </a:r>
          </a:p>
          <a:p>
            <a:r>
              <a:rPr lang="zh-CN" altLang="en-US" sz="1800" dirty="0"/>
              <a:t>电感释放能量：</a:t>
            </a:r>
            <a:r>
              <a:rPr lang="en-US" altLang="zh-CN" sz="1800" dirty="0"/>
              <a:t>t&gt; t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2EB56D0-377F-40DF-9303-E77688985ABA}"/>
                  </a:ext>
                </a:extLst>
              </p:cNvPr>
              <p:cNvSpPr txBox="1"/>
              <p:nvPr/>
            </p:nvSpPr>
            <p:spPr>
              <a:xfrm>
                <a:off x="3616587" y="3548052"/>
                <a:ext cx="1323054" cy="582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2EB56D0-377F-40DF-9303-E77688985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87" y="3548052"/>
                <a:ext cx="1323054" cy="5823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633813E-08F7-4930-A78F-B27440ABE94A}"/>
                  </a:ext>
                </a:extLst>
              </p:cNvPr>
              <p:cNvSpPr txBox="1"/>
              <p:nvPr/>
            </p:nvSpPr>
            <p:spPr>
              <a:xfrm>
                <a:off x="6096000" y="3604537"/>
                <a:ext cx="2687659" cy="584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𝐿𝐶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633813E-08F7-4930-A78F-B27440ABE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604537"/>
                <a:ext cx="2687659" cy="5843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41D90D6-164B-483D-A3A9-8AA58B0AF8B3}"/>
                  </a:ext>
                </a:extLst>
              </p:cNvPr>
              <p:cNvSpPr/>
              <p:nvPr/>
            </p:nvSpPr>
            <p:spPr>
              <a:xfrm>
                <a:off x="3441814" y="4572791"/>
                <a:ext cx="1757597" cy="7286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41D90D6-164B-483D-A3A9-8AA58B0AF8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814" y="4572791"/>
                <a:ext cx="1757597" cy="7286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479E4AF-F8BB-4AEF-B40A-E3A4DCD51F13}"/>
                  </a:ext>
                </a:extLst>
              </p:cNvPr>
              <p:cNvSpPr/>
              <p:nvPr/>
            </p:nvSpPr>
            <p:spPr>
              <a:xfrm>
                <a:off x="3365434" y="4131150"/>
                <a:ext cx="258154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479E4AF-F8BB-4AEF-B40A-E3A4DCD51F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434" y="4131150"/>
                <a:ext cx="2581541" cy="400110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F283F36D-3E38-41A6-8F31-7DE35C72E874}"/>
              </a:ext>
            </a:extLst>
          </p:cNvPr>
          <p:cNvGrpSpPr/>
          <p:nvPr/>
        </p:nvGrpSpPr>
        <p:grpSpPr>
          <a:xfrm>
            <a:off x="580764" y="1753255"/>
            <a:ext cx="7982471" cy="1670439"/>
            <a:chOff x="762000" y="1746250"/>
            <a:chExt cx="7982471" cy="1670439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6377162C-8155-4248-80A1-F71E52D659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60942"/>
            <a:stretch/>
          </p:blipFill>
          <p:spPr>
            <a:xfrm>
              <a:off x="762000" y="1804847"/>
              <a:ext cx="7720584" cy="150718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7016410-3BB5-41D3-8F78-E6850DB580CC}"/>
                    </a:ext>
                  </a:extLst>
                </p:cNvPr>
                <p:cNvSpPr/>
                <p:nvPr/>
              </p:nvSpPr>
              <p:spPr>
                <a:xfrm>
                  <a:off x="3129898" y="2972878"/>
                  <a:ext cx="3624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7016410-3BB5-41D3-8F78-E6850DB580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898" y="2972878"/>
                  <a:ext cx="36247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AE1CECA7-C0F0-483A-AFAC-61E12568F5C0}"/>
                    </a:ext>
                  </a:extLst>
                </p:cNvPr>
                <p:cNvSpPr/>
                <p:nvPr/>
              </p:nvSpPr>
              <p:spPr>
                <a:xfrm>
                  <a:off x="5715000" y="2953843"/>
                  <a:ext cx="3624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AE1CECA7-C0F0-483A-AFAC-61E12568F5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2953843"/>
                  <a:ext cx="362471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271F56F9-A411-403E-8BB2-F029CFE4F984}"/>
                    </a:ext>
                  </a:extLst>
                </p:cNvPr>
                <p:cNvSpPr/>
                <p:nvPr/>
              </p:nvSpPr>
              <p:spPr>
                <a:xfrm>
                  <a:off x="8382000" y="3016579"/>
                  <a:ext cx="3624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271F56F9-A411-403E-8BB2-F029CFE4F9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0" y="3016579"/>
                  <a:ext cx="362471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3D8618A-5B41-4BB1-9282-73EA7873EAB4}"/>
                </a:ext>
              </a:extLst>
            </p:cNvPr>
            <p:cNvSpPr/>
            <p:nvPr/>
          </p:nvSpPr>
          <p:spPr>
            <a:xfrm>
              <a:off x="2169010" y="1752600"/>
              <a:ext cx="3810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CDBA992-5ADB-4482-8921-9A46DEDE2315}"/>
                </a:ext>
              </a:extLst>
            </p:cNvPr>
            <p:cNvSpPr/>
            <p:nvPr/>
          </p:nvSpPr>
          <p:spPr>
            <a:xfrm>
              <a:off x="4646941" y="1801136"/>
              <a:ext cx="3810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E983E45-8887-495A-BADF-1760226C0715}"/>
                </a:ext>
              </a:extLst>
            </p:cNvPr>
            <p:cNvSpPr/>
            <p:nvPr/>
          </p:nvSpPr>
          <p:spPr>
            <a:xfrm>
              <a:off x="7376427" y="1746250"/>
              <a:ext cx="3810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455D7C8-F8B5-4699-8E57-793184C182DC}"/>
                </a:ext>
              </a:extLst>
            </p:cNvPr>
            <p:cNvSpPr/>
            <p:nvPr/>
          </p:nvSpPr>
          <p:spPr>
            <a:xfrm>
              <a:off x="6077470" y="2090344"/>
              <a:ext cx="287765" cy="11100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9CE8696-6A6B-45BF-A55B-A3EBA208B78F}"/>
                </a:ext>
              </a:extLst>
            </p:cNvPr>
            <p:cNvSpPr/>
            <p:nvPr/>
          </p:nvSpPr>
          <p:spPr>
            <a:xfrm>
              <a:off x="3453768" y="1973234"/>
              <a:ext cx="287765" cy="133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C669A2F8-75A1-4714-B436-16AA779B690B}"/>
                </a:ext>
              </a:extLst>
            </p:cNvPr>
            <p:cNvSpPr/>
            <p:nvPr/>
          </p:nvSpPr>
          <p:spPr>
            <a:xfrm>
              <a:off x="839451" y="1966883"/>
              <a:ext cx="287765" cy="133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79B4E95-AFF3-462E-9DF3-73EDC21527D1}"/>
              </a:ext>
            </a:extLst>
          </p:cNvPr>
          <p:cNvCxnSpPr>
            <a:cxnSpLocks/>
          </p:cNvCxnSpPr>
          <p:nvPr/>
        </p:nvCxnSpPr>
        <p:spPr>
          <a:xfrm>
            <a:off x="3708000" y="2254958"/>
            <a:ext cx="0" cy="968681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9A4C294-1D48-44C3-8EB2-DA852A76A1B3}"/>
              </a:ext>
            </a:extLst>
          </p:cNvPr>
          <p:cNvSpPr txBox="1"/>
          <p:nvPr/>
        </p:nvSpPr>
        <p:spPr>
          <a:xfrm>
            <a:off x="638430" y="293988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0693DAF-E06E-46D0-952D-720D89CA5A4F}"/>
              </a:ext>
            </a:extLst>
          </p:cNvPr>
          <p:cNvSpPr txBox="1"/>
          <p:nvPr/>
        </p:nvSpPr>
        <p:spPr>
          <a:xfrm>
            <a:off x="3311133" y="305090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591C69A-1E5B-4F58-A69F-8DAFBE505660}"/>
              </a:ext>
            </a:extLst>
          </p:cNvPr>
          <p:cNvSpPr txBox="1"/>
          <p:nvPr/>
        </p:nvSpPr>
        <p:spPr>
          <a:xfrm>
            <a:off x="5942645" y="287507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365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5F7F6D5-D130-494C-80B6-CF34CA25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7CFF77-8252-4C6A-BB42-310B4EAF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3888" y="6324600"/>
            <a:ext cx="2133600" cy="365125"/>
          </a:xfrm>
        </p:spPr>
        <p:txBody>
          <a:bodyPr/>
          <a:lstStyle/>
          <a:p>
            <a:fld id="{A768EE3D-9CB3-427B-805F-C9E05F62120E}" type="slidenum">
              <a:rPr lang="zh-CN" altLang="en-US" smtClean="0"/>
              <a:t>31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AB77180-C815-4AA9-B00B-77DBA3AC1350}"/>
                  </a:ext>
                </a:extLst>
              </p:cNvPr>
              <p:cNvSpPr txBox="1"/>
              <p:nvPr/>
            </p:nvSpPr>
            <p:spPr>
              <a:xfrm>
                <a:off x="785320" y="1066800"/>
                <a:ext cx="46793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</a:rPr>
                  <a:t>Time course when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0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AB77180-C815-4AA9-B00B-77DBA3AC1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20" y="1066800"/>
                <a:ext cx="4679358" cy="523220"/>
              </a:xfrm>
              <a:prstGeom prst="rect">
                <a:avLst/>
              </a:prstGeom>
              <a:blipFill>
                <a:blip r:embed="rId3"/>
                <a:stretch>
                  <a:fillRect l="-2738" t="-11628" r="-1565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D5A17390-A6C4-48A7-B5B5-1FA7F5B7A249}"/>
              </a:ext>
            </a:extLst>
          </p:cNvPr>
          <p:cNvGrpSpPr/>
          <p:nvPr/>
        </p:nvGrpSpPr>
        <p:grpSpPr>
          <a:xfrm>
            <a:off x="502226" y="1981200"/>
            <a:ext cx="8139548" cy="1775611"/>
            <a:chOff x="457200" y="2057400"/>
            <a:chExt cx="8139548" cy="1775611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38D9380-2DDB-4E93-9304-6564AFA12087}"/>
                </a:ext>
              </a:extLst>
            </p:cNvPr>
            <p:cNvGrpSpPr/>
            <p:nvPr/>
          </p:nvGrpSpPr>
          <p:grpSpPr>
            <a:xfrm>
              <a:off x="457200" y="2057400"/>
              <a:ext cx="8139548" cy="1775611"/>
              <a:chOff x="584454" y="2312595"/>
              <a:chExt cx="8139548" cy="1775611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CE4593F5-63C2-4DE3-913D-63F3323AB7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229" t="50476" r="-1068" b="10029"/>
              <a:stretch/>
            </p:blipFill>
            <p:spPr>
              <a:xfrm>
                <a:off x="584454" y="2362201"/>
                <a:ext cx="7975092" cy="1524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矩形 6">
                    <a:extLst>
                      <a:ext uri="{FF2B5EF4-FFF2-40B4-BE49-F238E27FC236}">
                        <a16:creationId xmlns:a16="http://schemas.microsoft.com/office/drawing/2014/main" id="{8083F673-8839-4D26-9AA3-CDFF41FB9371}"/>
                      </a:ext>
                    </a:extLst>
                  </p:cNvPr>
                  <p:cNvSpPr/>
                  <p:nvPr/>
                </p:nvSpPr>
                <p:spPr>
                  <a:xfrm>
                    <a:off x="3067176" y="3627445"/>
                    <a:ext cx="362472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7" name="矩形 6">
                    <a:extLst>
                      <a:ext uri="{FF2B5EF4-FFF2-40B4-BE49-F238E27FC236}">
                        <a16:creationId xmlns:a16="http://schemas.microsoft.com/office/drawing/2014/main" id="{8083F673-8839-4D26-9AA3-CDFF41FB937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7176" y="3627445"/>
                    <a:ext cx="362472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矩形 10">
                    <a:extLst>
                      <a:ext uri="{FF2B5EF4-FFF2-40B4-BE49-F238E27FC236}">
                        <a16:creationId xmlns:a16="http://schemas.microsoft.com/office/drawing/2014/main" id="{DE235D3A-0C5D-47CA-B564-B73742759042}"/>
                      </a:ext>
                    </a:extLst>
                  </p:cNvPr>
                  <p:cNvSpPr/>
                  <p:nvPr/>
                </p:nvSpPr>
                <p:spPr>
                  <a:xfrm>
                    <a:off x="5714353" y="3627445"/>
                    <a:ext cx="362472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1" name="矩形 10">
                    <a:extLst>
                      <a:ext uri="{FF2B5EF4-FFF2-40B4-BE49-F238E27FC236}">
                        <a16:creationId xmlns:a16="http://schemas.microsoft.com/office/drawing/2014/main" id="{DE235D3A-0C5D-47CA-B564-B7374275904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4353" y="3627445"/>
                    <a:ext cx="362472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EF3FA1EB-0D4E-432E-B41D-257EC7A98AAA}"/>
                      </a:ext>
                    </a:extLst>
                  </p:cNvPr>
                  <p:cNvSpPr/>
                  <p:nvPr/>
                </p:nvSpPr>
                <p:spPr>
                  <a:xfrm>
                    <a:off x="8361530" y="3557745"/>
                    <a:ext cx="362472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EF3FA1EB-0D4E-432E-B41D-257EC7A98A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61530" y="3557745"/>
                    <a:ext cx="362472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82A88176-59FD-44B2-BD53-B8F94A02AD57}"/>
                  </a:ext>
                </a:extLst>
              </p:cNvPr>
              <p:cNvSpPr/>
              <p:nvPr/>
            </p:nvSpPr>
            <p:spPr>
              <a:xfrm>
                <a:off x="6076825" y="2312595"/>
                <a:ext cx="287765" cy="15736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FD281D7-0E52-4C01-B820-D2579C76C276}"/>
                  </a:ext>
                </a:extLst>
              </p:cNvPr>
              <p:cNvSpPr/>
              <p:nvPr/>
            </p:nvSpPr>
            <p:spPr>
              <a:xfrm>
                <a:off x="3468145" y="2514600"/>
                <a:ext cx="287765" cy="15736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4D65366F-6879-4F2B-8000-8AC1779BC360}"/>
                  </a:ext>
                </a:extLst>
              </p:cNvPr>
              <p:cNvSpPr/>
              <p:nvPr/>
            </p:nvSpPr>
            <p:spPr>
              <a:xfrm>
                <a:off x="746262" y="2453949"/>
                <a:ext cx="362472" cy="15736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8C31BDC-CE34-4CB1-B9F3-98F2C8389910}"/>
                </a:ext>
              </a:extLst>
            </p:cNvPr>
            <p:cNvSpPr/>
            <p:nvPr/>
          </p:nvSpPr>
          <p:spPr>
            <a:xfrm>
              <a:off x="1989934" y="2145105"/>
              <a:ext cx="3810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72637D0-FC8F-4334-8098-664DA53640FA}"/>
                </a:ext>
              </a:extLst>
            </p:cNvPr>
            <p:cNvSpPr/>
            <p:nvPr/>
          </p:nvSpPr>
          <p:spPr>
            <a:xfrm>
              <a:off x="4528367" y="2145105"/>
              <a:ext cx="3810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A09CC9B-7FB8-4898-A7A3-D8680D360C67}"/>
                </a:ext>
              </a:extLst>
            </p:cNvPr>
            <p:cNvSpPr/>
            <p:nvPr/>
          </p:nvSpPr>
          <p:spPr>
            <a:xfrm>
              <a:off x="7230282" y="2087957"/>
              <a:ext cx="3810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77C89C81-B06A-4825-96F3-92FBFADCD16C}"/>
              </a:ext>
            </a:extLst>
          </p:cNvPr>
          <p:cNvSpPr txBox="1"/>
          <p:nvPr/>
        </p:nvSpPr>
        <p:spPr>
          <a:xfrm>
            <a:off x="1295400" y="4114800"/>
            <a:ext cx="264687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电容吸收能量：</a:t>
            </a:r>
            <a:r>
              <a:rPr lang="en-US" altLang="zh-CN" sz="1800" dirty="0"/>
              <a:t>0&lt; t &lt; t</a:t>
            </a:r>
            <a:r>
              <a:rPr lang="en-US" altLang="zh-CN" sz="1800" baseline="-25000" dirty="0"/>
              <a:t>m</a:t>
            </a:r>
          </a:p>
          <a:p>
            <a:r>
              <a:rPr lang="zh-CN" altLang="en-US" sz="1800" dirty="0"/>
              <a:t>电容释放能量：</a:t>
            </a:r>
            <a:r>
              <a:rPr lang="en-US" altLang="zh-CN" sz="1800" dirty="0"/>
              <a:t>t&gt; t</a:t>
            </a:r>
            <a:r>
              <a:rPr lang="en-US" altLang="zh-CN" sz="1800" baseline="-25000" dirty="0"/>
              <a:t>m</a:t>
            </a:r>
          </a:p>
          <a:p>
            <a:endParaRPr lang="en-US" altLang="zh-CN" sz="1800" baseline="-25000" dirty="0"/>
          </a:p>
          <a:p>
            <a:r>
              <a:rPr lang="zh-CN" altLang="en-US" sz="1800" dirty="0"/>
              <a:t>电感能量</a:t>
            </a:r>
            <a:endParaRPr lang="en-US" altLang="zh-CN" sz="1800" dirty="0"/>
          </a:p>
          <a:p>
            <a:r>
              <a:rPr lang="en-US" altLang="zh-CN" sz="1800" dirty="0"/>
              <a:t>0&lt; t &lt; t</a:t>
            </a:r>
            <a:r>
              <a:rPr lang="en-US" altLang="zh-CN" sz="1800" baseline="-25000" dirty="0"/>
              <a:t>m </a:t>
            </a:r>
            <a:r>
              <a:rPr lang="zh-CN" altLang="en-US" sz="1800" dirty="0"/>
              <a:t>释放，</a:t>
            </a:r>
            <a:endParaRPr lang="en-US" altLang="zh-CN" sz="1800" dirty="0"/>
          </a:p>
          <a:p>
            <a:r>
              <a:rPr lang="en-US" altLang="zh-CN" sz="1800" dirty="0"/>
              <a:t>t</a:t>
            </a:r>
            <a:r>
              <a:rPr lang="en-US" altLang="zh-CN" sz="1800" baseline="-25000" dirty="0"/>
              <a:t>m </a:t>
            </a:r>
            <a:r>
              <a:rPr lang="en-US" altLang="zh-CN" sz="1800" dirty="0"/>
              <a:t>&lt; t &lt; 2t</a:t>
            </a:r>
            <a:r>
              <a:rPr lang="en-US" altLang="zh-CN" sz="1800" baseline="-25000" dirty="0"/>
              <a:t>m</a:t>
            </a:r>
            <a:r>
              <a:rPr lang="zh-CN" altLang="en-US" sz="1800" dirty="0"/>
              <a:t>吸收</a:t>
            </a:r>
            <a:endParaRPr lang="en-US" altLang="zh-CN" sz="1800" dirty="0"/>
          </a:p>
          <a:p>
            <a:r>
              <a:rPr lang="en-US" altLang="zh-CN" sz="1800" dirty="0"/>
              <a:t>t &gt; 2t</a:t>
            </a:r>
            <a:r>
              <a:rPr lang="en-US" altLang="zh-CN" sz="1800" baseline="-25000" dirty="0"/>
              <a:t>m </a:t>
            </a:r>
            <a:r>
              <a:rPr lang="zh-CN" altLang="en-US" sz="1800" dirty="0"/>
              <a:t>释放</a:t>
            </a:r>
            <a:endParaRPr lang="en-US" altLang="zh-CN" sz="1800" dirty="0"/>
          </a:p>
          <a:p>
            <a:endParaRPr lang="zh-CN" altLang="en-US" sz="18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3DB162A-3186-416A-88A3-901E24A2733F}"/>
                  </a:ext>
                </a:extLst>
              </p:cNvPr>
              <p:cNvSpPr/>
              <p:nvPr/>
            </p:nvSpPr>
            <p:spPr>
              <a:xfrm>
                <a:off x="3673682" y="5759450"/>
                <a:ext cx="2942087" cy="4042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3DB162A-3186-416A-88A3-901E24A27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682" y="5759450"/>
                <a:ext cx="2942087" cy="404213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CB54857D-C309-426A-A49D-AE3855F29473}"/>
              </a:ext>
            </a:extLst>
          </p:cNvPr>
          <p:cNvSpPr/>
          <p:nvPr/>
        </p:nvSpPr>
        <p:spPr>
          <a:xfrm>
            <a:off x="1065002" y="3154696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m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03A552-D3E8-4764-ACBD-589B600755EA}"/>
              </a:ext>
            </a:extLst>
          </p:cNvPr>
          <p:cNvSpPr/>
          <p:nvPr/>
        </p:nvSpPr>
        <p:spPr>
          <a:xfrm>
            <a:off x="3689549" y="3456214"/>
            <a:ext cx="5405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2t</a:t>
            </a:r>
            <a:r>
              <a:rPr lang="en-US" altLang="zh-CN" baseline="-25000" dirty="0"/>
              <a:t>m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510CD99-7540-4995-88DC-D853C85F91F1}"/>
              </a:ext>
            </a:extLst>
          </p:cNvPr>
          <p:cNvSpPr txBox="1"/>
          <p:nvPr/>
        </p:nvSpPr>
        <p:spPr>
          <a:xfrm>
            <a:off x="781400" y="244823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87E726F-72E0-45FE-834C-37BEF755843C}"/>
              </a:ext>
            </a:extLst>
          </p:cNvPr>
          <p:cNvSpPr txBox="1"/>
          <p:nvPr/>
        </p:nvSpPr>
        <p:spPr>
          <a:xfrm>
            <a:off x="3385917" y="229750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B8307C9-8651-4301-9B4F-A92563F2E985}"/>
              </a:ext>
            </a:extLst>
          </p:cNvPr>
          <p:cNvSpPr txBox="1"/>
          <p:nvPr/>
        </p:nvSpPr>
        <p:spPr>
          <a:xfrm>
            <a:off x="6033093" y="251754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1972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F30164F-1454-427F-9641-A418D64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457901-7A25-4A23-B63E-E666F2DA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EE3D-9CB3-427B-805F-C9E05F62120E}" type="slidenum">
              <a:rPr lang="zh-CN" altLang="en-US" smtClean="0"/>
              <a:t>32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C7BD2F-3443-4531-9406-3929F5125A1A}"/>
                  </a:ext>
                </a:extLst>
              </p:cNvPr>
              <p:cNvSpPr txBox="1"/>
              <p:nvPr/>
            </p:nvSpPr>
            <p:spPr>
              <a:xfrm>
                <a:off x="533400" y="838200"/>
                <a:ext cx="3704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Underdamping (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FF0000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C7BD2F-3443-4531-9406-3929F512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838200"/>
                <a:ext cx="3704219" cy="461665"/>
              </a:xfrm>
              <a:prstGeom prst="rect">
                <a:avLst/>
              </a:prstGeom>
              <a:blipFill>
                <a:blip r:embed="rId2"/>
                <a:stretch>
                  <a:fillRect l="-2636" t="-9333" r="-164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CF7E31E-589C-45C7-A702-62C952E55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168110"/>
                  </p:ext>
                </p:extLst>
              </p:nvPr>
            </p:nvGraphicFramePr>
            <p:xfrm>
              <a:off x="508000" y="2590800"/>
              <a:ext cx="7905750" cy="25619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9834">
                      <a:extLst>
                        <a:ext uri="{9D8B030D-6E8A-4147-A177-3AD203B41FA5}">
                          <a16:colId xmlns:a16="http://schemas.microsoft.com/office/drawing/2014/main" val="2690933290"/>
                        </a:ext>
                      </a:extLst>
                    </a:gridCol>
                    <a:gridCol w="3733800">
                      <a:extLst>
                        <a:ext uri="{9D8B030D-6E8A-4147-A177-3AD203B41FA5}">
                          <a16:colId xmlns:a16="http://schemas.microsoft.com/office/drawing/2014/main" val="3848838086"/>
                        </a:ext>
                      </a:extLst>
                    </a:gridCol>
                    <a:gridCol w="3052116">
                      <a:extLst>
                        <a:ext uri="{9D8B030D-6E8A-4147-A177-3AD203B41FA5}">
                          <a16:colId xmlns:a16="http://schemas.microsoft.com/office/drawing/2014/main" val="32470568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577791"/>
                      </a:ext>
                    </a:extLst>
                  </a:tr>
                  <a:tr h="1964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CN" altLang="en-US" dirty="0"/>
                        </a:p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46472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9843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</m:func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235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CF7E31E-589C-45C7-A702-62C952E55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168110"/>
                  </p:ext>
                </p:extLst>
              </p:nvPr>
            </p:nvGraphicFramePr>
            <p:xfrm>
              <a:off x="508000" y="2590800"/>
              <a:ext cx="7905750" cy="25619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9834">
                      <a:extLst>
                        <a:ext uri="{9D8B030D-6E8A-4147-A177-3AD203B41FA5}">
                          <a16:colId xmlns:a16="http://schemas.microsoft.com/office/drawing/2014/main" val="2690933290"/>
                        </a:ext>
                      </a:extLst>
                    </a:gridCol>
                    <a:gridCol w="3733800">
                      <a:extLst>
                        <a:ext uri="{9D8B030D-6E8A-4147-A177-3AD203B41FA5}">
                          <a16:colId xmlns:a16="http://schemas.microsoft.com/office/drawing/2014/main" val="3848838086"/>
                        </a:ext>
                      </a:extLst>
                    </a:gridCol>
                    <a:gridCol w="3052116">
                      <a:extLst>
                        <a:ext uri="{9D8B030D-6E8A-4147-A177-3AD203B41FA5}">
                          <a16:colId xmlns:a16="http://schemas.microsoft.com/office/drawing/2014/main" val="32470568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9836" r="-82382" b="-5934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9836" r="-798" b="-5934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577791"/>
                      </a:ext>
                    </a:extLst>
                  </a:tr>
                  <a:tr h="89808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45270" r="-607609" b="-14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45270" r="-82382" b="-14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45270" r="-798" b="-1445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4647286"/>
                      </a:ext>
                    </a:extLst>
                  </a:tr>
                  <a:tr h="64617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202830" r="-607609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202830" r="-82382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202830" r="-798" b="-1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843863"/>
                      </a:ext>
                    </a:extLst>
                  </a:tr>
                  <a:tr h="6468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302830" r="-607609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302830" r="-82382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302830" r="-798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23553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BD23DE9-D029-42BE-9A4D-5633FAB153EE}"/>
              </a:ext>
            </a:extLst>
          </p:cNvPr>
          <p:cNvCxnSpPr/>
          <p:nvPr/>
        </p:nvCxnSpPr>
        <p:spPr>
          <a:xfrm flipV="1">
            <a:off x="4828234" y="3505200"/>
            <a:ext cx="762000" cy="76200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0E718CA-9A2F-49F7-B3D8-11CAE55563D0}"/>
              </a:ext>
            </a:extLst>
          </p:cNvPr>
          <p:cNvCxnSpPr>
            <a:cxnSpLocks/>
          </p:cNvCxnSpPr>
          <p:nvPr/>
        </p:nvCxnSpPr>
        <p:spPr>
          <a:xfrm flipV="1">
            <a:off x="4904434" y="4406900"/>
            <a:ext cx="609600" cy="46990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0671A61D-5A9B-4A63-8441-7E31E54B9045}"/>
                  </a:ext>
                </a:extLst>
              </p:cNvPr>
              <p:cNvSpPr/>
              <p:nvPr/>
            </p:nvSpPr>
            <p:spPr>
              <a:xfrm>
                <a:off x="1102437" y="5543451"/>
                <a:ext cx="3649827" cy="952697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)]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0671A61D-5A9B-4A63-8441-7E31E54B9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437" y="5543451"/>
                <a:ext cx="3649827" cy="952697"/>
              </a:xfrm>
              <a:prstGeom prst="rect">
                <a:avLst/>
              </a:prstGeom>
              <a:blipFill>
                <a:blip r:embed="rId4"/>
                <a:stretch>
                  <a:fillRect b="-503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" name="图片 86">
            <a:extLst>
              <a:ext uri="{FF2B5EF4-FFF2-40B4-BE49-F238E27FC236}">
                <a16:creationId xmlns:a16="http://schemas.microsoft.com/office/drawing/2014/main" id="{04BF7180-A3FD-4A2B-97B8-7F0B5274DC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47" t="46580" r="29995" b="35310"/>
          <a:stretch/>
        </p:blipFill>
        <p:spPr>
          <a:xfrm>
            <a:off x="5334000" y="5376297"/>
            <a:ext cx="3505101" cy="12546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36A89CD-EC79-4E97-9B69-E7A581C69CAE}"/>
                  </a:ext>
                </a:extLst>
              </p:cNvPr>
              <p:cNvSpPr/>
              <p:nvPr/>
            </p:nvSpPr>
            <p:spPr>
              <a:xfrm>
                <a:off x="508000" y="1392330"/>
                <a:ext cx="8559800" cy="718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zh-CN" dirty="0"/>
                  <a:t>, where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36A89CD-EC79-4E97-9B69-E7A581C69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1392330"/>
                <a:ext cx="8559800" cy="7186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383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5F7F6D5-D130-494C-80B6-CF34CA25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7CFF77-8252-4C6A-BB42-310B4EAF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6248400"/>
            <a:ext cx="2133600" cy="365125"/>
          </a:xfrm>
        </p:spPr>
        <p:txBody>
          <a:bodyPr/>
          <a:lstStyle/>
          <a:p>
            <a:fld id="{A768EE3D-9CB3-427B-805F-C9E05F62120E}" type="slidenum">
              <a:rPr lang="zh-CN" altLang="en-US" smtClean="0"/>
              <a:t>33</a:t>
            </a:fld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D69422B-C8F9-4033-B845-39B84FE17F8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2" t="3007" r="7255" b="48418"/>
          <a:stretch/>
        </p:blipFill>
        <p:spPr>
          <a:xfrm>
            <a:off x="685800" y="1524000"/>
            <a:ext cx="7620000" cy="2286031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F7E3FDE-2F8A-4CD3-9E70-6D4D47CDC9B5}"/>
              </a:ext>
            </a:extLst>
          </p:cNvPr>
          <p:cNvCxnSpPr/>
          <p:nvPr/>
        </p:nvCxnSpPr>
        <p:spPr>
          <a:xfrm>
            <a:off x="3827711" y="2000464"/>
            <a:ext cx="0" cy="792000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40B13B90-9550-4488-8417-98B7BED9D894}"/>
              </a:ext>
            </a:extLst>
          </p:cNvPr>
          <p:cNvSpPr/>
          <p:nvPr/>
        </p:nvSpPr>
        <p:spPr>
          <a:xfrm>
            <a:off x="3695035" y="2762768"/>
            <a:ext cx="3032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1600" dirty="0"/>
              <a:t>β</a:t>
            </a:r>
            <a:endParaRPr lang="zh-CN" altLang="en-US" sz="16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76B2C5-02DF-4D37-B1A3-F39F3E4A2F25}"/>
              </a:ext>
            </a:extLst>
          </p:cNvPr>
          <p:cNvSpPr/>
          <p:nvPr/>
        </p:nvSpPr>
        <p:spPr>
          <a:xfrm>
            <a:off x="1017693" y="2792464"/>
            <a:ext cx="4956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l-GR" altLang="zh-CN" sz="1600" dirty="0"/>
              <a:t>β</a:t>
            </a:r>
            <a:endParaRPr lang="zh-CN" altLang="en-US" sz="1600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0176771-86BA-4A99-B39F-D6A7B9348BD1}"/>
              </a:ext>
            </a:extLst>
          </p:cNvPr>
          <p:cNvCxnSpPr>
            <a:cxnSpLocks/>
          </p:cNvCxnSpPr>
          <p:nvPr/>
        </p:nvCxnSpPr>
        <p:spPr>
          <a:xfrm>
            <a:off x="6646737" y="2859972"/>
            <a:ext cx="0" cy="271046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295834D2-9F6A-404E-A1D0-A90F68AFBD13}"/>
              </a:ext>
            </a:extLst>
          </p:cNvPr>
          <p:cNvSpPr/>
          <p:nvPr/>
        </p:nvSpPr>
        <p:spPr>
          <a:xfrm>
            <a:off x="6456653" y="2427090"/>
            <a:ext cx="4171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2</a:t>
            </a:r>
            <a:r>
              <a:rPr lang="el-GR" altLang="zh-CN" sz="1600" dirty="0"/>
              <a:t>β</a:t>
            </a:r>
            <a:endParaRPr lang="zh-CN" altLang="en-US" sz="16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3792806-159D-47B2-AA00-4762044719B6}"/>
              </a:ext>
            </a:extLst>
          </p:cNvPr>
          <p:cNvSpPr/>
          <p:nvPr/>
        </p:nvSpPr>
        <p:spPr>
          <a:xfrm>
            <a:off x="3208434" y="1798800"/>
            <a:ext cx="324022" cy="1524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FB4367C-147A-4B02-A992-49F9F45E6BF8}"/>
              </a:ext>
            </a:extLst>
          </p:cNvPr>
          <p:cNvSpPr/>
          <p:nvPr/>
        </p:nvSpPr>
        <p:spPr>
          <a:xfrm>
            <a:off x="627333" y="1822545"/>
            <a:ext cx="324022" cy="1524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559D7FF-444F-4F55-92BC-78EC2FDCDB14}"/>
              </a:ext>
            </a:extLst>
          </p:cNvPr>
          <p:cNvSpPr/>
          <p:nvPr/>
        </p:nvSpPr>
        <p:spPr>
          <a:xfrm>
            <a:off x="5794462" y="1834367"/>
            <a:ext cx="324022" cy="1524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55AEF03-1D6C-4974-9661-0AAA4AA064BF}"/>
              </a:ext>
            </a:extLst>
          </p:cNvPr>
          <p:cNvSpPr/>
          <p:nvPr/>
        </p:nvSpPr>
        <p:spPr>
          <a:xfrm>
            <a:off x="1981200" y="1441450"/>
            <a:ext cx="324022" cy="351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EA5E6D-3566-4FD3-8096-17B4C37E9416}"/>
              </a:ext>
            </a:extLst>
          </p:cNvPr>
          <p:cNvSpPr/>
          <p:nvPr/>
        </p:nvSpPr>
        <p:spPr>
          <a:xfrm>
            <a:off x="4419600" y="1600200"/>
            <a:ext cx="457200" cy="22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EF3EEE-0214-4A8B-997A-DD3D8C1235C0}"/>
              </a:ext>
            </a:extLst>
          </p:cNvPr>
          <p:cNvSpPr/>
          <p:nvPr/>
        </p:nvSpPr>
        <p:spPr>
          <a:xfrm>
            <a:off x="7086600" y="1576455"/>
            <a:ext cx="457200" cy="22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C029C03-E52D-4F0D-8DFB-1C8D786CD925}"/>
                  </a:ext>
                </a:extLst>
              </p:cNvPr>
              <p:cNvSpPr txBox="1"/>
              <p:nvPr/>
            </p:nvSpPr>
            <p:spPr>
              <a:xfrm>
                <a:off x="457200" y="834482"/>
                <a:ext cx="47959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</a:rPr>
                  <a:t>Time course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0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C029C03-E52D-4F0D-8DFB-1C8D786CD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34482"/>
                <a:ext cx="4795993" cy="523220"/>
              </a:xfrm>
              <a:prstGeom prst="rect">
                <a:avLst/>
              </a:prstGeom>
              <a:blipFill>
                <a:blip r:embed="rId4"/>
                <a:stretch>
                  <a:fillRect l="-2541" t="-12791" r="-139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ECE83BF1-6D31-41C3-AA7F-C44A34D76AE8}"/>
              </a:ext>
            </a:extLst>
          </p:cNvPr>
          <p:cNvSpPr/>
          <p:nvPr/>
        </p:nvSpPr>
        <p:spPr>
          <a:xfrm>
            <a:off x="4099249" y="2396464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F365758-629C-4B28-83C3-C28D4CE78A57}"/>
              </a:ext>
            </a:extLst>
          </p:cNvPr>
          <p:cNvSpPr/>
          <p:nvPr/>
        </p:nvSpPr>
        <p:spPr>
          <a:xfrm>
            <a:off x="6176951" y="2848194"/>
            <a:ext cx="3032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1600" dirty="0"/>
              <a:t>β</a:t>
            </a:r>
            <a:endParaRPr lang="zh-CN" alt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464B06-52D5-437E-9373-1A3677E487D0}"/>
              </a:ext>
            </a:extLst>
          </p:cNvPr>
          <p:cNvSpPr txBox="1"/>
          <p:nvPr/>
        </p:nvSpPr>
        <p:spPr>
          <a:xfrm>
            <a:off x="724947" y="265991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CC88024-B894-41DA-B44B-870F1656D6F8}"/>
              </a:ext>
            </a:extLst>
          </p:cNvPr>
          <p:cNvSpPr txBox="1"/>
          <p:nvPr/>
        </p:nvSpPr>
        <p:spPr>
          <a:xfrm>
            <a:off x="3279812" y="258454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6F0CCAD-B144-491F-8BB1-B931CBCF6721}"/>
              </a:ext>
            </a:extLst>
          </p:cNvPr>
          <p:cNvSpPr txBox="1"/>
          <p:nvPr/>
        </p:nvSpPr>
        <p:spPr>
          <a:xfrm>
            <a:off x="5874591" y="265991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333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5F7F6D5-D130-494C-80B6-CF34CA25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7CFF77-8252-4C6A-BB42-310B4EAF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6248400"/>
            <a:ext cx="2133600" cy="365125"/>
          </a:xfrm>
        </p:spPr>
        <p:txBody>
          <a:bodyPr/>
          <a:lstStyle/>
          <a:p>
            <a:fld id="{A768EE3D-9CB3-427B-805F-C9E05F62120E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559D7FF-444F-4F55-92BC-78EC2FDCDB14}"/>
              </a:ext>
            </a:extLst>
          </p:cNvPr>
          <p:cNvSpPr/>
          <p:nvPr/>
        </p:nvSpPr>
        <p:spPr>
          <a:xfrm>
            <a:off x="5638800" y="1357702"/>
            <a:ext cx="324022" cy="1524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EF3EEE-0214-4A8B-997A-DD3D8C1235C0}"/>
              </a:ext>
            </a:extLst>
          </p:cNvPr>
          <p:cNvSpPr/>
          <p:nvPr/>
        </p:nvSpPr>
        <p:spPr>
          <a:xfrm>
            <a:off x="7086600" y="1576455"/>
            <a:ext cx="457200" cy="22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C029C03-E52D-4F0D-8DFB-1C8D786CD925}"/>
                  </a:ext>
                </a:extLst>
              </p:cNvPr>
              <p:cNvSpPr txBox="1"/>
              <p:nvPr/>
            </p:nvSpPr>
            <p:spPr>
              <a:xfrm>
                <a:off x="457200" y="834482"/>
                <a:ext cx="46793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</a:rPr>
                  <a:t>Time course when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0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C029C03-E52D-4F0D-8DFB-1C8D786CD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34482"/>
                <a:ext cx="4679358" cy="523220"/>
              </a:xfrm>
              <a:prstGeom prst="rect">
                <a:avLst/>
              </a:prstGeom>
              <a:blipFill>
                <a:blip r:embed="rId3"/>
                <a:stretch>
                  <a:fillRect l="-2604" t="-12791" r="-1432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0175BC30-36EC-40D3-90AE-CCFA7ED00F7B}"/>
              </a:ext>
            </a:extLst>
          </p:cNvPr>
          <p:cNvGrpSpPr/>
          <p:nvPr/>
        </p:nvGrpSpPr>
        <p:grpSpPr>
          <a:xfrm>
            <a:off x="530138" y="1428335"/>
            <a:ext cx="7620000" cy="2443278"/>
            <a:chOff x="762000" y="3798772"/>
            <a:chExt cx="7620000" cy="244327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FEA5E6D-3566-4FD3-8096-17B4C37E9416}"/>
                </a:ext>
              </a:extLst>
            </p:cNvPr>
            <p:cNvSpPr/>
            <p:nvPr/>
          </p:nvSpPr>
          <p:spPr>
            <a:xfrm>
              <a:off x="2076622" y="3927427"/>
              <a:ext cx="457200" cy="2223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5D01C82-E3D8-4172-9A4B-F1F5FCE21767}"/>
                </a:ext>
              </a:extLst>
            </p:cNvPr>
            <p:cNvGrpSpPr/>
            <p:nvPr/>
          </p:nvGrpSpPr>
          <p:grpSpPr>
            <a:xfrm>
              <a:off x="762000" y="3862750"/>
              <a:ext cx="7620000" cy="2379300"/>
              <a:chOff x="762000" y="3317372"/>
              <a:chExt cx="7620000" cy="2379300"/>
            </a:xfrm>
          </p:grpSpPr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1F35AE54-32F1-4ED7-9336-27AD7A9772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12" t="49443" r="7255"/>
              <a:stretch/>
            </p:blipFill>
            <p:spPr>
              <a:xfrm>
                <a:off x="762000" y="3317372"/>
                <a:ext cx="7620000" cy="2379300"/>
              </a:xfrm>
              <a:prstGeom prst="rect">
                <a:avLst/>
              </a:prstGeom>
            </p:spPr>
          </p:pic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DFB4367C-147A-4B02-A992-49F9F45E6BF8}"/>
                  </a:ext>
                </a:extLst>
              </p:cNvPr>
              <p:cNvSpPr/>
              <p:nvPr/>
            </p:nvSpPr>
            <p:spPr>
              <a:xfrm>
                <a:off x="762000" y="4114800"/>
                <a:ext cx="324022" cy="9906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3792806-159D-47B2-AA00-4762044719B6}"/>
                </a:ext>
              </a:extLst>
            </p:cNvPr>
            <p:cNvSpPr/>
            <p:nvPr/>
          </p:nvSpPr>
          <p:spPr>
            <a:xfrm>
              <a:off x="3276600" y="4038600"/>
              <a:ext cx="324022" cy="9007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5AC057E-67F6-462B-8B6B-DDB124853A1A}"/>
                </a:ext>
              </a:extLst>
            </p:cNvPr>
            <p:cNvSpPr/>
            <p:nvPr/>
          </p:nvSpPr>
          <p:spPr>
            <a:xfrm>
              <a:off x="3270422" y="5341348"/>
              <a:ext cx="324022" cy="9007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A6CB7D8D-85D1-46D9-954B-E752DF22273F}"/>
                </a:ext>
              </a:extLst>
            </p:cNvPr>
            <p:cNvSpPr/>
            <p:nvPr/>
          </p:nvSpPr>
          <p:spPr>
            <a:xfrm>
              <a:off x="5867400" y="3824650"/>
              <a:ext cx="324022" cy="9007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96AA486-6597-44EC-9143-1AD07F443FA1}"/>
                </a:ext>
              </a:extLst>
            </p:cNvPr>
            <p:cNvSpPr/>
            <p:nvPr/>
          </p:nvSpPr>
          <p:spPr>
            <a:xfrm>
              <a:off x="5794462" y="5191635"/>
              <a:ext cx="390782" cy="9007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C55AEF03-1D6C-4974-9661-0AAA4AA064BF}"/>
                </a:ext>
              </a:extLst>
            </p:cNvPr>
            <p:cNvSpPr/>
            <p:nvPr/>
          </p:nvSpPr>
          <p:spPr>
            <a:xfrm>
              <a:off x="2076622" y="3798772"/>
              <a:ext cx="324022" cy="35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A31D776E-5C14-4ACB-AD82-034267B68FBA}"/>
                </a:ext>
              </a:extLst>
            </p:cNvPr>
            <p:cNvSpPr/>
            <p:nvPr/>
          </p:nvSpPr>
          <p:spPr>
            <a:xfrm>
              <a:off x="4527550" y="3856400"/>
              <a:ext cx="324022" cy="35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A2BDFDA7-09FE-4288-8D76-2CB932A57907}"/>
                </a:ext>
              </a:extLst>
            </p:cNvPr>
            <p:cNvSpPr/>
            <p:nvPr/>
          </p:nvSpPr>
          <p:spPr>
            <a:xfrm>
              <a:off x="7153189" y="3824650"/>
              <a:ext cx="324022" cy="35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F7E3FDE-2F8A-4CD3-9E70-6D4D47CDC9B5}"/>
              </a:ext>
            </a:extLst>
          </p:cNvPr>
          <p:cNvCxnSpPr/>
          <p:nvPr/>
        </p:nvCxnSpPr>
        <p:spPr>
          <a:xfrm>
            <a:off x="1063538" y="2172865"/>
            <a:ext cx="0" cy="792000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40B13B90-9550-4488-8417-98B7BED9D894}"/>
              </a:ext>
            </a:extLst>
          </p:cNvPr>
          <p:cNvSpPr/>
          <p:nvPr/>
        </p:nvSpPr>
        <p:spPr>
          <a:xfrm>
            <a:off x="965492" y="1815261"/>
            <a:ext cx="3032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1600" dirty="0"/>
              <a:t>β</a:t>
            </a:r>
            <a:endParaRPr lang="zh-CN" altLang="en-US" sz="16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8784975-4B68-4597-BC7A-0AFA2949EE70}"/>
              </a:ext>
            </a:extLst>
          </p:cNvPr>
          <p:cNvSpPr/>
          <p:nvPr/>
        </p:nvSpPr>
        <p:spPr>
          <a:xfrm>
            <a:off x="3578139" y="2512686"/>
            <a:ext cx="3032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1600" dirty="0"/>
              <a:t>β</a:t>
            </a:r>
            <a:endParaRPr lang="zh-CN" altLang="en-US" sz="1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3A8D99-04F3-4812-8F9D-C7EBD0B4155A}"/>
              </a:ext>
            </a:extLst>
          </p:cNvPr>
          <p:cNvSpPr/>
          <p:nvPr/>
        </p:nvSpPr>
        <p:spPr>
          <a:xfrm>
            <a:off x="6321338" y="2615764"/>
            <a:ext cx="4171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2</a:t>
            </a:r>
            <a:r>
              <a:rPr lang="el-GR" altLang="zh-CN" sz="1600" dirty="0"/>
              <a:t>β</a:t>
            </a:r>
            <a:endParaRPr lang="zh-CN" altLang="en-US" sz="16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AF5CAD1-38C3-450A-B31F-7A64087A25D6}"/>
              </a:ext>
            </a:extLst>
          </p:cNvPr>
          <p:cNvSpPr/>
          <p:nvPr/>
        </p:nvSpPr>
        <p:spPr>
          <a:xfrm>
            <a:off x="3672876" y="3111064"/>
            <a:ext cx="4171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2</a:t>
            </a:r>
            <a:r>
              <a:rPr lang="el-GR" altLang="zh-CN" sz="1600" dirty="0"/>
              <a:t>β</a:t>
            </a:r>
            <a:endParaRPr lang="zh-CN" altLang="en-US" sz="1600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0A32BEF-80A9-4271-9E74-AF25D67438DE}"/>
              </a:ext>
            </a:extLst>
          </p:cNvPr>
          <p:cNvCxnSpPr>
            <a:cxnSpLocks/>
          </p:cNvCxnSpPr>
          <p:nvPr/>
        </p:nvCxnSpPr>
        <p:spPr>
          <a:xfrm>
            <a:off x="3856027" y="2851240"/>
            <a:ext cx="0" cy="340923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27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F30164F-1454-427F-9641-A418D64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457901-7A25-4A23-B63E-E666F2DA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EE3D-9CB3-427B-805F-C9E05F62120E}" type="slidenum">
              <a:rPr lang="zh-CN" altLang="en-US" smtClean="0"/>
              <a:t>35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C7BD2F-3443-4531-9406-3929F5125A1A}"/>
                  </a:ext>
                </a:extLst>
              </p:cNvPr>
              <p:cNvSpPr txBox="1"/>
              <p:nvPr/>
            </p:nvSpPr>
            <p:spPr>
              <a:xfrm>
                <a:off x="372268" y="710780"/>
                <a:ext cx="39414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Critical damping (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dirty="0">
                    <a:solidFill>
                      <a:srgbClr val="FF0000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C7BD2F-3443-4531-9406-3929F512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68" y="710780"/>
                <a:ext cx="3941464" cy="461665"/>
              </a:xfrm>
              <a:prstGeom prst="rect">
                <a:avLst/>
              </a:prstGeom>
              <a:blipFill>
                <a:blip r:embed="rId2"/>
                <a:stretch>
                  <a:fillRect l="-2318" t="-9333" r="-1391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CF7E31E-589C-45C7-A702-62C952E55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0391924"/>
                  </p:ext>
                </p:extLst>
              </p:nvPr>
            </p:nvGraphicFramePr>
            <p:xfrm>
              <a:off x="685800" y="2438400"/>
              <a:ext cx="7905750" cy="15073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9834">
                      <a:extLst>
                        <a:ext uri="{9D8B030D-6E8A-4147-A177-3AD203B41FA5}">
                          <a16:colId xmlns:a16="http://schemas.microsoft.com/office/drawing/2014/main" val="2690933290"/>
                        </a:ext>
                      </a:extLst>
                    </a:gridCol>
                    <a:gridCol w="3733800">
                      <a:extLst>
                        <a:ext uri="{9D8B030D-6E8A-4147-A177-3AD203B41FA5}">
                          <a16:colId xmlns:a16="http://schemas.microsoft.com/office/drawing/2014/main" val="3848838086"/>
                        </a:ext>
                      </a:extLst>
                    </a:gridCol>
                    <a:gridCol w="3052116">
                      <a:extLst>
                        <a:ext uri="{9D8B030D-6E8A-4147-A177-3AD203B41FA5}">
                          <a16:colId xmlns:a16="http://schemas.microsoft.com/office/drawing/2014/main" val="32470568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577791"/>
                      </a:ext>
                    </a:extLst>
                  </a:tr>
                  <a:tr h="1964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46472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9843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en-US" altLang="zh-CN" b="0" i="1" baseline="30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baseline="0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(2−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2355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CF7E31E-589C-45C7-A702-62C952E55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0391924"/>
                  </p:ext>
                </p:extLst>
              </p:nvPr>
            </p:nvGraphicFramePr>
            <p:xfrm>
              <a:off x="685800" y="2438400"/>
              <a:ext cx="7905750" cy="15073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9834">
                      <a:extLst>
                        <a:ext uri="{9D8B030D-6E8A-4147-A177-3AD203B41FA5}">
                          <a16:colId xmlns:a16="http://schemas.microsoft.com/office/drawing/2014/main" val="2690933290"/>
                        </a:ext>
                      </a:extLst>
                    </a:gridCol>
                    <a:gridCol w="3733800">
                      <a:extLst>
                        <a:ext uri="{9D8B030D-6E8A-4147-A177-3AD203B41FA5}">
                          <a16:colId xmlns:a16="http://schemas.microsoft.com/office/drawing/2014/main" val="3848838086"/>
                        </a:ext>
                      </a:extLst>
                    </a:gridCol>
                    <a:gridCol w="3052116">
                      <a:extLst>
                        <a:ext uri="{9D8B030D-6E8A-4147-A177-3AD203B41FA5}">
                          <a16:colId xmlns:a16="http://schemas.microsoft.com/office/drawing/2014/main" val="32470568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9836" r="-8238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9836" r="-798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577791"/>
                      </a:ext>
                    </a:extLst>
                  </a:tr>
                  <a:tr h="37884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108065" r="-607609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108065" r="-82382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108065" r="-798" b="-2177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4647286"/>
                      </a:ext>
                    </a:extLst>
                  </a:tr>
                  <a:tr h="37884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204762" r="-607609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204762" r="-82382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204762" r="-798" b="-1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843863"/>
                      </a:ext>
                    </a:extLst>
                  </a:tr>
                  <a:tr h="37884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43" t="-309677" r="-607609" b="-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179" t="-309677" r="-82382" b="-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281" t="-309677" r="-798" b="-16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23553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BD23DE9-D029-42BE-9A4D-5633FAB153EE}"/>
              </a:ext>
            </a:extLst>
          </p:cNvPr>
          <p:cNvCxnSpPr>
            <a:cxnSpLocks/>
          </p:cNvCxnSpPr>
          <p:nvPr/>
        </p:nvCxnSpPr>
        <p:spPr>
          <a:xfrm flipV="1">
            <a:off x="4800600" y="3338132"/>
            <a:ext cx="838200" cy="45262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0E718CA-9A2F-49F7-B3D8-11CAE55563D0}"/>
              </a:ext>
            </a:extLst>
          </p:cNvPr>
          <p:cNvCxnSpPr>
            <a:cxnSpLocks/>
          </p:cNvCxnSpPr>
          <p:nvPr/>
        </p:nvCxnSpPr>
        <p:spPr>
          <a:xfrm flipV="1">
            <a:off x="4203700" y="2971800"/>
            <a:ext cx="1282700" cy="424184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AA7A0BB-4BF3-4626-B634-BF505FDBD120}"/>
                  </a:ext>
                </a:extLst>
              </p:cNvPr>
              <p:cNvSpPr/>
              <p:nvPr/>
            </p:nvSpPr>
            <p:spPr>
              <a:xfrm>
                <a:off x="1004507" y="1172445"/>
                <a:ext cx="8765054" cy="72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AA7A0BB-4BF3-4626-B634-BF505FDBD1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507" y="1172445"/>
                <a:ext cx="8765054" cy="722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73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5F7F6D5-D130-494C-80B6-CF34CA25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7CFF77-8252-4C6A-BB42-310B4EAF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84370" y="5105400"/>
            <a:ext cx="2133600" cy="365125"/>
          </a:xfrm>
        </p:spPr>
        <p:txBody>
          <a:bodyPr/>
          <a:lstStyle/>
          <a:p>
            <a:fld id="{A768EE3D-9CB3-427B-805F-C9E05F62120E}" type="slidenum">
              <a:rPr lang="zh-CN" altLang="en-US" smtClean="0"/>
              <a:t>36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5F8074-335C-477B-BAB6-F63F2BA7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94" y="2362200"/>
            <a:ext cx="2686317" cy="17960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6A54277-6BFF-4542-A20A-48B211DE7A2C}"/>
              </a:ext>
            </a:extLst>
          </p:cNvPr>
          <p:cNvSpPr txBox="1"/>
          <p:nvPr/>
        </p:nvSpPr>
        <p:spPr>
          <a:xfrm>
            <a:off x="6350" y="2022623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U</a:t>
            </a:r>
            <a:r>
              <a:rPr lang="en-US" altLang="zh-CN" baseline="-25000" dirty="0" err="1"/>
              <a:t>c</a:t>
            </a:r>
            <a:endParaRPr lang="zh-CN" altLang="en-US" baseline="-25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B8C6F1-5263-4217-933A-55E97EB661EE}"/>
              </a:ext>
            </a:extLst>
          </p:cNvPr>
          <p:cNvSpPr txBox="1"/>
          <p:nvPr/>
        </p:nvSpPr>
        <p:spPr>
          <a:xfrm>
            <a:off x="2854342" y="3958230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725C6E5-BD65-43C6-BFE2-B7C4ACA8243F}"/>
              </a:ext>
            </a:extLst>
          </p:cNvPr>
          <p:cNvSpPr txBox="1"/>
          <p:nvPr/>
        </p:nvSpPr>
        <p:spPr>
          <a:xfrm>
            <a:off x="73075" y="367193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8AF21547-2887-4806-BE95-6FEF3BB365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66" b="23914"/>
          <a:stretch/>
        </p:blipFill>
        <p:spPr>
          <a:xfrm>
            <a:off x="3192241" y="2418117"/>
            <a:ext cx="2785556" cy="1798050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935A8437-B685-439B-B1D6-4B39EA2FD3FB}"/>
              </a:ext>
            </a:extLst>
          </p:cNvPr>
          <p:cNvSpPr txBox="1"/>
          <p:nvPr/>
        </p:nvSpPr>
        <p:spPr>
          <a:xfrm>
            <a:off x="5580771" y="4035083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6AF1E2CA-032E-4124-B050-0174DD762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612" y="2365507"/>
            <a:ext cx="2649502" cy="1792777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538AF519-FC0A-48C7-BADB-119865546217}"/>
              </a:ext>
            </a:extLst>
          </p:cNvPr>
          <p:cNvSpPr txBox="1"/>
          <p:nvPr/>
        </p:nvSpPr>
        <p:spPr>
          <a:xfrm>
            <a:off x="3048260" y="2098601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FA3308C-95D3-425A-805F-B2E9C5922EA2}"/>
              </a:ext>
            </a:extLst>
          </p:cNvPr>
          <p:cNvSpPr txBox="1"/>
          <p:nvPr/>
        </p:nvSpPr>
        <p:spPr>
          <a:xfrm>
            <a:off x="5740392" y="1930340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E5DBDBB-0B97-4B38-AC64-95FE8245883B}"/>
              </a:ext>
            </a:extLst>
          </p:cNvPr>
          <p:cNvSpPr txBox="1"/>
          <p:nvPr/>
        </p:nvSpPr>
        <p:spPr>
          <a:xfrm>
            <a:off x="8719073" y="3888629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9E119FB-2091-45C3-828D-00B7B588511F}"/>
              </a:ext>
            </a:extLst>
          </p:cNvPr>
          <p:cNvSpPr txBox="1"/>
          <p:nvPr/>
        </p:nvSpPr>
        <p:spPr>
          <a:xfrm>
            <a:off x="5776115" y="362723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926FAD8-1C01-43A0-BDCB-DAC76A100C37}"/>
              </a:ext>
            </a:extLst>
          </p:cNvPr>
          <p:cNvSpPr txBox="1"/>
          <p:nvPr/>
        </p:nvSpPr>
        <p:spPr>
          <a:xfrm>
            <a:off x="2907868" y="375817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F9FAAAF-3CC1-4424-8412-A0FDA1FE3C8F}"/>
                  </a:ext>
                </a:extLst>
              </p:cNvPr>
              <p:cNvSpPr/>
              <p:nvPr/>
            </p:nvSpPr>
            <p:spPr>
              <a:xfrm>
                <a:off x="152400" y="1100531"/>
                <a:ext cx="479599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</a:rPr>
                  <a:t>Time course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0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F9FAAAF-3CC1-4424-8412-A0FDA1FE3C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00531"/>
                <a:ext cx="4795993" cy="523220"/>
              </a:xfrm>
              <a:prstGeom prst="rect">
                <a:avLst/>
              </a:prstGeom>
              <a:blipFill>
                <a:blip r:embed="rId5"/>
                <a:stretch>
                  <a:fillRect l="-2541" t="-12941" r="-1398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3EE2CDB-07BD-4E43-8517-F3B8B69D10FB}"/>
              </a:ext>
            </a:extLst>
          </p:cNvPr>
          <p:cNvCxnSpPr>
            <a:cxnSpLocks/>
          </p:cNvCxnSpPr>
          <p:nvPr/>
        </p:nvCxnSpPr>
        <p:spPr>
          <a:xfrm>
            <a:off x="3384000" y="2704289"/>
            <a:ext cx="0" cy="1122998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93388FB-51EF-45C4-A624-41BBBFF46ACB}"/>
                  </a:ext>
                </a:extLst>
              </p:cNvPr>
              <p:cNvSpPr/>
              <p:nvPr/>
            </p:nvSpPr>
            <p:spPr>
              <a:xfrm>
                <a:off x="3274170" y="4107734"/>
                <a:ext cx="403059" cy="670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93388FB-51EF-45C4-A624-41BBBFF46A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170" y="4107734"/>
                <a:ext cx="403059" cy="670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288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5F7F6D5-D130-494C-80B6-CF34CA25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7CFF77-8252-4C6A-BB42-310B4EAF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000" y="6248400"/>
            <a:ext cx="2133600" cy="365125"/>
          </a:xfrm>
        </p:spPr>
        <p:txBody>
          <a:bodyPr/>
          <a:lstStyle/>
          <a:p>
            <a:fld id="{A768EE3D-9CB3-427B-805F-C9E05F62120E}" type="slidenum">
              <a:rPr lang="zh-CN" altLang="en-US" smtClean="0"/>
              <a:t>37</a:t>
            </a:fld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D5036D7-EBDF-4F0C-A693-429750874E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14"/>
          <a:stretch/>
        </p:blipFill>
        <p:spPr>
          <a:xfrm>
            <a:off x="682764" y="2057400"/>
            <a:ext cx="7274380" cy="2044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E002FFC-2187-4020-ACAE-2773E4DEE516}"/>
                  </a:ext>
                </a:extLst>
              </p:cNvPr>
              <p:cNvSpPr txBox="1"/>
              <p:nvPr/>
            </p:nvSpPr>
            <p:spPr>
              <a:xfrm>
                <a:off x="304800" y="990600"/>
                <a:ext cx="46793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</a:rPr>
                  <a:t>Time course when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0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E002FFC-2187-4020-ACAE-2773E4DE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90600"/>
                <a:ext cx="4679358" cy="523220"/>
              </a:xfrm>
              <a:prstGeom prst="rect">
                <a:avLst/>
              </a:prstGeom>
              <a:blipFill>
                <a:blip r:embed="rId4"/>
                <a:stretch>
                  <a:fillRect l="-2604" t="-12941" r="-1432" b="-3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776A784A-9A8F-4285-9925-02633DEDDAF9}"/>
                  </a:ext>
                </a:extLst>
              </p:cNvPr>
              <p:cNvSpPr/>
              <p:nvPr/>
            </p:nvSpPr>
            <p:spPr>
              <a:xfrm>
                <a:off x="3578364" y="3733800"/>
                <a:ext cx="403059" cy="670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776A784A-9A8F-4285-9925-02633DEDDA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364" y="3733800"/>
                <a:ext cx="403059" cy="670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2B405A-2B66-4904-A268-D5D32F76B970}"/>
                  </a:ext>
                </a:extLst>
              </p:cNvPr>
              <p:cNvSpPr/>
              <p:nvPr/>
            </p:nvSpPr>
            <p:spPr>
              <a:xfrm>
                <a:off x="1063764" y="3657600"/>
                <a:ext cx="403059" cy="670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2B405A-2B66-4904-A268-D5D32F76B9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64" y="3657600"/>
                <a:ext cx="403059" cy="670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50303C4-3892-439D-8297-59EE1AF4955F}"/>
              </a:ext>
            </a:extLst>
          </p:cNvPr>
          <p:cNvCxnSpPr>
            <a:cxnSpLocks/>
          </p:cNvCxnSpPr>
          <p:nvPr/>
        </p:nvCxnSpPr>
        <p:spPr>
          <a:xfrm flipH="1">
            <a:off x="1199964" y="3409800"/>
            <a:ext cx="0" cy="252000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BE1B880-091E-4D1A-84DC-2A5CCB810DF4}"/>
              </a:ext>
            </a:extLst>
          </p:cNvPr>
          <p:cNvCxnSpPr>
            <a:cxnSpLocks/>
          </p:cNvCxnSpPr>
          <p:nvPr/>
        </p:nvCxnSpPr>
        <p:spPr>
          <a:xfrm>
            <a:off x="3730764" y="3505200"/>
            <a:ext cx="0" cy="152400"/>
          </a:xfrm>
          <a:prstGeom prst="line">
            <a:avLst/>
          </a:prstGeom>
          <a:ln w="254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273A3AB-7018-4B60-A2D1-13F38C890177}"/>
              </a:ext>
            </a:extLst>
          </p:cNvPr>
          <p:cNvSpPr/>
          <p:nvPr/>
        </p:nvSpPr>
        <p:spPr>
          <a:xfrm>
            <a:off x="530364" y="2286000"/>
            <a:ext cx="533354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8F4C48-909E-4E63-8846-007C85D5D3A3}"/>
              </a:ext>
            </a:extLst>
          </p:cNvPr>
          <p:cNvSpPr/>
          <p:nvPr/>
        </p:nvSpPr>
        <p:spPr>
          <a:xfrm>
            <a:off x="3175259" y="2362200"/>
            <a:ext cx="3048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58E8B43-4013-49FA-AB29-4386BBB1C3CC}"/>
              </a:ext>
            </a:extLst>
          </p:cNvPr>
          <p:cNvSpPr/>
          <p:nvPr/>
        </p:nvSpPr>
        <p:spPr>
          <a:xfrm>
            <a:off x="5591600" y="2486943"/>
            <a:ext cx="334969" cy="1246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DE26759-4AD4-48F5-97A1-9ACC0F062B6B}"/>
              </a:ext>
            </a:extLst>
          </p:cNvPr>
          <p:cNvSpPr/>
          <p:nvPr/>
        </p:nvSpPr>
        <p:spPr>
          <a:xfrm>
            <a:off x="2058707" y="1837843"/>
            <a:ext cx="403471" cy="487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7DC94C3-E5B7-44B7-8A01-9E73D458B77F}"/>
              </a:ext>
            </a:extLst>
          </p:cNvPr>
          <p:cNvSpPr/>
          <p:nvPr/>
        </p:nvSpPr>
        <p:spPr>
          <a:xfrm>
            <a:off x="4340364" y="1905000"/>
            <a:ext cx="403471" cy="487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22F1128-83EF-42DD-A24F-7755353CAD23}"/>
              </a:ext>
            </a:extLst>
          </p:cNvPr>
          <p:cNvSpPr/>
          <p:nvPr/>
        </p:nvSpPr>
        <p:spPr>
          <a:xfrm>
            <a:off x="6931164" y="1874838"/>
            <a:ext cx="403471" cy="487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600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3 (both v(0) and v’(0) nonzero)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Find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dirty="0"/>
                  <a:t> &amp;</a:t>
                </a:r>
                <a:r>
                  <a:rPr lang="en-US" altLang="zh-CN" i="1" dirty="0"/>
                  <a:t>i(t)</a:t>
                </a:r>
                <a:r>
                  <a:rPr lang="en-US" altLang="zh-CN" dirty="0"/>
                  <a:t> in the circuit below. Assume the circuit has reached steady state 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zh-CN" dirty="0"/>
                  <a:t>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t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pic>
        <p:nvPicPr>
          <p:cNvPr id="5" name="Picture 2" descr="ale80571_08_01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2362200"/>
            <a:ext cx="4191000" cy="23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B7996FC9-5873-47E8-B2A2-71DACC90FE25}"/>
              </a:ext>
            </a:extLst>
          </p:cNvPr>
          <p:cNvGrpSpPr/>
          <p:nvPr/>
        </p:nvGrpSpPr>
        <p:grpSpPr>
          <a:xfrm>
            <a:off x="762000" y="3200400"/>
            <a:ext cx="8142864" cy="2919153"/>
            <a:chOff x="762000" y="3200400"/>
            <a:chExt cx="8142864" cy="2919153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4049214-0666-4909-8CE4-0044BF14C523}"/>
                </a:ext>
              </a:extLst>
            </p:cNvPr>
            <p:cNvGrpSpPr/>
            <p:nvPr/>
          </p:nvGrpSpPr>
          <p:grpSpPr>
            <a:xfrm>
              <a:off x="762000" y="4959309"/>
              <a:ext cx="8142864" cy="1160244"/>
              <a:chOff x="762000" y="4959309"/>
              <a:chExt cx="8142864" cy="11602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7">
                    <a:extLst>
                      <a:ext uri="{FF2B5EF4-FFF2-40B4-BE49-F238E27FC236}">
                        <a16:creationId xmlns:a16="http://schemas.microsoft.com/office/drawing/2014/main" id="{7A94AA9B-DEFB-4158-B54C-9C1C0672089F}"/>
                      </a:ext>
                    </a:extLst>
                  </p:cNvPr>
                  <p:cNvSpPr txBox="1"/>
                  <p:nvPr/>
                </p:nvSpPr>
                <p:spPr>
                  <a:xfrm>
                    <a:off x="810728" y="4992980"/>
                    <a:ext cx="1774717" cy="4354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=9</m:t>
                        </m:r>
                      </m:oMath>
                    </a14:m>
                    <a:r>
                      <a:rPr lang="zh-CN" altLang="en-US" dirty="0"/>
                      <a:t> </a:t>
                    </a:r>
                    <a:r>
                      <a:rPr lang="en-US" altLang="zh-CN" dirty="0"/>
                      <a:t>Np/s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" name="TextBox 7">
                    <a:extLst>
                      <a:ext uri="{FF2B5EF4-FFF2-40B4-BE49-F238E27FC236}">
                        <a16:creationId xmlns:a16="http://schemas.microsoft.com/office/drawing/2014/main" id="{7A94AA9B-DEFB-4158-B54C-9C1C067208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728" y="4992980"/>
                    <a:ext cx="1774717" cy="43544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155" t="-4225" r="-7216" b="-2112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8">
                    <a:extLst>
                      <a:ext uri="{FF2B5EF4-FFF2-40B4-BE49-F238E27FC236}">
                        <a16:creationId xmlns:a16="http://schemas.microsoft.com/office/drawing/2014/main" id="{E5C644AC-3A44-48C6-9F67-A1FB6E53EC5E}"/>
                      </a:ext>
                    </a:extLst>
                  </p:cNvPr>
                  <p:cNvSpPr txBox="1"/>
                  <p:nvPr/>
                </p:nvSpPr>
                <p:spPr>
                  <a:xfrm>
                    <a:off x="2988177" y="4959309"/>
                    <a:ext cx="2247795" cy="45339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rad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=10</m:t>
                        </m:r>
                      </m:oMath>
                    </a14:m>
                    <a:r>
                      <a:rPr lang="zh-CN" altLang="en-US" dirty="0"/>
                      <a:t> </a:t>
                    </a:r>
                    <a:r>
                      <a:rPr lang="en-US" altLang="zh-CN" dirty="0"/>
                      <a:t>rad/s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7" name="TextBox 8">
                    <a:extLst>
                      <a:ext uri="{FF2B5EF4-FFF2-40B4-BE49-F238E27FC236}">
                        <a16:creationId xmlns:a16="http://schemas.microsoft.com/office/drawing/2014/main" id="{E5C644AC-3A44-48C6-9F67-A1FB6E53EC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8177" y="4959309"/>
                    <a:ext cx="2247795" cy="45339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710" t="-4054" r="-5691" b="-1486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8">
                    <a:extLst>
                      <a:ext uri="{FF2B5EF4-FFF2-40B4-BE49-F238E27FC236}">
                        <a16:creationId xmlns:a16="http://schemas.microsoft.com/office/drawing/2014/main" id="{85EE995E-E8BC-4B64-8C95-FA61921B6638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0" y="5493228"/>
                    <a:ext cx="3207032" cy="62632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=4.359</m:t>
                        </m:r>
                      </m:oMath>
                    </a14:m>
                    <a:r>
                      <a:rPr lang="zh-CN" altLang="en-US" dirty="0"/>
                      <a:t> </a:t>
                    </a:r>
                    <a:r>
                      <a:rPr lang="en-US" altLang="zh-CN" dirty="0"/>
                      <a:t>rad/s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8" name="TextBox 8">
                    <a:extLst>
                      <a:ext uri="{FF2B5EF4-FFF2-40B4-BE49-F238E27FC236}">
                        <a16:creationId xmlns:a16="http://schemas.microsoft.com/office/drawing/2014/main" id="{85EE995E-E8BC-4B64-8C95-FA61921B66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" y="5493228"/>
                    <a:ext cx="3207032" cy="6263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612" b="-291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136DF57-249F-4175-8C96-3A67BB025D82}"/>
                      </a:ext>
                    </a:extLst>
                  </p:cNvPr>
                  <p:cNvSpPr txBox="1"/>
                  <p:nvPr/>
                </p:nvSpPr>
                <p:spPr>
                  <a:xfrm>
                    <a:off x="4165231" y="5600436"/>
                    <a:ext cx="2250168" cy="41190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atan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)=</m:t>
                        </m:r>
                      </m:oMath>
                    </a14:m>
                    <a:r>
                      <a:rPr lang="en-US" altLang="zh-CN" dirty="0"/>
                      <a:t>0.451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136DF57-249F-4175-8C96-3A67BB025D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5231" y="5600436"/>
                    <a:ext cx="2250168" cy="41190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149" t="-10448" r="-5962" b="-208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9F41340-B865-4E8D-84D3-3224DB18E13D}"/>
                  </a:ext>
                </a:extLst>
              </p:cNvPr>
              <p:cNvSpPr txBox="1"/>
              <p:nvPr/>
            </p:nvSpPr>
            <p:spPr>
              <a:xfrm>
                <a:off x="5828381" y="4974871"/>
                <a:ext cx="30764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Therefore, underdamping</a:t>
                </a:r>
                <a:endParaRPr lang="zh-CN" altLang="en-US" dirty="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2936060-6BB6-4D78-A64F-65FEE6C385D0}"/>
                </a:ext>
              </a:extLst>
            </p:cNvPr>
            <p:cNvSpPr txBox="1"/>
            <p:nvPr/>
          </p:nvSpPr>
          <p:spPr>
            <a:xfrm>
              <a:off x="5486400" y="3200400"/>
              <a:ext cx="315189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v(0) = 6 V</a:t>
              </a:r>
            </a:p>
            <a:p>
              <a:r>
                <a:rPr lang="en-US" altLang="zh-CN" dirty="0"/>
                <a:t>v’(0) =-</a:t>
              </a:r>
              <a:r>
                <a:rPr lang="en-US" altLang="zh-CN" dirty="0" err="1"/>
                <a:t>i</a:t>
              </a:r>
              <a:r>
                <a:rPr lang="en-US" altLang="zh-CN" dirty="0"/>
                <a:t>(0)/C= -1A/0.02 F = -50 V/s 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2829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770E1A7-D5CA-439F-B002-ECEA0C6DF3FB}"/>
                  </a:ext>
                </a:extLst>
              </p:cNvPr>
              <p:cNvSpPr/>
              <p:nvPr/>
            </p:nvSpPr>
            <p:spPr>
              <a:xfrm>
                <a:off x="381000" y="1676400"/>
                <a:ext cx="8144924" cy="37370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线性系统的可叠加性：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is the sum of responses to initial conditions </a:t>
                </a:r>
              </a:p>
              <a:p>
                <a:r>
                  <a:rPr lang="en-US" altLang="zh-CN" dirty="0"/>
                  <a:t>[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dirty="0"/>
                  <a:t>,0] (</a:t>
                </a:r>
                <a:r>
                  <a:rPr lang="zh-CN" altLang="en-US" dirty="0"/>
                  <a:t>电容放电</a:t>
                </a:r>
                <a:r>
                  <a:rPr lang="en-US" altLang="zh-CN" dirty="0"/>
                  <a:t>) and [0,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电感消磁</a:t>
                </a:r>
                <a:r>
                  <a:rPr lang="en-US" altLang="zh-CN" dirty="0"/>
                  <a:t>). 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770E1A7-D5CA-439F-B002-ECEA0C6DF3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76400"/>
                <a:ext cx="8144924" cy="3737049"/>
              </a:xfrm>
              <a:prstGeom prst="rect">
                <a:avLst/>
              </a:prstGeom>
              <a:blipFill>
                <a:blip r:embed="rId2"/>
                <a:stretch>
                  <a:fillRect l="-8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5803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86A27-9DC0-423F-82C9-BDA2DCFA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 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串联电路的自然响应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阻尼特性：欠，过，临界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初始条件：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 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或</m:t>
                        </m:r>
                        <m:r>
                          <a:rPr lang="en-US" altLang="zh-CN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RLC</a:t>
                </a:r>
                <a:r>
                  <a:rPr lang="zh-CN" altLang="en-US" dirty="0"/>
                  <a:t>串联电路的阶跃响应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RLC</a:t>
                </a:r>
                <a:r>
                  <a:rPr lang="zh-CN" altLang="en-US" dirty="0"/>
                  <a:t>串联电路的全响应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其它二阶电路的分析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冲击响应的分析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  <a:blipFill>
                <a:blip r:embed="rId2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1A0A56-36BF-447B-BA2C-9FC0A4A643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F3F0DB-B53F-47F0-9FB1-6E972764732A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995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Step response</a:t>
            </a:r>
          </a:p>
        </p:txBody>
      </p:sp>
      <p:pic>
        <p:nvPicPr>
          <p:cNvPr id="6" name="Picture 5" descr="6-3.tif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63" b="24074"/>
          <a:stretch/>
        </p:blipFill>
        <p:spPr>
          <a:xfrm>
            <a:off x="685800" y="1447800"/>
            <a:ext cx="3602509" cy="1371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A551D3C-67FB-4FCF-972F-ABCE7614E3EA}"/>
                  </a:ext>
                </a:extLst>
              </p:cNvPr>
              <p:cNvSpPr/>
              <p:nvPr/>
            </p:nvSpPr>
            <p:spPr>
              <a:xfrm>
                <a:off x="4855693" y="1281926"/>
                <a:ext cx="3450107" cy="1292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𝐿𝐶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A551D3C-67FB-4FCF-972F-ABCE7614E3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693" y="1281926"/>
                <a:ext cx="3450107" cy="12922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CC124007-BB73-4D0C-A520-768C294744F6}"/>
              </a:ext>
            </a:extLst>
          </p:cNvPr>
          <p:cNvSpPr txBox="1"/>
          <p:nvPr/>
        </p:nvSpPr>
        <p:spPr>
          <a:xfrm>
            <a:off x="3810000" y="1827672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B8B6F3-D9B4-478E-BE53-215DFF559AAA}"/>
              </a:ext>
            </a:extLst>
          </p:cNvPr>
          <p:cNvSpPr txBox="1"/>
          <p:nvPr/>
        </p:nvSpPr>
        <p:spPr>
          <a:xfrm>
            <a:off x="3842060" y="2142995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8B1368E-2367-4780-A41A-896A7A900C4F}"/>
                  </a:ext>
                </a:extLst>
              </p:cNvPr>
              <p:cNvSpPr/>
              <p:nvPr/>
            </p:nvSpPr>
            <p:spPr>
              <a:xfrm>
                <a:off x="3947955" y="1985334"/>
                <a:ext cx="42364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8B1368E-2367-4780-A41A-896A7A900C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955" y="1985334"/>
                <a:ext cx="42364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B06A267-F928-4467-937D-E2E8A0BA0B9A}"/>
              </a:ext>
            </a:extLst>
          </p:cNvPr>
          <p:cNvCxnSpPr>
            <a:cxnSpLocks/>
          </p:cNvCxnSpPr>
          <p:nvPr/>
        </p:nvCxnSpPr>
        <p:spPr>
          <a:xfrm>
            <a:off x="2819400" y="2057400"/>
            <a:ext cx="468000" cy="0"/>
          </a:xfrm>
          <a:prstGeom prst="line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489CB6B-78F7-4F33-BBA4-9CDD19DCB45A}"/>
                  </a:ext>
                </a:extLst>
              </p:cNvPr>
              <p:cNvSpPr/>
              <p:nvPr/>
            </p:nvSpPr>
            <p:spPr>
              <a:xfrm>
                <a:off x="2862893" y="1985334"/>
                <a:ext cx="34509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489CB6B-78F7-4F33-BBA4-9CDD19DCB4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893" y="1985334"/>
                <a:ext cx="34509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197663-735D-43B6-B934-90AD6AC29BCF}"/>
                  </a:ext>
                </a:extLst>
              </p:cNvPr>
              <p:cNvSpPr/>
              <p:nvPr/>
            </p:nvSpPr>
            <p:spPr>
              <a:xfrm>
                <a:off x="4836238" y="2752276"/>
                <a:ext cx="3060453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197663-735D-43B6-B934-90AD6AC29B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8" y="2752276"/>
                <a:ext cx="3060453" cy="6767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952B2B2-2A3B-46F8-8ACD-409B01259AB2}"/>
                  </a:ext>
                </a:extLst>
              </p:cNvPr>
              <p:cNvSpPr txBox="1"/>
              <p:nvPr/>
            </p:nvSpPr>
            <p:spPr>
              <a:xfrm>
                <a:off x="4953000" y="3677842"/>
                <a:ext cx="12545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952B2B2-2A3B-46F8-8ACD-409B01259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677842"/>
                <a:ext cx="1254510" cy="307777"/>
              </a:xfrm>
              <a:prstGeom prst="rect">
                <a:avLst/>
              </a:prstGeom>
              <a:blipFill>
                <a:blip r:embed="rId9"/>
                <a:stretch>
                  <a:fillRect l="-1951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0A2BD84-457F-4F7E-B75D-472814AD9EA3}"/>
                  </a:ext>
                </a:extLst>
              </p:cNvPr>
              <p:cNvSpPr/>
              <p:nvPr/>
            </p:nvSpPr>
            <p:spPr>
              <a:xfrm>
                <a:off x="4836238" y="4190754"/>
                <a:ext cx="2726579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0A2BD84-457F-4F7E-B75D-472814AD9E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38" y="4190754"/>
                <a:ext cx="2726579" cy="6767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269BA17-8F09-4147-A8BC-0A89EFFADBE2}"/>
                  </a:ext>
                </a:extLst>
              </p:cNvPr>
              <p:cNvSpPr/>
              <p:nvPr/>
            </p:nvSpPr>
            <p:spPr>
              <a:xfrm>
                <a:off x="4768334" y="5196206"/>
                <a:ext cx="290778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269BA17-8F09-4147-A8BC-0A89EFFAD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334" y="5196206"/>
                <a:ext cx="2907784" cy="10156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2876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F30164F-1454-427F-9641-A418D647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C7BD2F-3443-4531-9406-3929F5125A1A}"/>
                  </a:ext>
                </a:extLst>
              </p:cNvPr>
              <p:cNvSpPr txBox="1"/>
              <p:nvPr/>
            </p:nvSpPr>
            <p:spPr>
              <a:xfrm>
                <a:off x="372268" y="710780"/>
                <a:ext cx="24595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Solution of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sz="2400" dirty="0"/>
              </a:p>
              <a:p>
                <a:endParaRPr lang="en-US" altLang="zh-CN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9C7BD2F-3443-4531-9406-3929F5125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68" y="710780"/>
                <a:ext cx="2459519" cy="830997"/>
              </a:xfrm>
              <a:prstGeom prst="rect">
                <a:avLst/>
              </a:prstGeom>
              <a:blipFill>
                <a:blip r:embed="rId2"/>
                <a:stretch>
                  <a:fillRect l="-3713" t="-5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CF7E31E-589C-45C7-A702-62C952E55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8230029"/>
                  </p:ext>
                </p:extLst>
              </p:nvPr>
            </p:nvGraphicFramePr>
            <p:xfrm>
              <a:off x="372268" y="1905000"/>
              <a:ext cx="8466931" cy="2861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4749">
                      <a:extLst>
                        <a:ext uri="{9D8B030D-6E8A-4147-A177-3AD203B41FA5}">
                          <a16:colId xmlns:a16="http://schemas.microsoft.com/office/drawing/2014/main" val="2690933290"/>
                        </a:ext>
                      </a:extLst>
                    </a:gridCol>
                    <a:gridCol w="3264359">
                      <a:extLst>
                        <a:ext uri="{9D8B030D-6E8A-4147-A177-3AD203B41FA5}">
                          <a16:colId xmlns:a16="http://schemas.microsoft.com/office/drawing/2014/main" val="3848838086"/>
                        </a:ext>
                      </a:extLst>
                    </a:gridCol>
                    <a:gridCol w="3397823">
                      <a:extLst>
                        <a:ext uri="{9D8B030D-6E8A-4147-A177-3AD203B41FA5}">
                          <a16:colId xmlns:a16="http://schemas.microsoft.com/office/drawing/2014/main" val="3247056814"/>
                        </a:ext>
                      </a:extLst>
                    </a:gridCol>
                  </a:tblGrid>
                  <a:tr h="2184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577791"/>
                      </a:ext>
                    </a:extLst>
                  </a:tr>
                  <a:tr h="314770">
                    <a:tc>
                      <a:txBody>
                        <a:bodyPr/>
                        <a:lstStyle/>
                        <a:p>
                          <a:pPr algn="r"/>
                          <a:endParaRPr lang="en-US" altLang="zh-CN" dirty="0"/>
                        </a:p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Overdamping</a:t>
                          </a:r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4647286"/>
                      </a:ext>
                    </a:extLst>
                  </a:tr>
                  <a:tr h="629539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Underdamping</a:t>
                          </a:r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1744149"/>
                      </a:ext>
                    </a:extLst>
                  </a:tr>
                  <a:tr h="31477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Critical damping</a:t>
                          </a:r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oMath>
                          </a14:m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97949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CF7E31E-589C-45C7-A702-62C952E55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8230029"/>
                  </p:ext>
                </p:extLst>
              </p:nvPr>
            </p:nvGraphicFramePr>
            <p:xfrm>
              <a:off x="372268" y="1905000"/>
              <a:ext cx="8466931" cy="2861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4749">
                      <a:extLst>
                        <a:ext uri="{9D8B030D-6E8A-4147-A177-3AD203B41FA5}">
                          <a16:colId xmlns:a16="http://schemas.microsoft.com/office/drawing/2014/main" val="2690933290"/>
                        </a:ext>
                      </a:extLst>
                    </a:gridCol>
                    <a:gridCol w="3264359">
                      <a:extLst>
                        <a:ext uri="{9D8B030D-6E8A-4147-A177-3AD203B41FA5}">
                          <a16:colId xmlns:a16="http://schemas.microsoft.com/office/drawing/2014/main" val="3848838086"/>
                        </a:ext>
                      </a:extLst>
                    </a:gridCol>
                    <a:gridCol w="3397823">
                      <a:extLst>
                        <a:ext uri="{9D8B030D-6E8A-4147-A177-3AD203B41FA5}">
                          <a16:colId xmlns:a16="http://schemas.microsoft.com/office/drawing/2014/main" val="324705681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5410" t="-1667" r="-104851" b="-6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49551" t="-1667" r="-898" b="-6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577791"/>
                      </a:ext>
                    </a:extLst>
                  </a:tr>
                  <a:tr h="944309">
                    <a:tc>
                      <a:txBody>
                        <a:bodyPr/>
                        <a:lstStyle/>
                        <a:p>
                          <a:pPr algn="r"/>
                          <a:endParaRPr lang="en-US" altLang="zh-CN" dirty="0"/>
                        </a:p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Overdamping</a:t>
                          </a:r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5410" t="-39355" r="-104851" b="-16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49551" t="-39355" r="-898" b="-16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4647286"/>
                      </a:ext>
                    </a:extLst>
                  </a:tr>
                  <a:tr h="898081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Underdamping</a:t>
                          </a:r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5410" t="-145946" r="-104851" b="-73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49551" t="-145946" r="-898" b="-73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1744149"/>
                      </a:ext>
                    </a:extLst>
                  </a:tr>
                  <a:tr h="653161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Critical damping</a:t>
                          </a:r>
                          <a:endParaRPr lang="zh-CN" altLang="en-US" dirty="0"/>
                        </a:p>
                        <a:p>
                          <a:pPr algn="r"/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55410" t="-340187" r="-104851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49551" t="-340187" r="-898" b="-1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7949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2793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86A27-9DC0-423F-82C9-BDA2DCFA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 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串联电路的自然响应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阻尼特性：欠，过，临界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初始条件：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 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或</m:t>
                        </m:r>
                        <m:r>
                          <a:rPr lang="en-US" altLang="zh-CN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串联电路的阶跃响应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RLC</a:t>
                </a:r>
                <a:r>
                  <a:rPr lang="zh-CN" altLang="en-US" dirty="0"/>
                  <a:t>串联电路的全响应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其它二阶电路的分析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冲击响应的分析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  <a:blipFill>
                <a:blip r:embed="rId2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1A0A56-36BF-447B-BA2C-9FC0A4A643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F3F0DB-B53F-47F0-9FB1-6E972764732A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7812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Full Response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3657600"/>
                <a:ext cx="8229600" cy="2463800"/>
              </a:xfrm>
            </p:spPr>
            <p:txBody>
              <a:bodyPr/>
              <a:lstStyle/>
              <a:p>
                <a:r>
                  <a:rPr lang="en-US" altLang="zh-CN" dirty="0"/>
                  <a:t>Find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when: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=4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dirty="0"/>
                  <a:t>  </a:t>
                </a:r>
                <a:endParaRPr lang="zh-CN" alt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3657600"/>
                <a:ext cx="8229600" cy="2463800"/>
              </a:xfrm>
              <a:blipFill>
                <a:blip r:embed="rId3"/>
                <a:stretch>
                  <a:fillRect l="-370" t="-1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pic>
        <p:nvPicPr>
          <p:cNvPr id="5" name="Picture 2" descr="ale80571_08_019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06243"/>
            <a:ext cx="4035425" cy="1683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7841242-17F2-4387-80BF-1DC11422B7E6}"/>
                  </a:ext>
                </a:extLst>
              </p:cNvPr>
              <p:cNvSpPr/>
              <p:nvPr/>
            </p:nvSpPr>
            <p:spPr>
              <a:xfrm>
                <a:off x="4649543" y="1498570"/>
                <a:ext cx="3886200" cy="7216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altLang="zh-CN" dirty="0"/>
                  <a:t>and/or</a:t>
                </a:r>
                <a:r>
                  <a:rPr lang="en-US" altLang="zh-CN" baseline="-25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𝑣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(0)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endParaRPr lang="en-US" altLang="zh-CN" dirty="0"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0</m:t>
                    </m:r>
                  </m:oMath>
                </a14:m>
                <a:r>
                  <a:rPr lang="en-US" altLang="zh-CN" baseline="-25000" dirty="0"/>
                  <a:t> </a:t>
                </a:r>
                <a:endParaRPr lang="zh-CN" altLang="en-US" baseline="-250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7841242-17F2-4387-80BF-1DC11422B7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43" y="1498570"/>
                <a:ext cx="3886200" cy="721672"/>
              </a:xfrm>
              <a:prstGeom prst="rect">
                <a:avLst/>
              </a:prstGeom>
              <a:blipFill>
                <a:blip r:embed="rId5"/>
                <a:stretch>
                  <a:fillRect l="-314" t="-4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6">
                <a:extLst>
                  <a:ext uri="{FF2B5EF4-FFF2-40B4-BE49-F238E27FC236}">
                    <a16:creationId xmlns:a16="http://schemas.microsoft.com/office/drawing/2014/main" id="{01BEC462-0377-44DE-ADBB-547879EF4DFD}"/>
                  </a:ext>
                </a:extLst>
              </p:cNvPr>
              <p:cNvSpPr txBox="1"/>
              <p:nvPr/>
            </p:nvSpPr>
            <p:spPr bwMode="auto">
              <a:xfrm>
                <a:off x="4876800" y="2510727"/>
                <a:ext cx="3810000" cy="769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𝐿𝐶</m:t>
                        </m:r>
                      </m:den>
                    </m:f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𝐿𝐶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Object 6">
                <a:extLst>
                  <a:ext uri="{FF2B5EF4-FFF2-40B4-BE49-F238E27FC236}">
                    <a16:creationId xmlns:a16="http://schemas.microsoft.com/office/drawing/2014/main" id="{01BEC462-0377-44DE-ADBB-547879EF4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2510727"/>
                <a:ext cx="3810000" cy="7699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245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Full 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197663-735D-43B6-B934-90AD6AC29BCF}"/>
                  </a:ext>
                </a:extLst>
              </p:cNvPr>
              <p:cNvSpPr/>
              <p:nvPr/>
            </p:nvSpPr>
            <p:spPr>
              <a:xfrm>
                <a:off x="1058504" y="1670870"/>
                <a:ext cx="2892587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197663-735D-43B6-B934-90AD6AC29B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04" y="1670870"/>
                <a:ext cx="2892587" cy="6767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952B2B2-2A3B-46F8-8ACD-409B01259AB2}"/>
                  </a:ext>
                </a:extLst>
              </p:cNvPr>
              <p:cNvSpPr txBox="1"/>
              <p:nvPr/>
            </p:nvSpPr>
            <p:spPr>
              <a:xfrm>
                <a:off x="1175266" y="2596436"/>
                <a:ext cx="12880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952B2B2-2A3B-46F8-8ACD-409B01259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266" y="2596436"/>
                <a:ext cx="1288045" cy="307777"/>
              </a:xfrm>
              <a:prstGeom prst="rect">
                <a:avLst/>
              </a:prstGeom>
              <a:blipFill>
                <a:blip r:embed="rId4"/>
                <a:stretch>
                  <a:fillRect l="-1896" r="-3318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0A2BD84-457F-4F7E-B75D-472814AD9EA3}"/>
                  </a:ext>
                </a:extLst>
              </p:cNvPr>
              <p:cNvSpPr/>
              <p:nvPr/>
            </p:nvSpPr>
            <p:spPr>
              <a:xfrm>
                <a:off x="1058504" y="3109348"/>
                <a:ext cx="2726579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0A2BD84-457F-4F7E-B75D-472814AD9E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04" y="3109348"/>
                <a:ext cx="2726579" cy="676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269BA17-8F09-4147-A8BC-0A89EFFADBE2}"/>
                  </a:ext>
                </a:extLst>
              </p:cNvPr>
              <p:cNvSpPr/>
              <p:nvPr/>
            </p:nvSpPr>
            <p:spPr>
              <a:xfrm>
                <a:off x="990600" y="4114800"/>
                <a:ext cx="2183803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zh-CN" altLang="en-US" dirty="0"/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269BA17-8F09-4147-A8BC-0A89EFFAD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114800"/>
                <a:ext cx="2183803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138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Full Response When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=5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481" b="-1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22F39C2-D2B4-4315-80D1-E63E312DCB20}"/>
                  </a:ext>
                </a:extLst>
              </p:cNvPr>
              <p:cNvSpPr/>
              <p:nvPr/>
            </p:nvSpPr>
            <p:spPr>
              <a:xfrm>
                <a:off x="239138" y="1676400"/>
                <a:ext cx="7924800" cy="318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zh-CN" dirty="0"/>
                  <a:t>, switch closed, capacitor open, inductor shorted.</a:t>
                </a:r>
              </a:p>
              <a:p>
                <a:pPr marL="290513" lvl="1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=4</m:t>
                    </m:r>
                    <m:r>
                      <m:rPr>
                        <m:sty m:val="p"/>
                      </m:rPr>
                      <a:rPr lang="en-US" altLang="zh-CN" i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𝑑𝑣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,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=4</m:t>
                    </m:r>
                    <m:r>
                      <m:rPr>
                        <m:sty m:val="p"/>
                      </m:rPr>
                      <a:rPr lang="en-US" altLang="zh-CN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  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𝑑𝑣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=16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=24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 switch open, a series RLC network</a:t>
                </a:r>
              </a:p>
              <a:p>
                <a:pPr marL="290513" lvl="1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=2.5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Np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dirty="0">
                  <a:solidFill>
                    <a:srgbClr val="92D050"/>
                  </a:solidFill>
                </a:endParaRPr>
              </a:p>
              <a:p>
                <a:pPr marL="290513" lvl="1" indent="0" algn="ctr">
                  <a:spcAft>
                    <a:spcPts val="1200"/>
                  </a:spcAft>
                  <a:buNone/>
                </a:pPr>
                <a:r>
                  <a:rPr lang="en-US" altLang="zh-CN" dirty="0">
                    <a:solidFill>
                      <a:srgbClr val="92D050"/>
                    </a:solidFill>
                  </a:rPr>
                  <a:t>Overdamped</a:t>
                </a:r>
                <a:r>
                  <a:rPr lang="en-US" altLang="zh-CN" dirty="0"/>
                  <a:t>.</a:t>
                </a:r>
              </a:p>
              <a:p>
                <a:pPr marL="290513" lvl="1" indent="0" algn="ctr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21.33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+1.33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290513" lvl="1" indent="0" algn="ctr">
                  <a:spcBef>
                    <a:spcPts val="1200"/>
                  </a:spcBef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22F39C2-D2B4-4315-80D1-E63E312DC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38" y="1676400"/>
                <a:ext cx="7924800" cy="3185552"/>
              </a:xfrm>
              <a:prstGeom prst="rect">
                <a:avLst/>
              </a:prstGeom>
              <a:blipFill>
                <a:blip r:embed="rId4"/>
                <a:stretch>
                  <a:fillRect t="-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561D1C8-64C8-43F5-A4A6-DB1C75B10D3F}"/>
                  </a:ext>
                </a:extLst>
              </p:cNvPr>
              <p:cNvSpPr/>
              <p:nvPr/>
            </p:nvSpPr>
            <p:spPr>
              <a:xfrm>
                <a:off x="2667000" y="4439144"/>
                <a:ext cx="147168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=24 </m:t>
                    </m:r>
                  </m:oMath>
                </a14:m>
                <a:r>
                  <a:rPr lang="en-US" altLang="zh-CN" dirty="0"/>
                  <a:t>V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561D1C8-64C8-43F5-A4A6-DB1C75B10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439144"/>
                <a:ext cx="1471685" cy="400110"/>
              </a:xfrm>
              <a:prstGeom prst="rect">
                <a:avLst/>
              </a:prstGeom>
              <a:blipFill>
                <a:blip r:embed="rId5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9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20514"/>
                <a:ext cx="8229600" cy="3216972"/>
              </a:xfrm>
            </p:spPr>
            <p:txBody>
              <a:bodyPr/>
              <a:lstStyle/>
              <a:p>
                <a:pPr lvl="1"/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, switch closed, capacitor open, inductor shorted.</a:t>
                </a:r>
              </a:p>
              <a:p>
                <a:pPr marL="290513" lvl="1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.8 </m:t>
                    </m:r>
                    <m:r>
                      <m:rPr>
                        <m:sty m:val="p"/>
                      </m:rPr>
                      <a:rPr lang="en-US" altLang="zh-CN" i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,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.8 </m:t>
                    </m:r>
                    <m:r>
                      <m:rPr>
                        <m:sty m:val="p"/>
                      </m:rPr>
                      <a:rPr lang="en-US" altLang="zh-CN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𝑑𝑣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=19.2</m:t>
                    </m:r>
                  </m:oMath>
                </a14:m>
                <a:r>
                  <a:rPr lang="en-US" altLang="zh-CN" dirty="0"/>
                  <a:t> V/s,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=24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endParaRPr lang="en-US" altLang="zh-CN" dirty="0"/>
              </a:p>
              <a:p>
                <a:pPr marL="290513" lvl="1" indent="0">
                  <a:buNone/>
                </a:pPr>
                <a:endParaRPr lang="en-US" altLang="zh-CN" dirty="0"/>
              </a:p>
              <a:p>
                <a:pPr lvl="1"/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, switch open, a series RLC network</a:t>
                </a:r>
              </a:p>
              <a:p>
                <a:pPr marL="290513" lvl="1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Np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US" altLang="zh-CN" dirty="0"/>
                  <a:t> Np/s  </a:t>
                </a:r>
                <a:r>
                  <a:rPr lang="en-US" altLang="zh-CN" dirty="0">
                    <a:solidFill>
                      <a:srgbClr val="92D050"/>
                    </a:solidFill>
                  </a:rPr>
                  <a:t>Critically damped</a:t>
                </a:r>
                <a:endParaRPr lang="en-US" altLang="zh-CN" dirty="0"/>
              </a:p>
              <a:p>
                <a:pPr marL="290513" lvl="1" indent="0" algn="ctr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marL="290513" lvl="1" indent="0" algn="ctr"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=24 </m:t>
                    </m:r>
                  </m:oMath>
                </a14:m>
                <a:r>
                  <a:rPr lang="en-US" altLang="zh-CN" dirty="0"/>
                  <a:t>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=−19.2</m:t>
                    </m:r>
                  </m:oMath>
                </a14:m>
                <a:r>
                  <a:rPr lang="en-US" altLang="zh-CN" dirty="0"/>
                  <a:t> V,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=−19.</m:t>
                    </m:r>
                  </m:oMath>
                </a14:m>
                <a:r>
                  <a:rPr lang="en-US" altLang="zh-CN" dirty="0"/>
                  <a:t>2 V/s</a:t>
                </a:r>
              </a:p>
              <a:p>
                <a:pPr marL="290513" lvl="1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20514"/>
                <a:ext cx="8229600" cy="3216972"/>
              </a:xfrm>
              <a:blipFill>
                <a:blip r:embed="rId2"/>
                <a:stretch>
                  <a:fillRect t="-949" r="-444" b="-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1116592E-5B3C-4B7A-BCBF-9A304398AC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533400"/>
                <a:ext cx="8229600" cy="838200"/>
              </a:xfrm>
            </p:spPr>
            <p:txBody>
              <a:bodyPr/>
              <a:lstStyle/>
              <a:p>
                <a:r>
                  <a:rPr lang="en-US" altLang="zh-CN" dirty="0"/>
                  <a:t>Full Response When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1116592E-5B3C-4B7A-BCBF-9A304398A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533400"/>
                <a:ext cx="8229600" cy="838200"/>
              </a:xfrm>
              <a:blipFill>
                <a:blip r:embed="rId3"/>
                <a:stretch>
                  <a:fillRect l="-1481" b="-1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0646" y="1820514"/>
                <a:ext cx="8229600" cy="3216972"/>
              </a:xfrm>
            </p:spPr>
            <p:txBody>
              <a:bodyPr/>
              <a:lstStyle/>
              <a:p>
                <a:pPr lvl="1"/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, switch closed, capacitor open, inductor shorted.</a:t>
                </a:r>
              </a:p>
              <a:p>
                <a:pPr marL="290513" lvl="1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dirty="0"/>
                  <a:t>,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𝑑𝑣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(0)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, switch open, a series RLC network</a:t>
                </a:r>
              </a:p>
              <a:p>
                <a:pPr marL="290513" lvl="1" indent="0" algn="ctr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=0.5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𝑁𝑝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=−0.5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∓1.936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s</a:t>
                </a:r>
                <a:r>
                  <a:rPr lang="en-US" altLang="zh-CN" baseline="30000" dirty="0"/>
                  <a:t>-1</a:t>
                </a:r>
                <a:r>
                  <a:rPr lang="en-US" altLang="zh-CN" dirty="0"/>
                  <a:t>    </a:t>
                </a:r>
                <a:r>
                  <a:rPr lang="en-US" altLang="zh-CN" dirty="0">
                    <a:solidFill>
                      <a:srgbClr val="92D050"/>
                    </a:solidFill>
                  </a:rPr>
                  <a:t>Underdamped</a:t>
                </a:r>
                <a:endParaRPr lang="en-US" altLang="zh-CN" dirty="0"/>
              </a:p>
              <a:p>
                <a:pPr marL="290513" lvl="1" indent="0" algn="ctr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1.936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1.936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marL="290513" lvl="1" indent="0" algn="ctr"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=24 </m:t>
                    </m:r>
                  </m:oMath>
                </a14:m>
                <a:r>
                  <a:rPr lang="en-US" altLang="zh-CN" dirty="0"/>
                  <a:t>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=21.7</m:t>
                    </m:r>
                  </m:oMath>
                </a14:m>
                <a:r>
                  <a:rPr lang="en-US" altLang="zh-CN" dirty="0"/>
                  <a:t> V,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=−12.0</m:t>
                    </m:r>
                  </m:oMath>
                </a14:m>
                <a:r>
                  <a:rPr lang="en-US" altLang="zh-CN" dirty="0"/>
                  <a:t> V</a:t>
                </a:r>
                <a:endParaRPr lang="zh-CN" altLang="en-US" dirty="0"/>
              </a:p>
              <a:p>
                <a:pPr marL="290513" lvl="1" indent="0" algn="ctr">
                  <a:spcBef>
                    <a:spcPts val="1200"/>
                  </a:spcBef>
                  <a:buNone/>
                </a:pPr>
                <a:endParaRPr lang="en-US" altLang="zh-CN" dirty="0"/>
              </a:p>
              <a:p>
                <a:pPr marL="290513" lvl="1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646" y="1820514"/>
                <a:ext cx="8229600" cy="3216972"/>
              </a:xfrm>
              <a:blipFill>
                <a:blip r:embed="rId2"/>
                <a:stretch>
                  <a:fillRect t="-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32BD65-7201-4520-8EFF-B8A69F6D6522}"/>
              </a:ext>
            </a:extLst>
          </p:cNvPr>
          <p:cNvSpPr/>
          <p:nvPr/>
        </p:nvSpPr>
        <p:spPr>
          <a:xfrm>
            <a:off x="1828800" y="6124545"/>
            <a:ext cx="184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20001D25-D5AC-4472-B6D6-2C4D29C363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533400"/>
                <a:ext cx="8229600" cy="838200"/>
              </a:xfrm>
            </p:spPr>
            <p:txBody>
              <a:bodyPr/>
              <a:lstStyle/>
              <a:p>
                <a:r>
                  <a:rPr lang="en-US" altLang="zh-CN" dirty="0"/>
                  <a:t>Full Response When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20001D25-D5AC-4472-B6D6-2C4D29C363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533400"/>
                <a:ext cx="8229600" cy="838200"/>
              </a:xfrm>
              <a:blipFill>
                <a:blip r:embed="rId3"/>
                <a:stretch>
                  <a:fillRect l="-1481" b="-1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5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B71618-2C67-4A00-AEA2-2C92E4F97D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" y="1605538"/>
            <a:ext cx="5410200" cy="471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93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86A27-9DC0-423F-82C9-BDA2DCFA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 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串联电路的自然响应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阻尼特性：欠，过，临界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初始条件：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 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或</m:t>
                        </m:r>
                        <m:r>
                          <a:rPr lang="en-US" altLang="zh-CN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串联电路的阶跃响应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串联电路的全响应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其它二阶电路的分析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冲击响应的分析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  <a:blipFill>
                <a:blip r:embed="rId2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1A0A56-36BF-447B-BA2C-9FC0A4A643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F3F0DB-B53F-47F0-9FB1-6E972764732A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788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Parallel RLC Network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  <p:pic>
        <p:nvPicPr>
          <p:cNvPr id="9" name="Picture 5" descr="C:\Users\Joel\Documents\Teaching\McGraw Hill\Fundamentals of Electric Circuits 5e\figures\Ch08\Color Labeled\ale80571_08_0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4191000" cy="278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C6A8909-D5D6-4A19-B9B2-8B3548F89B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810"/>
          <a:stretch/>
        </p:blipFill>
        <p:spPr>
          <a:xfrm>
            <a:off x="4849260" y="1245571"/>
            <a:ext cx="3989940" cy="469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6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General RLC Circuits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22400"/>
                <a:ext cx="4191000" cy="964577"/>
              </a:xfrm>
            </p:spPr>
            <p:txBody>
              <a:bodyPr/>
              <a:lstStyle/>
              <a:p>
                <a:r>
                  <a:rPr lang="en-US" altLang="zh-CN" dirty="0"/>
                  <a:t>Find the complete response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in the circuit.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22400"/>
                <a:ext cx="4191000" cy="964577"/>
              </a:xfrm>
              <a:blipFill>
                <a:blip r:embed="rId3"/>
                <a:stretch>
                  <a:fillRect l="-727" t="-4403" r="-2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ale80571_08_025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609600"/>
            <a:ext cx="4038600" cy="209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4277" y="3674743"/>
            <a:ext cx="3824492" cy="216567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50231E-5030-4EB8-AC80-0A0445E47B10}"/>
              </a:ext>
            </a:extLst>
          </p:cNvPr>
          <p:cNvSpPr txBox="1"/>
          <p:nvPr/>
        </p:nvSpPr>
        <p:spPr>
          <a:xfrm>
            <a:off x="5900354" y="3100110"/>
            <a:ext cx="2935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Circuit for transient response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D24EDF-48DF-4F11-AED0-9B4BD314C718}"/>
              </a:ext>
            </a:extLst>
          </p:cNvPr>
          <p:cNvSpPr/>
          <p:nvPr/>
        </p:nvSpPr>
        <p:spPr>
          <a:xfrm>
            <a:off x="5274277" y="4613197"/>
            <a:ext cx="954215" cy="435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20CEAC-3BA1-4A85-8AF5-2F95692CBE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2400" y="4608000"/>
            <a:ext cx="123842" cy="457264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8170318C-BA61-4994-8A3C-4F55CDF764A2}"/>
              </a:ext>
            </a:extLst>
          </p:cNvPr>
          <p:cNvGrpSpPr/>
          <p:nvPr/>
        </p:nvGrpSpPr>
        <p:grpSpPr>
          <a:xfrm>
            <a:off x="295158" y="2353973"/>
            <a:ext cx="8706083" cy="4388475"/>
            <a:chOff x="295158" y="2353973"/>
            <a:chExt cx="8706083" cy="438847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218B7A0-C11B-4905-B0D1-4D61E1AB1584}"/>
                </a:ext>
              </a:extLst>
            </p:cNvPr>
            <p:cNvGrpSpPr/>
            <p:nvPr/>
          </p:nvGrpSpPr>
          <p:grpSpPr>
            <a:xfrm>
              <a:off x="295158" y="2353973"/>
              <a:ext cx="8706083" cy="4346358"/>
              <a:chOff x="580487" y="2419290"/>
              <a:chExt cx="8706083" cy="4346358"/>
            </a:xfrm>
          </p:grpSpPr>
          <p:sp>
            <p:nvSpPr>
              <p:cNvPr id="11" name="TextBox 5">
                <a:extLst>
                  <a:ext uri="{FF2B5EF4-FFF2-40B4-BE49-F238E27FC236}">
                    <a16:creationId xmlns:a16="http://schemas.microsoft.com/office/drawing/2014/main" id="{37D8A524-B447-43F5-9735-39C57E2AF93C}"/>
                  </a:ext>
                </a:extLst>
              </p:cNvPr>
              <p:cNvSpPr txBox="1"/>
              <p:nvPr/>
            </p:nvSpPr>
            <p:spPr>
              <a:xfrm>
                <a:off x="601382" y="2419290"/>
                <a:ext cx="33345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1. Initial and final conditions</a:t>
                </a:r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7">
                    <a:extLst>
                      <a:ext uri="{FF2B5EF4-FFF2-40B4-BE49-F238E27FC236}">
                        <a16:creationId xmlns:a16="http://schemas.microsoft.com/office/drawing/2014/main" id="{9EB9049F-36DD-4596-AE2F-DC2761F27DE4}"/>
                      </a:ext>
                    </a:extLst>
                  </p:cNvPr>
                  <p:cNvSpPr txBox="1"/>
                  <p:nvPr/>
                </p:nvSpPr>
                <p:spPr>
                  <a:xfrm>
                    <a:off x="838200" y="3429000"/>
                    <a:ext cx="5038302" cy="4930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−12/2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=−12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r>
                      <a:rPr lang="en-US" altLang="zh-CN" dirty="0"/>
                      <a:t>;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𝑠𝑠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=4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2" name="TextBox 7">
                    <a:extLst>
                      <a:ext uri="{FF2B5EF4-FFF2-40B4-BE49-F238E27FC236}">
                        <a16:creationId xmlns:a16="http://schemas.microsoft.com/office/drawing/2014/main" id="{9EB9049F-36DD-4596-AE2F-DC2761F27D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200" y="3429000"/>
                    <a:ext cx="5038302" cy="49308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1" b="-1728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41A5750B-FEE2-4547-8B75-251D9B4171A3}"/>
                  </a:ext>
                </a:extLst>
              </p:cNvPr>
              <p:cNvSpPr txBox="1"/>
              <p:nvPr/>
            </p:nvSpPr>
            <p:spPr>
              <a:xfrm>
                <a:off x="601382" y="4171890"/>
                <a:ext cx="577129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2. Transient response (remove power sources) 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0">
                    <a:extLst>
                      <a:ext uri="{FF2B5EF4-FFF2-40B4-BE49-F238E27FC236}">
                        <a16:creationId xmlns:a16="http://schemas.microsoft.com/office/drawing/2014/main" id="{F287BC43-0E85-4558-B306-513E82F9AED5}"/>
                      </a:ext>
                    </a:extLst>
                  </p:cNvPr>
                  <p:cNvSpPr txBox="1"/>
                  <p:nvPr/>
                </p:nvSpPr>
                <p:spPr>
                  <a:xfrm>
                    <a:off x="838200" y="4569741"/>
                    <a:ext cx="3407921" cy="53565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dirty="0"/>
                      <a:t>KCL at node </a:t>
                    </a:r>
                    <a:r>
                      <a:rPr lang="en-US" altLang="zh-CN" i="1" dirty="0"/>
                      <a:t>a</a:t>
                    </a:r>
                    <a:r>
                      <a:rPr lang="en-US" altLang="zh-CN" dirty="0"/>
                      <a:t>: </a:t>
                    </a:r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+0.5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200" y="4569741"/>
                    <a:ext cx="3407921" cy="53565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968" b="-681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1">
                    <a:extLst>
                      <a:ext uri="{FF2B5EF4-FFF2-40B4-BE49-F238E27FC236}">
                        <a16:creationId xmlns:a16="http://schemas.microsoft.com/office/drawing/2014/main" id="{6DAF32D3-EFF8-434C-B797-04AE8E4FDBA2}"/>
                      </a:ext>
                    </a:extLst>
                  </p:cNvPr>
                  <p:cNvSpPr txBox="1"/>
                  <p:nvPr/>
                </p:nvSpPr>
                <p:spPr>
                  <a:xfrm>
                    <a:off x="838200" y="5105400"/>
                    <a:ext cx="4271939" cy="5401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dirty="0"/>
                      <a:t>KVL on left mesh: </a:t>
                    </a:r>
                    <a14:m>
                      <m:oMath xmlns:m="http://schemas.openxmlformats.org/officeDocument/2006/math"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𝑑𝑖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5" name="TextBox 11">
                    <a:extLst>
                      <a:ext uri="{FF2B5EF4-FFF2-40B4-BE49-F238E27FC236}">
                        <a16:creationId xmlns:a16="http://schemas.microsoft.com/office/drawing/2014/main" id="{6DAF32D3-EFF8-434C-B797-04AE8E4FDB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200" y="5105400"/>
                    <a:ext cx="4271939" cy="54014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571" b="-674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2">
                    <a:extLst>
                      <a:ext uri="{FF2B5EF4-FFF2-40B4-BE49-F238E27FC236}">
                        <a16:creationId xmlns:a16="http://schemas.microsoft.com/office/drawing/2014/main" id="{B00F0767-8C9F-4961-97CE-8F336A910779}"/>
                      </a:ext>
                    </a:extLst>
                  </p:cNvPr>
                  <p:cNvSpPr txBox="1"/>
                  <p:nvPr/>
                </p:nvSpPr>
                <p:spPr>
                  <a:xfrm>
                    <a:off x="990600" y="5630859"/>
                    <a:ext cx="2355708" cy="6175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6" name="TextBox 12">
                    <a:extLst>
                      <a:ext uri="{FF2B5EF4-FFF2-40B4-BE49-F238E27FC236}">
                        <a16:creationId xmlns:a16="http://schemas.microsoft.com/office/drawing/2014/main" id="{B00F0767-8C9F-4961-97CE-8F336A9107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0600" y="5630859"/>
                    <a:ext cx="2355708" cy="61754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3">
                    <a:extLst>
                      <a:ext uri="{FF2B5EF4-FFF2-40B4-BE49-F238E27FC236}">
                        <a16:creationId xmlns:a16="http://schemas.microsoft.com/office/drawing/2014/main" id="{C1D9C278-6D90-43C2-B049-6E35942320F6}"/>
                      </a:ext>
                    </a:extLst>
                  </p:cNvPr>
                  <p:cNvSpPr/>
                  <p:nvPr/>
                </p:nvSpPr>
                <p:spPr>
                  <a:xfrm>
                    <a:off x="3743193" y="5760641"/>
                    <a:ext cx="5543377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=−4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+12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a14:m>
                    <a:r>
                      <a:rPr lang="zh-CN" altLang="en-US" dirty="0"/>
                      <a:t> </a:t>
                    </a:r>
                    <a:r>
                      <a:rPr lang="en-US" altLang="zh-CN" dirty="0"/>
                      <a:t>(V)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8" name="Rectangle 13">
                    <a:extLst>
                      <a:ext uri="{FF2B5EF4-FFF2-40B4-BE49-F238E27FC236}">
                        <a16:creationId xmlns:a16="http://schemas.microsoft.com/office/drawing/2014/main" id="{C1D9C278-6D90-43C2-B049-6E35942320F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3193" y="5760641"/>
                    <a:ext cx="5543377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7692" r="-220" b="-2923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TextBox 17">
                <a:extLst>
                  <a:ext uri="{FF2B5EF4-FFF2-40B4-BE49-F238E27FC236}">
                    <a16:creationId xmlns:a16="http://schemas.microsoft.com/office/drawing/2014/main" id="{CA46AC82-1CC5-4E21-AD4A-E11831DD416C}"/>
                  </a:ext>
                </a:extLst>
              </p:cNvPr>
              <p:cNvSpPr txBox="1"/>
              <p:nvPr/>
            </p:nvSpPr>
            <p:spPr>
              <a:xfrm>
                <a:off x="580487" y="6365538"/>
                <a:ext cx="18473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6">
                    <a:extLst>
                      <a:ext uri="{FF2B5EF4-FFF2-40B4-BE49-F238E27FC236}">
                        <a16:creationId xmlns:a16="http://schemas.microsoft.com/office/drawing/2014/main" id="{5EFF0B48-716D-4D74-85EF-1EA337C23DA0}"/>
                      </a:ext>
                    </a:extLst>
                  </p:cNvPr>
                  <p:cNvSpPr txBox="1"/>
                  <p:nvPr/>
                </p:nvSpPr>
                <p:spPr>
                  <a:xfrm>
                    <a:off x="914400" y="2895600"/>
                    <a:ext cx="4560351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a14:m>
                    <a:r>
                      <a:rPr lang="en-US" altLang="zh-CN" dirty="0"/>
                      <a:t>, </a:t>
                    </a:r>
                    <a14:m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400" y="2895600"/>
                    <a:ext cx="4560351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337" t="-24000" r="-1070" b="-52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DD512331-D47A-4FDB-A786-6AF2725155CE}"/>
                    </a:ext>
                  </a:extLst>
                </p:cNvPr>
                <p:cNvSpPr/>
                <p:nvPr/>
              </p:nvSpPr>
              <p:spPr>
                <a:xfrm>
                  <a:off x="358215" y="6342338"/>
                  <a:ext cx="792480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3.  Add transient and steady-state responses: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DD512331-D47A-4FDB-A786-6AF2725155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215" y="6342338"/>
                  <a:ext cx="7924800" cy="400110"/>
                </a:xfrm>
                <a:prstGeom prst="rect">
                  <a:avLst/>
                </a:prstGeom>
                <a:blipFill>
                  <a:blip r:embed="rId13"/>
                  <a:stretch>
                    <a:fillRect l="-846" t="-6061" b="-2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641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3211914-BEB6-457E-B257-657023B4F6EB}"/>
              </a:ext>
            </a:extLst>
          </p:cNvPr>
          <p:cNvGrpSpPr/>
          <p:nvPr/>
        </p:nvGrpSpPr>
        <p:grpSpPr>
          <a:xfrm>
            <a:off x="3798138" y="1154250"/>
            <a:ext cx="5249164" cy="2718618"/>
            <a:chOff x="3894836" y="781620"/>
            <a:chExt cx="5249164" cy="2718618"/>
          </a:xfrm>
        </p:grpSpPr>
        <p:pic>
          <p:nvPicPr>
            <p:cNvPr id="20" name="Picture 2" descr="ale80571_08_033.jp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4"/>
            <a:stretch/>
          </p:blipFill>
          <p:spPr bwMode="auto">
            <a:xfrm>
              <a:off x="3894836" y="781620"/>
              <a:ext cx="5249164" cy="271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673B1F2-919F-435C-A561-CF19B729311D}"/>
                </a:ext>
              </a:extLst>
            </p:cNvPr>
            <p:cNvSpPr/>
            <p:nvPr/>
          </p:nvSpPr>
          <p:spPr>
            <a:xfrm>
              <a:off x="6409765" y="1332202"/>
              <a:ext cx="762000" cy="1974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29" y="433404"/>
            <a:ext cx="8229600" cy="838200"/>
          </a:xfrm>
        </p:spPr>
        <p:txBody>
          <a:bodyPr/>
          <a:lstStyle/>
          <a:p>
            <a:r>
              <a:rPr lang="en-US" altLang="zh-CN" dirty="0"/>
              <a:t>Example of 2</a:t>
            </a:r>
            <a:r>
              <a:rPr lang="en-US" altLang="zh-CN" baseline="30000" dirty="0"/>
              <a:t>nd</a:t>
            </a:r>
            <a:r>
              <a:rPr lang="en-US" altLang="zh-CN" dirty="0"/>
              <a:t>-order op-amp circuits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599" y="1406481"/>
                <a:ext cx="6846467" cy="9396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mV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599" y="1406481"/>
                <a:ext cx="6846467" cy="939678"/>
              </a:xfrm>
              <a:blipFill>
                <a:blip r:embed="rId4"/>
                <a:stretch>
                  <a:fillRect l="-1335" t="-4545" b="-11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E55BB74-1CD0-4157-8C01-BEA8100D3049}"/>
              </a:ext>
            </a:extLst>
          </p:cNvPr>
          <p:cNvGrpSpPr/>
          <p:nvPr/>
        </p:nvGrpSpPr>
        <p:grpSpPr>
          <a:xfrm>
            <a:off x="211014" y="2775907"/>
            <a:ext cx="8367294" cy="3544676"/>
            <a:chOff x="211014" y="2775907"/>
            <a:chExt cx="8367294" cy="3544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11014" y="4005910"/>
                  <a:ext cx="8367294" cy="23146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dirty="0"/>
                    <a:t>KCL at node 1: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zh-CN" sz="1800" dirty="0"/>
                    <a:t>;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altLang="zh-CN" sz="18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18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altLang="zh-CN" sz="18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US" altLang="zh-CN" sz="18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altLang="zh-CN" sz="1800" dirty="0"/>
                </a:p>
                <a:p>
                  <a:endParaRPr lang="en-US" altLang="zh-CN" sz="1800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altLang="zh-CN" sz="1800" dirty="0"/>
                    <a:t>;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(0)=</m:t>
                      </m:r>
                    </m:oMath>
                  </a14:m>
                  <a:r>
                    <a:rPr lang="en-US" altLang="zh-CN" sz="1800" dirty="0"/>
                    <a:t> 0;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=10 </m:t>
                      </m:r>
                    </m:oMath>
                  </a14:m>
                  <a:r>
                    <a:rPr lang="en-US" altLang="zh-CN" sz="1800" dirty="0"/>
                    <a:t>mV;</a:t>
                  </a:r>
                  <a:endParaRPr lang="zh-CN" altLang="en-US" sz="18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014" y="4005910"/>
                  <a:ext cx="8367294" cy="2314673"/>
                </a:xfrm>
                <a:prstGeom prst="rect">
                  <a:avLst/>
                </a:prstGeom>
                <a:blipFill>
                  <a:blip r:embed="rId5"/>
                  <a:stretch>
                    <a:fillRect l="-656" b="-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16876" y="2775907"/>
                  <a:ext cx="2222340" cy="10347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KCL at node 2: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=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876" y="2775907"/>
                  <a:ext cx="2222340" cy="1034770"/>
                </a:xfrm>
                <a:prstGeom prst="rect">
                  <a:avLst/>
                </a:prstGeom>
                <a:blipFill>
                  <a:blip r:embed="rId6"/>
                  <a:stretch>
                    <a:fillRect l="-3022" t="-2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0448431D-487D-4EE6-AA86-BDE0E1F2D1B4}"/>
              </a:ext>
            </a:extLst>
          </p:cNvPr>
          <p:cNvSpPr/>
          <p:nvPr/>
        </p:nvSpPr>
        <p:spPr>
          <a:xfrm>
            <a:off x="762000" y="6048315"/>
            <a:ext cx="184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B342F7-6A3F-441A-B665-0CE2427B8CC0}"/>
              </a:ext>
            </a:extLst>
          </p:cNvPr>
          <p:cNvSpPr txBox="1"/>
          <p:nvPr/>
        </p:nvSpPr>
        <p:spPr>
          <a:xfrm>
            <a:off x="5334000" y="1704832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05F800D-4809-4C47-8096-41316D97A6DA}"/>
              </a:ext>
            </a:extLst>
          </p:cNvPr>
          <p:cNvSpPr txBox="1"/>
          <p:nvPr/>
        </p:nvSpPr>
        <p:spPr>
          <a:xfrm>
            <a:off x="6238583" y="2541392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12539E1-A39B-445C-98BB-1FEF715785B7}"/>
              </a:ext>
            </a:extLst>
          </p:cNvPr>
          <p:cNvSpPr/>
          <p:nvPr/>
        </p:nvSpPr>
        <p:spPr>
          <a:xfrm>
            <a:off x="8191500" y="2457942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27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86A27-9DC0-423F-82C9-BDA2DCFA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 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串联电路的自然响应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阻尼特性：欠，过，临界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初始条件：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i="1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 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或</m:t>
                        </m:r>
                        <m:r>
                          <a:rPr lang="en-US" altLang="zh-CN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串联电路的阶跃响应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>
                        <a:lumMod val="75000"/>
                      </a:schemeClr>
                    </a:solidFill>
                  </a:rPr>
                  <a:t>RLC</a:t>
                </a:r>
                <a:r>
                  <a:rPr lang="zh-CN" altLang="en-US" dirty="0">
                    <a:solidFill>
                      <a:schemeClr val="bg1">
                        <a:lumMod val="75000"/>
                      </a:schemeClr>
                    </a:solidFill>
                  </a:rPr>
                  <a:t>串联电路的全响应</a:t>
                </a:r>
                <a:endParaRPr lang="en-US" altLang="zh-CN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其它二阶电路的分析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冲击响应的分析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阶跃响应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自然响应）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3030EF-C99D-4982-8571-5E18DDF4B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81125"/>
                <a:ext cx="8229600" cy="5105400"/>
              </a:xfrm>
              <a:blipFill>
                <a:blip r:embed="rId2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1A0A56-36BF-447B-BA2C-9FC0A4A643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F3F0DB-B53F-47F0-9FB1-6E972764732A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0350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29" y="433404"/>
            <a:ext cx="8229600" cy="838200"/>
          </a:xfrm>
        </p:spPr>
        <p:txBody>
          <a:bodyPr/>
          <a:lstStyle/>
          <a:p>
            <a:r>
              <a:rPr lang="zh-CN" altLang="en-US" dirty="0"/>
              <a:t>一阶和二阶电路的单位冲击响应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48431D-487D-4EE6-AA86-BDE0E1F2D1B4}"/>
              </a:ext>
            </a:extLst>
          </p:cNvPr>
          <p:cNvSpPr/>
          <p:nvPr/>
        </p:nvSpPr>
        <p:spPr>
          <a:xfrm>
            <a:off x="762000" y="6048315"/>
            <a:ext cx="184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6461FA6-DDBA-4F77-8AEF-9F61DDCB8E6E}"/>
              </a:ext>
            </a:extLst>
          </p:cNvPr>
          <p:cNvGrpSpPr/>
          <p:nvPr/>
        </p:nvGrpSpPr>
        <p:grpSpPr>
          <a:xfrm>
            <a:off x="517776" y="1480503"/>
            <a:ext cx="3962400" cy="1671688"/>
            <a:chOff x="565747" y="1833615"/>
            <a:chExt cx="3962400" cy="1671688"/>
          </a:xfrm>
        </p:grpSpPr>
        <p:pic>
          <p:nvPicPr>
            <p:cNvPr id="16" name="Picture 5" descr="C:\Users\Joel\Documents\Teaching\McGraw Hill\Fundamentals of Electric Circuits 5e\figures\Ch08\Color Labeled\ale80571_08_018.jpg">
              <a:extLst>
                <a:ext uri="{FF2B5EF4-FFF2-40B4-BE49-F238E27FC236}">
                  <a16:creationId xmlns:a16="http://schemas.microsoft.com/office/drawing/2014/main" id="{F61FF30D-650A-4736-B947-163F0A8D9C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16"/>
            <a:stretch/>
          </p:blipFill>
          <p:spPr bwMode="auto">
            <a:xfrm>
              <a:off x="565747" y="1833615"/>
              <a:ext cx="3962400" cy="1671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7492192-426D-4A1F-872C-715969D051D2}"/>
                </a:ext>
              </a:extLst>
            </p:cNvPr>
            <p:cNvSpPr/>
            <p:nvPr/>
          </p:nvSpPr>
          <p:spPr>
            <a:xfrm>
              <a:off x="1188547" y="1836000"/>
              <a:ext cx="609600" cy="6674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3321037-5653-40D8-BBA1-DA8DF54EEC60}"/>
                </a:ext>
              </a:extLst>
            </p:cNvPr>
            <p:cNvSpPr/>
            <p:nvPr/>
          </p:nvSpPr>
          <p:spPr>
            <a:xfrm>
              <a:off x="883747" y="1897369"/>
              <a:ext cx="609600" cy="274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C7FB09E-E189-45D0-AD6A-47B62EEBF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8547" y="2156400"/>
              <a:ext cx="771633" cy="133369"/>
            </a:xfrm>
            <a:prstGeom prst="rect">
              <a:avLst/>
            </a:prstGeom>
          </p:spPr>
        </p:pic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98D3820-7241-4D2B-90D1-47321FA839C7}"/>
              </a:ext>
            </a:extLst>
          </p:cNvPr>
          <p:cNvGrpSpPr/>
          <p:nvPr/>
        </p:nvGrpSpPr>
        <p:grpSpPr>
          <a:xfrm>
            <a:off x="2912948" y="3619601"/>
            <a:ext cx="5469052" cy="2989948"/>
            <a:chOff x="3320474" y="3299296"/>
            <a:chExt cx="5469052" cy="2989948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5B7121E-EF22-4FE3-87CF-B1FEA86D6E23}"/>
                </a:ext>
              </a:extLst>
            </p:cNvPr>
            <p:cNvGrpSpPr/>
            <p:nvPr/>
          </p:nvGrpSpPr>
          <p:grpSpPr>
            <a:xfrm>
              <a:off x="3320474" y="3299296"/>
              <a:ext cx="5469052" cy="2989948"/>
              <a:chOff x="3159204" y="3133872"/>
              <a:chExt cx="5469052" cy="29899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00B12F1E-15D8-4BC0-B8B0-04DB621ADB5F}"/>
                      </a:ext>
                    </a:extLst>
                  </p:cNvPr>
                  <p:cNvSpPr txBox="1"/>
                  <p:nvPr/>
                </p:nvSpPr>
                <p:spPr>
                  <a:xfrm>
                    <a:off x="3637551" y="3133872"/>
                    <a:ext cx="158428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00B12F1E-15D8-4BC0-B8B0-04DB621ADB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7551" y="3133872"/>
                    <a:ext cx="1584280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44765A1C-C988-4932-ABC6-31CCA342343B}"/>
                  </a:ext>
                </a:extLst>
              </p:cNvPr>
              <p:cNvGrpSpPr/>
              <p:nvPr/>
            </p:nvGrpSpPr>
            <p:grpSpPr>
              <a:xfrm>
                <a:off x="3159204" y="3907986"/>
                <a:ext cx="5469052" cy="2215834"/>
                <a:chOff x="2667000" y="3754315"/>
                <a:chExt cx="5469052" cy="2215834"/>
              </a:xfrm>
            </p:grpSpPr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EBF75E44-2597-446F-9A93-931BB3CF0BA3}"/>
                    </a:ext>
                  </a:extLst>
                </p:cNvPr>
                <p:cNvCxnSpPr/>
                <p:nvPr/>
              </p:nvCxnSpPr>
              <p:spPr>
                <a:xfrm>
                  <a:off x="2667000" y="5638800"/>
                  <a:ext cx="28956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C543D1EB-8E23-491A-8FF6-77829E1BC886}"/>
                    </a:ext>
                  </a:extLst>
                </p:cNvPr>
                <p:cNvSpPr/>
                <p:nvPr/>
              </p:nvSpPr>
              <p:spPr>
                <a:xfrm>
                  <a:off x="3912576" y="3754315"/>
                  <a:ext cx="49823" cy="188740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矩形 28">
                      <a:extLst>
                        <a:ext uri="{FF2B5EF4-FFF2-40B4-BE49-F238E27FC236}">
                          <a16:creationId xmlns:a16="http://schemas.microsoft.com/office/drawing/2014/main" id="{1449777C-F10C-4CBA-90EA-7CE8BAF2FE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6400" y="5438745"/>
                      <a:ext cx="362471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29" name="矩形 28">
                      <a:extLst>
                        <a:ext uri="{FF2B5EF4-FFF2-40B4-BE49-F238E27FC236}">
                          <a16:creationId xmlns:a16="http://schemas.microsoft.com/office/drawing/2014/main" id="{1449777C-F10C-4CBA-90EA-7CE8BAF2FE4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6400" y="5438745"/>
                      <a:ext cx="362471" cy="40011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DB4F1FEC-630B-4E4C-AE69-81E80FF4731F}"/>
                    </a:ext>
                  </a:extLst>
                </p:cNvPr>
                <p:cNvSpPr/>
                <p:nvPr/>
              </p:nvSpPr>
              <p:spPr>
                <a:xfrm>
                  <a:off x="3720323" y="5631595"/>
                  <a:ext cx="29848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600" dirty="0"/>
                    <a:t>0</a:t>
                  </a:r>
                  <a:endParaRPr lang="zh-CN" altLang="en-US" sz="16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矩形 31">
                      <a:extLst>
                        <a:ext uri="{FF2B5EF4-FFF2-40B4-BE49-F238E27FC236}">
                          <a16:creationId xmlns:a16="http://schemas.microsoft.com/office/drawing/2014/main" id="{8C792345-B31A-4219-815D-2A74EFA973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6034" y="4785209"/>
                      <a:ext cx="2070018" cy="1015663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l-GR" altLang="zh-CN" dirty="0"/>
                              <m:t>Δ</m:t>
                            </m:r>
                            <m:r>
                              <m:rPr>
                                <m:nor/>
                              </m:rPr>
                              <a:rPr lang="en-US" altLang="zh-CN" dirty="0"/>
                              <m:t>t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oMath>
                        </m:oMathPara>
                      </a14:m>
                      <a:endParaRPr lang="en-US" altLang="zh-CN" b="0" dirty="0"/>
                    </a:p>
                    <a:p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zh-CN" dirty="0"/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CN" baseline="-25000" dirty="0"/>
                            <m:t>d</m:t>
                          </m:r>
                        </m:oMath>
                      </a14:m>
                      <a:r>
                        <a:rPr lang="zh-CN" altLang="en-US" baseline="-25000" dirty="0"/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oMath>
                      </a14:m>
                      <a:endParaRPr lang="en-US" altLang="zh-CN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l-GR" altLang="zh-CN" dirty="0"/>
                              <m:t>Δ</m:t>
                            </m:r>
                            <m:r>
                              <m:rPr>
                                <m:nor/>
                              </m:rPr>
                              <a:rPr lang="en-US" altLang="zh-CN" dirty="0"/>
                              <m:t>t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lang="en-US" altLang="zh-CN" dirty="0"/>
                              <m:t>V</m:t>
                            </m:r>
                            <m:r>
                              <m:rPr>
                                <m:nor/>
                              </m:rPr>
                              <a:rPr lang="en-US" altLang="zh-CN" baseline="-25000" dirty="0"/>
                              <m:t>d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=1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oMath>
                        </m:oMathPara>
                      </a14:m>
                      <a:endParaRPr lang="en-US" altLang="zh-CN" dirty="0"/>
                    </a:p>
                  </p:txBody>
                </p:sp>
              </mc:Choice>
              <mc:Fallback xmlns="">
                <p:sp>
                  <p:nvSpPr>
                    <p:cNvPr id="32" name="矩形 31">
                      <a:extLst>
                        <a:ext uri="{FF2B5EF4-FFF2-40B4-BE49-F238E27FC236}">
                          <a16:creationId xmlns:a16="http://schemas.microsoft.com/office/drawing/2014/main" id="{8C792345-B31A-4219-815D-2A74EFA973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66034" y="4785209"/>
                      <a:ext cx="2070018" cy="101566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2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1130266-2621-4C43-80AB-CA0FFF49DF5D}"/>
                    </a:ext>
                  </a:extLst>
                </p:cNvPr>
                <p:cNvSpPr txBox="1"/>
                <p:nvPr/>
              </p:nvSpPr>
              <p:spPr>
                <a:xfrm>
                  <a:off x="5428750" y="3303996"/>
                  <a:ext cx="145623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/>
                    <a:t>Unit of </a:t>
                  </a:r>
                  <a14:m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a14:m>
                  <a:r>
                    <a:rPr lang="en-US" altLang="zh-CN" dirty="0"/>
                    <a:t>: V</a:t>
                  </a:r>
                  <a:endParaRPr lang="zh-CN" altLang="en-US" baseline="300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1130266-2621-4C43-80AB-CA0FFF49D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8750" y="3303996"/>
                  <a:ext cx="1456232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4603" t="-7692" r="-3347" b="-292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42B6D7E-6594-43DE-8E02-012F7C15E120}"/>
                </a:ext>
              </a:extLst>
            </p:cNvPr>
            <p:cNvSpPr txBox="1"/>
            <p:nvPr/>
          </p:nvSpPr>
          <p:spPr>
            <a:xfrm>
              <a:off x="4542892" y="3781492"/>
              <a:ext cx="4507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V</a:t>
              </a:r>
              <a:r>
                <a:rPr lang="en-US" altLang="zh-CN" baseline="-25000" dirty="0" err="1"/>
                <a:t>d</a:t>
              </a:r>
              <a:endParaRPr lang="zh-CN" altLang="en-US" baseline="-2500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9D15885-3C0C-41D9-9FD7-F39E940D8678}"/>
                </a:ext>
              </a:extLst>
            </p:cNvPr>
            <p:cNvSpPr/>
            <p:nvPr/>
          </p:nvSpPr>
          <p:spPr>
            <a:xfrm>
              <a:off x="4507470" y="5950690"/>
              <a:ext cx="38023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altLang="zh-CN" sz="1600" dirty="0"/>
                <a:t>Δ</a:t>
              </a:r>
              <a:r>
                <a:rPr lang="en-US" altLang="zh-CN" sz="1600" dirty="0"/>
                <a:t>t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19624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29" y="433404"/>
            <a:ext cx="8229600" cy="838200"/>
          </a:xfrm>
        </p:spPr>
        <p:txBody>
          <a:bodyPr/>
          <a:lstStyle/>
          <a:p>
            <a:r>
              <a:rPr lang="zh-CN" altLang="en-US" dirty="0"/>
              <a:t>系统响应与单位冲击响应的关系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48431D-487D-4EE6-AA86-BDE0E1F2D1B4}"/>
              </a:ext>
            </a:extLst>
          </p:cNvPr>
          <p:cNvSpPr/>
          <p:nvPr/>
        </p:nvSpPr>
        <p:spPr>
          <a:xfrm>
            <a:off x="762000" y="6048315"/>
            <a:ext cx="184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CD4D555-6723-4565-898D-54DDE85833D9}"/>
                  </a:ext>
                </a:extLst>
              </p:cNvPr>
              <p:cNvSpPr txBox="1"/>
              <p:nvPr/>
            </p:nvSpPr>
            <p:spPr>
              <a:xfrm>
                <a:off x="585795" y="2762759"/>
                <a:ext cx="8103936" cy="1702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</a:t>
                </a:r>
              </a:p>
              <a:p>
                <a:r>
                  <a:rPr lang="en-US" altLang="zh-CN" dirty="0"/>
                  <a:t>Given the response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denoted as h(t), the response to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dirty="0"/>
                  <a:t> can be obtained via convolution as 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CD4D555-6723-4565-898D-54DDE8583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95" y="2762759"/>
                <a:ext cx="8103936" cy="1702069"/>
              </a:xfrm>
              <a:prstGeom prst="rect">
                <a:avLst/>
              </a:prstGeom>
              <a:blipFill>
                <a:blip r:embed="rId3"/>
                <a:stretch>
                  <a:fillRect l="-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10">
            <a:extLst>
              <a:ext uri="{FF2B5EF4-FFF2-40B4-BE49-F238E27FC236}">
                <a16:creationId xmlns:a16="http://schemas.microsoft.com/office/drawing/2014/main" id="{EB53141F-BBFD-4200-A4CA-1C6CD91007F8}"/>
              </a:ext>
            </a:extLst>
          </p:cNvPr>
          <p:cNvGrpSpPr/>
          <p:nvPr/>
        </p:nvGrpSpPr>
        <p:grpSpPr>
          <a:xfrm>
            <a:off x="2819400" y="1676400"/>
            <a:ext cx="4285317" cy="647735"/>
            <a:chOff x="-379757" y="2328684"/>
            <a:chExt cx="5713756" cy="863647"/>
          </a:xfrm>
        </p:grpSpPr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578CA3DC-4113-453B-A70D-0C0FE070169B}"/>
                </a:ext>
              </a:extLst>
            </p:cNvPr>
            <p:cNvSpPr/>
            <p:nvPr/>
          </p:nvSpPr>
          <p:spPr>
            <a:xfrm>
              <a:off x="1981200" y="2362200"/>
              <a:ext cx="1295400" cy="685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dirty="0">
                  <a:solidFill>
                    <a:schemeClr val="tx1"/>
                  </a:solidFill>
                </a:rPr>
                <a:t>System</a:t>
              </a:r>
              <a:endParaRPr lang="zh-CN" altLang="en-US" sz="15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Arrow Connector 3">
              <a:extLst>
                <a:ext uri="{FF2B5EF4-FFF2-40B4-BE49-F238E27FC236}">
                  <a16:creationId xmlns:a16="http://schemas.microsoft.com/office/drawing/2014/main" id="{A525A660-6B21-472E-849C-EEB32A1AA037}"/>
                </a:ext>
              </a:extLst>
            </p:cNvPr>
            <p:cNvCxnSpPr/>
            <p:nvPr/>
          </p:nvCxnSpPr>
          <p:spPr>
            <a:xfrm>
              <a:off x="1295400" y="2705100"/>
              <a:ext cx="6858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4">
                  <a:extLst>
                    <a:ext uri="{FF2B5EF4-FFF2-40B4-BE49-F238E27FC236}">
                      <a16:creationId xmlns:a16="http://schemas.microsoft.com/office/drawing/2014/main" id="{5B4D1476-37B1-4585-ABA2-85AF61FE03D3}"/>
                    </a:ext>
                  </a:extLst>
                </p:cNvPr>
                <p:cNvSpPr txBox="1"/>
                <p:nvPr/>
              </p:nvSpPr>
              <p:spPr>
                <a:xfrm>
                  <a:off x="-379757" y="2433149"/>
                  <a:ext cx="1717943" cy="759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500" dirty="0"/>
                    <a:t>Excitation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a14:m>
                  <a:endParaRPr lang="zh-CN" altLang="en-US" sz="1500" dirty="0"/>
                </a:p>
              </p:txBody>
            </p:sp>
          </mc:Choice>
          <mc:Fallback xmlns="">
            <p:sp>
              <p:nvSpPr>
                <p:cNvPr id="34" name="TextBox 4">
                  <a:extLst>
                    <a:ext uri="{FF2B5EF4-FFF2-40B4-BE49-F238E27FC236}">
                      <a16:creationId xmlns:a16="http://schemas.microsoft.com/office/drawing/2014/main" id="{5B4D1476-37B1-4585-ABA2-85AF61FE03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79757" y="2433149"/>
                  <a:ext cx="1717943" cy="759182"/>
                </a:xfrm>
                <a:prstGeom prst="rect">
                  <a:avLst/>
                </a:prstGeom>
                <a:blipFill>
                  <a:blip r:embed="rId4"/>
                  <a:stretch>
                    <a:fillRect t="-2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8">
                  <a:extLst>
                    <a:ext uri="{FF2B5EF4-FFF2-40B4-BE49-F238E27FC236}">
                      <a16:creationId xmlns:a16="http://schemas.microsoft.com/office/drawing/2014/main" id="{F4343FE1-637A-4E19-A909-435ACD4AB9B6}"/>
                    </a:ext>
                  </a:extLst>
                </p:cNvPr>
                <p:cNvSpPr txBox="1"/>
                <p:nvPr/>
              </p:nvSpPr>
              <p:spPr>
                <a:xfrm>
                  <a:off x="3923424" y="2328684"/>
                  <a:ext cx="1410575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500" dirty="0"/>
                    <a:t>Response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500" dirty="0"/>
                </a:p>
              </p:txBody>
            </p:sp>
          </mc:Choice>
          <mc:Fallback xmlns="">
            <p:sp>
              <p:nvSpPr>
                <p:cNvPr id="35" name="TextBox 8">
                  <a:extLst>
                    <a:ext uri="{FF2B5EF4-FFF2-40B4-BE49-F238E27FC236}">
                      <a16:creationId xmlns:a16="http://schemas.microsoft.com/office/drawing/2014/main" id="{F4343FE1-637A-4E19-A909-435ACD4AB9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424" y="2328684"/>
                  <a:ext cx="1410575" cy="738664"/>
                </a:xfrm>
                <a:prstGeom prst="rect">
                  <a:avLst/>
                </a:prstGeom>
                <a:blipFill>
                  <a:blip r:embed="rId5"/>
                  <a:stretch>
                    <a:fillRect l="-578" t="-2198" b="-65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6">
              <a:extLst>
                <a:ext uri="{FF2B5EF4-FFF2-40B4-BE49-F238E27FC236}">
                  <a16:creationId xmlns:a16="http://schemas.microsoft.com/office/drawing/2014/main" id="{295EC517-1885-446C-9ABC-60C1E11029A3}"/>
                </a:ext>
              </a:extLst>
            </p:cNvPr>
            <p:cNvCxnSpPr/>
            <p:nvPr/>
          </p:nvCxnSpPr>
          <p:spPr>
            <a:xfrm>
              <a:off x="3276600" y="2682627"/>
              <a:ext cx="6858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07026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838200"/>
          </a:xfrm>
        </p:spPr>
        <p:txBody>
          <a:bodyPr/>
          <a:lstStyle/>
          <a:p>
            <a:r>
              <a:rPr lang="zh-CN" altLang="en-US" dirty="0"/>
              <a:t>二阶电路的单位冲击响应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9D541-BE44-4A39-B962-5C6112452A5C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48431D-487D-4EE6-AA86-BDE0E1F2D1B4}"/>
              </a:ext>
            </a:extLst>
          </p:cNvPr>
          <p:cNvSpPr/>
          <p:nvPr/>
        </p:nvSpPr>
        <p:spPr>
          <a:xfrm>
            <a:off x="762000" y="6048315"/>
            <a:ext cx="1847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46046E4-723A-4CF6-94D8-3C504B732819}"/>
                  </a:ext>
                </a:extLst>
              </p:cNvPr>
              <p:cNvSpPr/>
              <p:nvPr/>
            </p:nvSpPr>
            <p:spPr>
              <a:xfrm>
                <a:off x="304800" y="1312108"/>
                <a:ext cx="8670542" cy="21874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f>
                        <m:f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baseline="30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baseline="30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Take the integral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  <m:sup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dirty="0"/>
                  <a:t> on both side: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 </m:t>
                    </m:r>
                  </m:oMath>
                </a14:m>
                <a:r>
                  <a:rPr lang="en-US" altLang="zh-CN" dirty="0">
                    <a:sym typeface="Wingdings" panose="05000000000000000000" pitchFamily="2" charset="2"/>
                  </a:rPr>
                  <a:t>V•s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    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46046E4-723A-4CF6-94D8-3C504B7328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312108"/>
                <a:ext cx="8670542" cy="2187458"/>
              </a:xfrm>
              <a:prstGeom prst="rect">
                <a:avLst/>
              </a:prstGeom>
              <a:blipFill>
                <a:blip r:embed="rId3"/>
                <a:stretch>
                  <a:fillRect l="-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87BDBC21-5A7B-4130-89E9-671851605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377" y="1905000"/>
            <a:ext cx="3291315" cy="16738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84C4D9E-64C1-4699-BF2A-062576C0D61C}"/>
                  </a:ext>
                </a:extLst>
              </p:cNvPr>
              <p:cNvSpPr/>
              <p:nvPr/>
            </p:nvSpPr>
            <p:spPr>
              <a:xfrm>
                <a:off x="342007" y="3892403"/>
                <a:ext cx="6187976" cy="731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r>
                  <a:rPr lang="en-US" altLang="zh-CN" dirty="0"/>
                  <a:t>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dirty="0"/>
                  <a:t> is finite. 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</m:oMath>
                </a14:m>
                <a:r>
                  <a:rPr lang="en-US" altLang="zh-CN" dirty="0"/>
                  <a:t>, i.e.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 exhibits abrupt change at t = 0.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84C4D9E-64C1-4699-BF2A-062576C0D6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07" y="3892403"/>
                <a:ext cx="6187976" cy="731995"/>
              </a:xfrm>
              <a:prstGeom prst="rect">
                <a:avLst/>
              </a:prstGeom>
              <a:blipFill>
                <a:blip r:embed="rId5"/>
                <a:stretch>
                  <a:fillRect t="-4167" r="-197" b="-1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6306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50A46B17-F919-4D06-B362-0522E905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4484D1-E175-4ED0-817F-68F2AFFD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8EE3D-9CB3-427B-805F-C9E05F62120E}" type="slidenum">
              <a:rPr lang="zh-CN" altLang="en-US" smtClean="0"/>
              <a:t>58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5C7AD40-5C4C-42E9-A36A-C8116AD495C2}"/>
                  </a:ext>
                </a:extLst>
              </p:cNvPr>
              <p:cNvSpPr txBox="1"/>
              <p:nvPr/>
            </p:nvSpPr>
            <p:spPr>
              <a:xfrm>
                <a:off x="457200" y="716906"/>
                <a:ext cx="79097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</a:rPr>
                  <a:t>Exercise</a:t>
                </a:r>
                <a:r>
                  <a:rPr lang="en-US" altLang="zh-CN" dirty="0"/>
                  <a:t>: Find the initial condition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at t=0</a:t>
                </a:r>
                <a:r>
                  <a:rPr lang="en-US" altLang="zh-CN" baseline="30000" dirty="0"/>
                  <a:t>+ </a:t>
                </a:r>
                <a:r>
                  <a:rPr lang="en-US" altLang="zh-CN" dirty="0"/>
                  <a:t>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V.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5C7AD40-5C4C-42E9-A36A-C8116AD49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16906"/>
                <a:ext cx="7909729" cy="461665"/>
              </a:xfrm>
              <a:prstGeom prst="rect">
                <a:avLst/>
              </a:prstGeom>
              <a:blipFill>
                <a:blip r:embed="rId2"/>
                <a:stretch>
                  <a:fillRect l="-1156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5A5EF45F-E696-436F-A182-CCBF0B1D140D}"/>
              </a:ext>
            </a:extLst>
          </p:cNvPr>
          <p:cNvGrpSpPr/>
          <p:nvPr/>
        </p:nvGrpSpPr>
        <p:grpSpPr>
          <a:xfrm>
            <a:off x="1066800" y="1371599"/>
            <a:ext cx="5249164" cy="2690073"/>
            <a:chOff x="3894836" y="810164"/>
            <a:chExt cx="5249164" cy="2690073"/>
          </a:xfrm>
        </p:grpSpPr>
        <p:pic>
          <p:nvPicPr>
            <p:cNvPr id="21" name="Picture 2" descr="ale80571_08_033.jpg">
              <a:extLst>
                <a:ext uri="{FF2B5EF4-FFF2-40B4-BE49-F238E27FC236}">
                  <a16:creationId xmlns:a16="http://schemas.microsoft.com/office/drawing/2014/main" id="{A5F6160A-1046-4382-8EBE-2B4611D9F1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37"/>
            <a:stretch/>
          </p:blipFill>
          <p:spPr bwMode="auto">
            <a:xfrm>
              <a:off x="3894836" y="810164"/>
              <a:ext cx="5249164" cy="2690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F9B39AF-CB24-4445-9CBD-682D0F3A5C81}"/>
                </a:ext>
              </a:extLst>
            </p:cNvPr>
            <p:cNvSpPr/>
            <p:nvPr/>
          </p:nvSpPr>
          <p:spPr>
            <a:xfrm>
              <a:off x="6409765" y="1332202"/>
              <a:ext cx="762000" cy="1974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58D1C7E-897C-4E0B-965C-D4DB8572771D}"/>
              </a:ext>
            </a:extLst>
          </p:cNvPr>
          <p:cNvGrpSpPr/>
          <p:nvPr/>
        </p:nvGrpSpPr>
        <p:grpSpPr>
          <a:xfrm>
            <a:off x="228600" y="4243742"/>
            <a:ext cx="7696200" cy="2222268"/>
            <a:chOff x="114629" y="4390641"/>
            <a:chExt cx="7696200" cy="2763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D85936D2-7AE4-487B-9D23-4A2043D0F284}"/>
                    </a:ext>
                  </a:extLst>
                </p:cNvPr>
                <p:cNvSpPr/>
                <p:nvPr/>
              </p:nvSpPr>
              <p:spPr>
                <a:xfrm>
                  <a:off x="1093177" y="5509633"/>
                  <a:ext cx="2631682" cy="16441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=0;</m:t>
                        </m:r>
                      </m:oMath>
                    </m:oMathPara>
                  </a14:m>
                  <a:endParaRPr lang="en-US" altLang="zh-CN" b="0" dirty="0">
                    <a:solidFill>
                      <a:srgbClr val="00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10 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</m:oMath>
                    </m:oMathPara>
                  </a14:m>
                  <a:endParaRPr lang="en-US" altLang="zh-CN" dirty="0">
                    <a:solidFill>
                      <a:srgbClr val="000000"/>
                    </a:solidFill>
                  </a:endParaRPr>
                </a:p>
                <a:p>
                  <a:endParaRPr lang="en-US" altLang="zh-CN" dirty="0"/>
                </a:p>
                <a:p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D85936D2-7AE4-487B-9D23-4A2043D0F2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77" y="5509633"/>
                  <a:ext cx="2631682" cy="16441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D7063C79-6F51-41CD-B61A-0D478943A797}"/>
                    </a:ext>
                  </a:extLst>
                </p:cNvPr>
                <p:cNvSpPr/>
                <p:nvPr/>
              </p:nvSpPr>
              <p:spPr>
                <a:xfrm>
                  <a:off x="114629" y="4390641"/>
                  <a:ext cx="7696200" cy="79002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D7063C79-6F51-41CD-B61A-0D478943A7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629" y="4390641"/>
                  <a:ext cx="7696200" cy="790024"/>
                </a:xfrm>
                <a:prstGeom prst="rect">
                  <a:avLst/>
                </a:prstGeom>
                <a:blipFill>
                  <a:blip r:embed="rId5"/>
                  <a:stretch>
                    <a:fillRect b="-163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201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05&quot;&gt;&lt;property id=&quot;20148&quot; value=&quot;5&quot;/&gt;&lt;property id=&quot;20300&quot; value=&quot;Slide 2 - &amp;quot;This template file has been given to you for use in creating Lecture Outline PowerPoint files. Feel free to edit an&quot;/&gt;&lt;property id=&quot;20307&quot; value=&quot;319&quot;/&gt;&lt;/object&gt;&lt;object type=&quot;3&quot; unique_id=&quot;10006&quot;&gt;&lt;property id=&quot;20148&quot; value=&quot;5&quot;/&gt;&lt;property id=&quot;20300&quot; value=&quot;Slide 3 - &amp;quot;Important Specifications&amp;quot;&quot;/&gt;&lt;property id=&quot;20307&quot; value=&quot;320&quot;/&gt;&lt;/object&gt;&lt;object type=&quot;3&quot; unique_id=&quot;10007&quot;&gt;&lt;property id=&quot;20148&quot; value=&quot;5&quot;/&gt;&lt;property id=&quot;20300&quot; value=&quot;Slide 4 - &amp;quot;More Important Information…&amp;quot;&quot;/&gt;&lt;property id=&quot;20307&quot; value=&quot;317&quot;/&gt;&lt;/object&gt;&lt;object type=&quot;3&quot; unique_id=&quot;10008&quot;&gt;&lt;property id=&quot;20148&quot; value=&quot;5&quot;/&gt;&lt;property id=&quot;20300&quot; value=&quot;Slide 5 - &amp;quot;And now some image information…&amp;quot;&quot;/&gt;&lt;property id=&quot;20307&quot; value=&quot;257&quot;/&gt;&lt;/object&gt;&lt;object type=&quot;3&quot; unique_id=&quot;10009&quot;&gt;&lt;property id=&quot;20148&quot; value=&quot;5&quot;/&gt;&lt;property id=&quot;20300&quot; value=&quot;Slide 6 - &amp;quot;Other things you need to know…&amp;quot;&quot;/&gt;&lt;property id=&quot;20307&quot; value=&quot;318&quot;/&gt;&lt;/object&gt;&lt;object type=&quot;3&quot; unique_id=&quot;10010&quot;&gt;&lt;property id=&quot;20148&quot; value=&quot;5&quot;/&gt;&lt;property id=&quot;20300&quot; value=&quot;Slide 7 - &amp;quot;More…&amp;quot;&quot;/&gt;&lt;property id=&quot;20307&quot; value=&quot;329&quot;/&gt;&lt;/object&gt;&lt;object type=&quot;3&quot; unique_id=&quot;10011&quot;&gt;&lt;property id=&quot;20148&quot; value=&quot;5&quot;/&gt;&lt;property id=&quot;20300&quot; value=&quot;Slide 8&quot;/&gt;&lt;property id=&quot;20307&quot; value=&quot;321&quot;/&gt;&lt;/object&gt;&lt;object type=&quot;3&quot; unique_id=&quot;10012&quot;&gt;&lt;property id=&quot;20148&quot; value=&quot;5&quot;/&gt;&lt;property id=&quot;20300&quot; value=&quot;Slide 9&quot;/&gt;&lt;property id=&quot;20307&quot; value=&quot;265&quot;/&gt;&lt;/object&gt;&lt;object type=&quot;3&quot; unique_id=&quot;10013&quot;&gt;&lt;property id=&quot;20148&quot; value=&quot;5&quot;/&gt;&lt;property id=&quot;20300&quot; value=&quot;Slide 10&quot;/&gt;&lt;property id=&quot;20307&quot; value=&quot;327&quot;/&gt;&lt;/object&gt;&lt;object type=&quot;3&quot; unique_id=&quot;10014&quot;&gt;&lt;property id=&quot;20148&quot; value=&quot;5&quot;/&gt;&lt;property id=&quot;20300&quot; value=&quot;Slide 11 - &amp;quot;Sample of Text with Image&amp;quot;&quot;/&gt;&lt;property id=&quot;20307&quot; value=&quot;268&quot;/&gt;&lt;/object&gt;&lt;object type=&quot;3&quot; unique_id=&quot;10015&quot;&gt;&lt;property id=&quot;20148&quot; value=&quot;5&quot;/&gt;&lt;property id=&quot;20300&quot; value=&quot;Slide 12 - &amp;quot;Sample of same slide without image&amp;quot;&quot;/&gt;&lt;property id=&quot;20307&quot; value=&quot;328&quot;/&gt;&lt;/object&gt;&lt;object type=&quot;3&quot; unique_id=&quot;10016&quot;&gt;&lt;property id=&quot;20148&quot; value=&quot;5&quot;/&gt;&lt;property id=&quot;20300&quot; value=&quot;Slide 13 - &amp;quot;Fig. 1.12&amp;quot;&quot;/&gt;&lt;property id=&quot;20307&quot; value=&quot;300&quot;/&gt;&lt;/object&gt;&lt;object type=&quot;3&quot; unique_id=&quot;10017&quot;&gt;&lt;property id=&quot;20148&quot; value=&quot;5&quot;/&gt;&lt;property id=&quot;20300&quot; value=&quot;Slide 14&quot;/&gt;&lt;property id=&quot;20307&quot; value=&quot;315&quot;/&gt;&lt;/object&gt;&lt;object type=&quot;3&quot; unique_id=&quot;10018&quot;&gt;&lt;property id=&quot;20148&quot; value=&quot;5&quot;/&gt;&lt;property id=&quot;20300&quot; value=&quot;Slide 15&quot;/&gt;&lt;property id=&quot;20307&quot; value=&quot;322&quot;/&gt;&lt;/object&gt;&lt;object type=&quot;3&quot; unique_id=&quot;10019&quot;&gt;&lt;property id=&quot;20148&quot; value=&quot;5&quot;/&gt;&lt;property id=&quot;20300&quot; value=&quot;Slide 16 - &amp;quot;Sample of Bad Image Placement - These images should be placed on separate slides – as shown here, it’s very diffic&quot;/&gt;&lt;property id=&quot;20307&quot; value=&quot;323&quot;/&gt;&lt;/object&gt;&lt;object type=&quot;3&quot; unique_id=&quot;10020&quot;&gt;&lt;property id=&quot;20148&quot; value=&quot;5&quot;/&gt;&lt;property id=&quot;20300&quot; value=&quot;Slide 17 - &amp;quot;Sample of Bad Text with Image Placement&amp;quot;&quot;/&gt;&lt;property id=&quot;20307&quot; value=&quot;324&quot;/&gt;&lt;/object&gt;&lt;object type=&quot;3&quot; unique_id=&quot;10021&quot;&gt;&lt;property id=&quot;20148&quot; value=&quot;5&quot;/&gt;&lt;property id=&quot;20300&quot; value=&quot;Slide 18 - &amp;quot;Sample of Bad Image Placement&amp;quot;&quot;/&gt;&lt;property id=&quot;20307&quot; value=&quot;325&quot;/&gt;&lt;/object&gt;&lt;/object&gt;&lt;/object&gt;&lt;/database&gt;"/>
</p:tagLst>
</file>

<file path=ppt/theme/theme1.xml><?xml version="1.0" encoding="utf-8"?>
<a:theme xmlns:a="http://schemas.openxmlformats.org/drawingml/2006/main" name="上海科技大学模板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Custom 4">
      <a:majorFont>
        <a:latin typeface="Cambria"/>
        <a:ea typeface="汉仪中圆简"/>
        <a:cs typeface=""/>
      </a:majorFont>
      <a:minorFont>
        <a:latin typeface="Cambria"/>
        <a:ea typeface="汉仪中圆简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rgbClr val="FFFF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ec7-LC" id="{D99FE72F-268A-4F18-B104-0089DD440EEE}" vid="{C8C17B88-7DB5-48C6-A32D-6B917055986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Electric_Circuits_template</Template>
  <TotalTime>0</TotalTime>
  <Words>3564</Words>
  <Application>Microsoft Office PowerPoint</Application>
  <PresentationFormat>全屏显示(4:3)</PresentationFormat>
  <Paragraphs>638</Paragraphs>
  <Slides>58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6" baseType="lpstr">
      <vt:lpstr>华文中宋</vt:lpstr>
      <vt:lpstr>Arial</vt:lpstr>
      <vt:lpstr>Calibri</vt:lpstr>
      <vt:lpstr>Cambria</vt:lpstr>
      <vt:lpstr>Cambria Math</vt:lpstr>
      <vt:lpstr>Times New Roman</vt:lpstr>
      <vt:lpstr>Wingdings</vt:lpstr>
      <vt:lpstr>上海科技大学模板</vt:lpstr>
      <vt:lpstr>Chapter 7 - Second-Order Circuits</vt:lpstr>
      <vt:lpstr>Outline</vt:lpstr>
      <vt:lpstr>Second-Order Circuits</vt:lpstr>
      <vt:lpstr>Second-Order Circuits</vt:lpstr>
      <vt:lpstr>Source-Free Parallel RLC Network</vt:lpstr>
      <vt:lpstr>PowerPoint 演示文稿</vt:lpstr>
      <vt:lpstr>PowerPoint 演示文稿</vt:lpstr>
      <vt:lpstr>Why Second Order Equations</vt:lpstr>
      <vt:lpstr>PowerPoint 演示文稿</vt:lpstr>
      <vt:lpstr>Initial Conditions</vt:lpstr>
      <vt:lpstr>Steps to Obtain Initial Condition</vt:lpstr>
      <vt:lpstr>Example One The switch has been closed for a long time. It is open at t=0. Find vC(0^+ ), dvC(0^+ )/dt, iL(0^+ ), diL(0^+ )/dt </vt:lpstr>
      <vt:lpstr>Example Two</vt:lpstr>
      <vt:lpstr>Solution of Example Two</vt:lpstr>
      <vt:lpstr>Exercise</vt:lpstr>
      <vt:lpstr>Solutions of the 2nd Order Equation</vt:lpstr>
      <vt:lpstr>Solution of the 2nd Order Equation</vt:lpstr>
      <vt:lpstr>The Second Solution for Critical Damping</vt:lpstr>
      <vt:lpstr>The General Solution</vt:lpstr>
      <vt:lpstr>Overdamping</vt:lpstr>
      <vt:lpstr>Underdamping</vt:lpstr>
      <vt:lpstr>Critical damping</vt:lpstr>
      <vt:lpstr>Outline (Lesson 2)</vt:lpstr>
      <vt:lpstr>二阶电路时域分析的重要性</vt:lpstr>
      <vt:lpstr>PowerPoint 演示文稿</vt:lpstr>
      <vt:lpstr>PowerPoint 演示文稿</vt:lpstr>
      <vt:lpstr>PowerPoint 演示文稿</vt:lpstr>
      <vt:lpstr>Source-Free Series RLC Circuit</vt:lpstr>
      <vt:lpstr>时间曲线分析规则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 3 (both v(0) and v’(0) nonzero)</vt:lpstr>
      <vt:lpstr>Solution</vt:lpstr>
      <vt:lpstr>Outline</vt:lpstr>
      <vt:lpstr>Step response</vt:lpstr>
      <vt:lpstr>PowerPoint 演示文稿</vt:lpstr>
      <vt:lpstr>Outline</vt:lpstr>
      <vt:lpstr>Full Response</vt:lpstr>
      <vt:lpstr>Full response</vt:lpstr>
      <vt:lpstr>Full Response When R=5Ω </vt:lpstr>
      <vt:lpstr>Full Response When R=4Ω </vt:lpstr>
      <vt:lpstr>Full Response When R=1 Ω </vt:lpstr>
      <vt:lpstr>PowerPoint 演示文稿</vt:lpstr>
      <vt:lpstr>Outline</vt:lpstr>
      <vt:lpstr>Parallel RLC Network</vt:lpstr>
      <vt:lpstr>General RLC Circuits</vt:lpstr>
      <vt:lpstr>Example of 2nd-order op-amp circuits</vt:lpstr>
      <vt:lpstr>Outline</vt:lpstr>
      <vt:lpstr>一阶和二阶电路的单位冲击响应</vt:lpstr>
      <vt:lpstr>系统响应与单位冲击响应的关系</vt:lpstr>
      <vt:lpstr>二阶电路的单位冲击响应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2012-05-11T16:11:10Z</dcterms:created>
  <dcterms:modified xsi:type="dcterms:W3CDTF">2025-11-26T13:18:19Z</dcterms:modified>
</cp:coreProperties>
</file>